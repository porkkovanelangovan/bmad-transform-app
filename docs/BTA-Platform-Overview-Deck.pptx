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From Strategy to Sprint in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85CA"/>
                </a:solidFill>
                <a:latin typeface="Calibri"/>
              </a:defRPr>
            </a:pPr>
            <a:r>
              <a:t>How AI Multi-Agent Orchestration is Redefining Business Transformation in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27432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2286000" cy="1280160"/>
          </a:xfrm>
          <a:prstGeom prst="roundRect">
            <a:avLst/>
          </a:prstGeom>
          <a:solidFill>
            <a:srgbClr val="00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5CA"/>
                </a:solidFill>
                <a:latin typeface="Calibri"/>
              </a:defRPr>
            </a:pPr>
            <a:r>
              <a:t>~5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EDC"/>
                </a:solidFill>
                <a:latin typeface="Calibri"/>
              </a:defRPr>
            </a:pPr>
            <a:r>
              <a:t>End-to-End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840480"/>
            <a:ext cx="2286000" cy="1280160"/>
          </a:xfrm>
          <a:prstGeom prst="roundRect">
            <a:avLst/>
          </a:prstGeom>
          <a:solidFill>
            <a:srgbClr val="00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5CA"/>
                </a:solidFill>
                <a:latin typeface="Calibri"/>
              </a:defRPr>
            </a:pPr>
            <a:r>
              <a:t>$0.05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EDC"/>
                </a:solidFill>
                <a:latin typeface="Calibri"/>
              </a:defRPr>
            </a:pPr>
            <a:r>
              <a:t>Total AI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840480"/>
            <a:ext cx="2286000" cy="1280160"/>
          </a:xfrm>
          <a:prstGeom prst="roundRect">
            <a:avLst/>
          </a:prstGeom>
          <a:solidFill>
            <a:srgbClr val="00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5CA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EDC"/>
                </a:solidFill>
                <a:latin typeface="Calibri"/>
              </a:defRPr>
            </a:pPr>
            <a:r>
              <a:t>Artifacts Generated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840480"/>
            <a:ext cx="2286000" cy="1280160"/>
          </a:xfrm>
          <a:prstGeom prst="roundRect">
            <a:avLst/>
          </a:prstGeom>
          <a:solidFill>
            <a:srgbClr val="00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5CA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EDC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AAC8"/>
                </a:solidFill>
                <a:latin typeface="Calibri"/>
              </a:defRPr>
            </a:pPr>
            <a:r>
              <a:t>Business Transformation Architect (BTA)  |  Case Study: US Bancorp (NYSE: USB)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952"/>
                </a:solidFill>
                <a:latin typeface="Calibri"/>
              </a:defRPr>
            </a:pPr>
            <a:r>
              <a:t>Why Transformation Planning Fails  —  and How AI Fixes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1C1C"/>
                </a:solidFill>
                <a:latin typeface="Calibri"/>
              </a:defRPr>
            </a:pPr>
            <a:r>
              <a:t>THE PROBLEM: 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5-10 months  </a:t>
            </a:r>
            <a:r>
              <a:rPr sz="1200">
                <a:solidFill>
                  <a:srgbClr val="323232"/>
                </a:solidFill>
                <a:latin typeface="Calibri"/>
              </a:rPr>
              <a:t>of sequential consulting workshops, interviews, and manual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$160K-540K  </a:t>
            </a:r>
            <a:r>
              <a:rPr sz="1200">
                <a:solidFill>
                  <a:srgbClr val="323232"/>
                </a:solidFill>
                <a:latin typeface="Calibri"/>
              </a:rPr>
              <a:t>in consulting fees per transformation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1693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196-400 hours  </a:t>
            </a:r>
            <a:r>
              <a:rPr sz="1200">
                <a:solidFill>
                  <a:srgbClr val="323232"/>
                </a:solidFill>
                <a:latin typeface="Calibri"/>
              </a:rPr>
              <a:t>of senior stakeholder time consumed in workshops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8386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No traceability  </a:t>
            </a:r>
            <a:r>
              <a:rPr sz="1200">
                <a:solidFill>
                  <a:srgbClr val="323232"/>
                </a:solidFill>
                <a:latin typeface="Calibri"/>
              </a:rPr>
              <a:t>between strategy PowerPoints and Jira backlogs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507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Opinion-driven  </a:t>
            </a:r>
            <a:r>
              <a:rPr sz="1200">
                <a:solidFill>
                  <a:srgbClr val="323232"/>
                </a:solidFill>
                <a:latin typeface="Calibri"/>
              </a:rPr>
              <a:t>priorities set by whoever speaks loudest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B71C1C"/>
                </a:solidFill>
                <a:latin typeface="Calibri"/>
              </a:rPr>
              <a:t>▶  Stale on arrival  </a:t>
            </a:r>
            <a:r>
              <a:rPr sz="1200">
                <a:solidFill>
                  <a:srgbClr val="323232"/>
                </a:solidFill>
                <a:latin typeface="Calibri"/>
              </a:rPr>
              <a:t>plans outdated before reaching engineering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394960" cy="5303520"/>
          </a:xfrm>
          <a:prstGeom prst="round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THE SOLUTION: BTA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~5 minutes  </a:t>
            </a:r>
            <a:r>
              <a:rPr sz="1200">
                <a:solidFill>
                  <a:srgbClr val="323232"/>
                </a:solidFill>
                <a:latin typeface="Calibri"/>
              </a:rPr>
              <a:t>end-to-end, from company name to sprint-ready 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500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$0.05-0.25  </a:t>
            </a:r>
            <a:r>
              <a:rPr sz="1200">
                <a:solidFill>
                  <a:srgbClr val="323232"/>
                </a:solidFill>
                <a:latin typeface="Calibri"/>
              </a:rPr>
              <a:t>total cost per complete transformation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1693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4-8 hours  </a:t>
            </a:r>
            <a:r>
              <a:rPr sz="1200">
                <a:solidFill>
                  <a:srgbClr val="323232"/>
                </a:solidFill>
                <a:latin typeface="Calibri"/>
              </a:rPr>
              <a:t>of leadership time (focused review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8386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100% traceability  </a:t>
            </a:r>
            <a:r>
              <a:rPr sz="1200">
                <a:solidFill>
                  <a:srgbClr val="323232"/>
                </a:solidFill>
                <a:latin typeface="Calibri"/>
              </a:rPr>
              <a:t>Strategy → OKR → Initiative → Epic →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507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Data-driven  </a:t>
            </a:r>
            <a:r>
              <a:rPr sz="1200">
                <a:solidFill>
                  <a:srgbClr val="323232"/>
                </a:solidFill>
                <a:latin typeface="Calibri"/>
              </a:rPr>
              <a:t>every entry cites financial metrics and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rPr sz="1300" b="1">
                <a:solidFill>
                  <a:srgbClr val="2E7D32"/>
                </a:solidFill>
                <a:latin typeface="Calibri"/>
              </a:rPr>
              <a:t>✓  Re-run anytime  </a:t>
            </a:r>
            <a:r>
              <a:rPr sz="1200">
                <a:solidFill>
                  <a:srgbClr val="323232"/>
                </a:solidFill>
                <a:latin typeface="Calibri"/>
              </a:rPr>
              <a:t>refresh entire plan for $0.05 after any market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7878"/>
                </a:solidFill>
                <a:latin typeface="Calibri"/>
              </a:defRPr>
            </a:pPr>
            <a:r>
              <a:t>13 specialized AI agents  |  7-step pipeline  |  Human review gate at every step  |  Complete data lineage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952"/>
                </a:solidFill>
                <a:latin typeface="Calibri"/>
              </a:defRPr>
            </a:pPr>
            <a:r>
              <a:t>The 7-Step AI Pipeline  —  US Bancorp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87878"/>
                </a:solidFill>
                <a:latin typeface="Calibri"/>
              </a:defRPr>
            </a:pPr>
            <a:r>
              <a:t>Each agent receives complete upstream context. Every output cites its data source. Human review gates between each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81328"/>
            <a:ext cx="621792" cy="384048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Financial</a:t>
            </a:r>
            <a:br/>
            <a: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30 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20+ KPIs</a:t>
            </a:r>
            <a:br/>
            <a:r>
              <a:t>3 competitors</a:t>
            </a:r>
            <a:br/>
            <a:r>
              <a:t>Revenue splits</a:t>
            </a:r>
            <a:br/>
            <a:r>
              <a:t>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7168" y="1481328"/>
            <a:ext cx="621792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Value Stream</a:t>
            </a:r>
            <a:br/>
            <a:r>
              <a:t>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3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4 streams</a:t>
            </a:r>
            <a:br/>
            <a:r>
              <a:t>17 steps</a:t>
            </a:r>
            <a:br/>
            <a:r>
              <a:t>6 levers</a:t>
            </a:r>
            <a:br/>
            <a:r>
              <a:t>Bottlenecks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9896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51376" y="1481328"/>
            <a:ext cx="621792" cy="384048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SWOT →</a:t>
            </a:r>
            <a:br/>
            <a:r>
              <a:t>TOWS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90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16 SWOT entries</a:t>
            </a:r>
            <a:br/>
            <a:r>
              <a:t>6 TOWS actions</a:t>
            </a:r>
            <a:br/>
            <a:r>
              <a:t>Severity scores</a:t>
            </a:r>
            <a:br/>
            <a:r>
              <a:t>Impact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4104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15584" y="1481328"/>
            <a:ext cx="621792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15584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7256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Strategy</a:t>
            </a:r>
            <a:br/>
            <a:r>
              <a:t>&amp; OKRs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6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60 sec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6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6 strategies</a:t>
            </a:r>
            <a:br/>
            <a:r>
              <a:t>4 layers</a:t>
            </a:r>
            <a:br/>
            <a:r>
              <a:t>6 OKRs</a:t>
            </a:r>
            <a:br/>
            <a:r>
              <a:t>13 key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68312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79792" y="1481328"/>
            <a:ext cx="621792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1464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Initiative</a:t>
            </a:r>
            <a:br/>
            <a:r>
              <a:t>Prioritization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60 sec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1464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8 initiatives</a:t>
            </a:r>
            <a:br/>
            <a:r>
              <a:t>RICE scored</a:t>
            </a:r>
            <a:br/>
            <a:r>
              <a:t>6 products</a:t>
            </a:r>
            <a:br/>
            <a:r>
              <a:t>4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481328"/>
            <a:ext cx="621792" cy="38404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Epics &amp;</a:t>
            </a:r>
            <a:br/>
            <a:r>
              <a:t>Teams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5672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90 sec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6 teams</a:t>
            </a:r>
            <a:br/>
            <a:r>
              <a:t>8 epics</a:t>
            </a:r>
            <a:br/>
            <a:r>
              <a:t>4 product OKRs</a:t>
            </a:r>
            <a:br/>
            <a:r>
              <a:t>3 dependencies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3848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B2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96728" y="1371600"/>
            <a:ext cx="1444752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08208" y="1481328"/>
            <a:ext cx="621792" cy="384048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08208" y="1499616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69880" y="193852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2952"/>
                </a:solidFill>
                <a:latin typeface="Calibri"/>
              </a:defRPr>
            </a:pPr>
            <a:r>
              <a:t>Feature</a:t>
            </a:r>
            <a:br/>
            <a:r>
              <a:t>Backlog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246888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  <a:latin typeface="Calibri"/>
              </a:defRPr>
            </a:pPr>
            <a:r>
              <a:t>⏱ 45 sec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2788920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878"/>
                </a:solidFill>
                <a:latin typeface="Calibri"/>
              </a:defRPr>
            </a:pPr>
            <a:r>
              <a:t>15 features</a:t>
            </a:r>
            <a:br/>
            <a:r>
              <a:t>Acceptance criteria</a:t>
            </a:r>
            <a:br/>
            <a:r>
              <a:t>4 delivery OKRs</a:t>
            </a:r>
            <a:br/>
            <a:r>
              <a:t>Sprint-ready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160520"/>
            <a:ext cx="11384280" cy="41148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178808"/>
            <a:ext cx="11384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✓ Human Review Gate after every step  |  CFO → COO → CSO → CEO → CTO → VP Eng → Product Council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What the AI Surfaced for US Bancorp (auto-discovered, no analyst input):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166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66B2"/>
                </a:solidFill>
                <a:latin typeface="Calibri"/>
              </a:rPr>
              <a:t>■  Efficiency gap: </a:t>
            </a:r>
            <a:r>
              <a:rPr sz="1150">
                <a:solidFill>
                  <a:srgbClr val="323232"/>
                </a:solidFill>
                <a:latin typeface="Calibri"/>
              </a:rPr>
              <a:t>61.2% ratio vs JPMorgan 55%, PNC 58% — became the #1 strategic priority (TOWS impact: 10/10)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550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66B2"/>
                </a:solidFill>
                <a:latin typeface="Calibri"/>
              </a:rPr>
              <a:t>■  Underwriting bottleneck: </a:t>
            </a:r>
            <a:r>
              <a:rPr sz="1150">
                <a:solidFill>
                  <a:srgbClr val="323232"/>
                </a:solidFill>
                <a:latin typeface="Calibri"/>
              </a:rPr>
              <a:t>60% manual review vs 20% target — drove AI Mortgage Auto-Decisioning initiative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934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66B2"/>
                </a:solidFill>
                <a:latin typeface="Calibri"/>
              </a:rPr>
              <a:t>■  Payment leadership: </a:t>
            </a:r>
            <a:r>
              <a:rPr sz="1150">
                <a:solidFill>
                  <a:srgbClr val="323232"/>
                </a:solidFill>
                <a:latin typeface="Calibri"/>
              </a:rPr>
              <a:t>Elavon processes $500B+/yr but only 5% on real-time rails — led to FedNow integration strategy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3185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66B2"/>
                </a:solidFill>
                <a:latin typeface="Calibri"/>
              </a:rPr>
              <a:t>■  Tech spend constraint: </a:t>
            </a:r>
            <a:r>
              <a:rPr sz="1150">
                <a:solidFill>
                  <a:srgbClr val="323232"/>
                </a:solidFill>
                <a:latin typeface="Calibri"/>
              </a:rPr>
              <a:t>$3.5B (25% of JPM) — shaped "do more with AI" over "outspend competitors"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952"/>
                </a:solidFill>
                <a:latin typeface="Calibri"/>
              </a:defRPr>
            </a:pPr>
            <a:r>
              <a:t>Quantitative Impact  &amp;  Strategy-to-Sprint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952"/>
                </a:solidFill>
                <a:latin typeface="Calibri"/>
              </a:defRPr>
            </a:pPr>
            <a:r>
              <a:t>Side-by-Side: Traditional vs. BTA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952"/>
                </a:solidFill>
                <a:latin typeface="Calibri"/>
              </a:defRPr>
            </a:pPr>
            <a:r>
              <a:t>Time 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60020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0020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60020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3794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3794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Financial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183794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83794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83794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83794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30 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83794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83794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075688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07568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Value Stream Mapping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075688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207568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4-8 weeks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075688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207568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075688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7568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313432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31343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SWOT &amp; TOWS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2313432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60" y="231343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1-2 weeks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2313432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231343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90 sec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2313432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31343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551176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55117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Strategy &amp; OKRs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2551176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255117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4-12 weeks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2551176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255117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60 sec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551176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255117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788920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27889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Initiatives &amp; RICE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2788920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5960" y="27889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2788920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27889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60 sec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2788920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7889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026664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3026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Epics &amp; Teams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60" y="3026664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5960" y="3026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3026664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3026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90 sec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3026664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30266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264408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26440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Feature Backlog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65960" y="3264408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65960" y="326440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4-8 weeks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3264408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0" y="326440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45 sec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3264408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0600" y="326440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3502152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350215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65960" y="3502152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65960" y="350215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5-10 MONTHS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83280" y="3502152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83280" y="350215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~5 MIN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00600" y="3502152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00600" y="350215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E7D32"/>
                </a:solidFill>
                <a:latin typeface="Calibri"/>
              </a:defRPr>
            </a:pPr>
            <a:r>
              <a:t>~99.9%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39776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952"/>
                </a:solidFill>
                <a:latin typeface="Calibri"/>
              </a:defRPr>
            </a:pPr>
            <a:r>
              <a:t>Cost Savings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4251959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425195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65960" y="4251959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65960" y="425195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83280" y="4251959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83280" y="425195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BTA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00600" y="4251959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00600" y="425195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Saved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4489703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4489703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Market Analysis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65960" y="4489703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65960" y="4489703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$15K-50K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83280" y="4489703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83280" y="4489703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$0.02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00600" y="4489703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00600" y="4489703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4727447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472744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Strategy Consulting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65960" y="4727447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65960" y="472744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$50K-200K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83280" y="4727447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83280" y="472744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$0.05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800600" y="4727447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00600" y="4727447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4965191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496519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Agile / Backlog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65960" y="4965191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65960" y="496519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$50K-140K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383280" y="4965191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383280" y="496519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$0.05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00600" y="4965191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00600" y="496519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" y="5202935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" y="520293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Other Phases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65960" y="5202935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65960" y="520293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$45K-150K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383280" y="5202935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383280" y="520293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23232"/>
                </a:solidFill>
                <a:latin typeface="Calibri"/>
              </a:defRPr>
            </a:pPr>
            <a:r>
              <a:t>$0.08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800600" y="5202935"/>
            <a:ext cx="14173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800600" y="520293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2E7D32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440679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0" y="544067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65960" y="5440679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65960" y="544067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$160K-540K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383280" y="5440679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83280" y="544067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$0.10-0.24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800600" y="5440679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800600" y="544067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2E7D32"/>
                </a:solidFill>
                <a:latin typeface="Calibri"/>
              </a:defRPr>
            </a:pPr>
            <a:r>
              <a:t>~99.99%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952"/>
                </a:solidFill>
                <a:latin typeface="Calibri"/>
              </a:defRPr>
            </a:pPr>
            <a:r>
              <a:t>Stakeholder Hours Freed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8640" y="585216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58521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0" name="Rectangle 129"/>
          <p:cNvSpPr/>
          <p:nvPr/>
        </p:nvSpPr>
        <p:spPr>
          <a:xfrm>
            <a:off x="1965960" y="585216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965960" y="58521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383280" y="585216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383280" y="58521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BTA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800600" y="5852160"/>
            <a:ext cx="1417320" cy="23774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800600" y="58521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Saved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8640" y="608990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8640" y="60899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Total Leadership Time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65960" y="608990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965960" y="60899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196-400 hrs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83280" y="608990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383280" y="60899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4-8 hrs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00600" y="6089904"/>
            <a:ext cx="141732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00600" y="60899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23232"/>
                </a:solidFill>
                <a:latin typeface="Calibri"/>
              </a:defRPr>
            </a:pPr>
            <a:r>
              <a:t>192-392 hrs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8368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952"/>
                </a:solidFill>
                <a:latin typeface="Calibri"/>
              </a:defRPr>
            </a:pPr>
            <a:r>
              <a:t>Complete Traceability Chain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78"/>
                </a:solidFill>
                <a:latin typeface="Calibri"/>
              </a:defRPr>
            </a:pPr>
            <a:r>
              <a:t>Every feature traces back to a board-level strategy.</a:t>
            </a:r>
            <a:br/>
            <a:r>
              <a:t>No link lost in translation. One example from USB: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675120" y="1874519"/>
            <a:ext cx="1463040" cy="594360"/>
          </a:xfrm>
          <a:prstGeom prst="round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675120" y="198424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229600" y="1874519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321040" y="19202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AI-First Operations</a:t>
            </a:r>
            <a:br/>
            <a:r>
              <a:t>Transformation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223760" y="24231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B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675120" y="2624327"/>
            <a:ext cx="1463040" cy="594360"/>
          </a:xfrm>
          <a:prstGeom prst="round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675120" y="2734055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STRATEGIC OKR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229600" y="2624327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321040" y="267004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Reduce efficiency ratio</a:t>
            </a:r>
            <a:br/>
            <a:r>
              <a:t>from 61.2% to 55%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23760" y="317296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B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675120" y="3374135"/>
            <a:ext cx="146304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675120" y="348386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INITIATIVE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229600" y="3374135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321040" y="341985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AI Mortgage Auto-Decisioning</a:t>
            </a:r>
            <a:br/>
            <a:r>
              <a:t>RICE scored, Phase 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223760" y="392277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B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675120" y="4123943"/>
            <a:ext cx="1463040" cy="594360"/>
          </a:xfrm>
          <a:prstGeom prst="round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75120" y="423367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EPIC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229600" y="4123943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321040" y="416966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Mortgage ML Model</a:t>
            </a:r>
            <a:br/>
            <a:r>
              <a:t>Credit &amp; Lending Tech team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23760" y="467258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B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675120" y="4873751"/>
            <a:ext cx="1463040" cy="594360"/>
          </a:xfrm>
          <a:prstGeom prst="round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675120" y="49834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229600" y="4873751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321040" y="49194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Fair Lending Model Validation</a:t>
            </a:r>
            <a:br/>
            <a:r>
              <a:t>18 story points, Critical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223760" y="5422391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B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675120" y="5623559"/>
            <a:ext cx="1463040" cy="5943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675120" y="573328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ACCEPTANCE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229600" y="5623559"/>
            <a:ext cx="3383280" cy="5943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321040" y="56692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232"/>
                </a:solidFill>
                <a:latin typeface="Calibri"/>
              </a:defRPr>
            </a:pPr>
            <a:r>
              <a:t>No disparate impact across</a:t>
            </a:r>
            <a:br/>
            <a:r>
              <a:t>protected classes; OCC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952"/>
                </a:solidFill>
                <a:latin typeface="Calibri"/>
              </a:defRPr>
            </a:pPr>
            <a:r>
              <a:t>Key Differentiators  &amp;  What You’ll See in the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Data-Driven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Every SWOT entry, OKR target, and</a:t>
            </a:r>
            <a:br/>
            <a:r>
              <a:t>priority cites actual financial</a:t>
            </a:r>
            <a:br/>
            <a:r>
              <a:t>metrics and benchmarks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515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4-Layer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5087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Always covers Business + Digital +</a:t>
            </a:r>
            <a:br/>
            <a:r>
              <a:t>Data + Gen AI with cross-layer</a:t>
            </a:r>
            <a:br/>
            <a:r>
              <a:t>alignment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RICE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Formula-driven: Reach × Impact ×</a:t>
            </a:r>
            <a:br/>
            <a:r>
              <a:t>Confidence / Effort. No politics,</a:t>
            </a:r>
            <a:br/>
            <a:r>
              <a:t>no dot voting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100%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Strategy → OKR → Initiative →</a:t>
            </a:r>
            <a:br/>
            <a:r>
              <a:t>Epic → Feature. Nothing lost</a:t>
            </a:r>
            <a:br/>
            <a:r>
              <a:t>between strategy and sprint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6517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7 review gates with approve/reject.</a:t>
            </a:r>
            <a:br/>
            <a:r>
              <a:t>AI accelerates, humans validate.</a:t>
            </a:r>
            <a:br/>
            <a:r>
              <a:t>Full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651760"/>
            <a:ext cx="3566160" cy="1417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952"/>
                </a:solidFill>
                <a:latin typeface="Calibri"/>
              </a:defRPr>
            </a:pPr>
            <a:r>
              <a:t>$0.05 Re-runs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1089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Refresh entire analysis after any</a:t>
            </a:r>
            <a:br/>
            <a:r>
              <a:t>market change. Continuous</a:t>
            </a:r>
            <a:br/>
            <a:r>
              <a:t>transformation, not periodic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389120"/>
            <a:ext cx="12191695" cy="2468880"/>
          </a:xfrm>
          <a:prstGeom prst="rect">
            <a:avLst/>
          </a:prstGeom>
          <a:solidFill>
            <a:srgbClr val="002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You’ll See in the 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85CA"/>
                </a:solidFill>
                <a:latin typeface="Calibri"/>
              </a:rPr>
              <a:t>  Step 1:  </a:t>
            </a:r>
            <a:r>
              <a:rPr sz="1150">
                <a:solidFill>
                  <a:srgbClr val="C8D7E6"/>
                </a:solidFill>
                <a:latin typeface="Calibri"/>
              </a:rPr>
              <a:t>Live financial data ingestion for US Bancorp — auto-extracted KPIs, competitor benchmarks, revenue decomposition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0952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85CA"/>
                </a:solidFill>
                <a:latin typeface="Calibri"/>
              </a:rPr>
              <a:t>  Steps 2-3:  </a:t>
            </a:r>
            <a:r>
              <a:rPr sz="1150">
                <a:solidFill>
                  <a:srgbClr val="C8D7E6"/>
                </a:solidFill>
                <a:latin typeface="Calibri"/>
              </a:rPr>
              <a:t>AI-generated value stream maps with bottleneck detection, SWOT with severity scoring, TOWS strategic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7842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85CA"/>
                </a:solidFill>
                <a:latin typeface="Calibri"/>
              </a:rPr>
              <a:t>  Steps 4-5:  </a:t>
            </a:r>
            <a:r>
              <a:rPr sz="1150">
                <a:solidFill>
                  <a:srgbClr val="C8D7E6"/>
                </a:solidFill>
                <a:latin typeface="Calibri"/>
              </a:rPr>
              <a:t>4-layer strategy formulation, OKRs with data-anchored targets, RICE-scored initiative prioritization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02589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85CA"/>
                </a:solidFill>
                <a:latin typeface="Calibri"/>
              </a:rPr>
              <a:t>  Steps 6-7:  </a:t>
            </a:r>
            <a:r>
              <a:rPr sz="1150">
                <a:solidFill>
                  <a:srgbClr val="C8D7E6"/>
                </a:solidFill>
                <a:latin typeface="Calibri"/>
              </a:rPr>
              <a:t>Team formation, epic decomposition with dependencies, sprint-ready features with acceptance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37336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rPr sz="1200" b="1">
                <a:solidFill>
                  <a:srgbClr val="0085CA"/>
                </a:solidFill>
                <a:latin typeface="Calibri"/>
              </a:rPr>
              <a:t>  End-to-End:  </a:t>
            </a:r>
            <a:r>
              <a:rPr sz="1150">
                <a:solidFill>
                  <a:srgbClr val="C8D7E6"/>
                </a:solidFill>
                <a:latin typeface="Calibri"/>
              </a:rPr>
              <a:t>Click any feature and trace it all the way back to the originating board-level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5CA"/>
                </a:solidFill>
                <a:latin typeface="Calibri"/>
              </a:defRPr>
            </a:pPr>
            <a:r>
              <a:t>business-transformation-architect.onrender.com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