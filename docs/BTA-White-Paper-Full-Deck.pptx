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95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88720"/>
            <a:ext cx="10332720" cy="1371600"/>
          </a:xfrm>
          <a:prstGeom prst="rect">
            <a:avLst/>
          </a:prstGeom>
          <a:noFill/>
        </p:spPr>
        <p:txBody>
          <a:bodyPr wrap="square">
            <a:spAutoFit/>
          </a:bodyPr>
          <a:lstStyle/>
          <a:p>
            <a:pPr algn="ctr">
              <a:defRPr sz="4400" b="1">
                <a:solidFill>
                  <a:srgbClr val="FFFFFF"/>
                </a:solidFill>
                <a:latin typeface="Calibri"/>
              </a:defRPr>
            </a:pPr>
            <a:r>
              <a:t>From Strategy to Sprint</a:t>
            </a:r>
            <a:br/>
            <a:r>
              <a:t>in 5 Minutes</a:t>
            </a:r>
          </a:p>
        </p:txBody>
      </p:sp>
      <p:sp>
        <p:nvSpPr>
          <p:cNvPr id="4" name="TextBox 3"/>
          <p:cNvSpPr txBox="1"/>
          <p:nvPr/>
        </p:nvSpPr>
        <p:spPr>
          <a:xfrm>
            <a:off x="1371600" y="2743200"/>
            <a:ext cx="9418320" cy="731520"/>
          </a:xfrm>
          <a:prstGeom prst="rect">
            <a:avLst/>
          </a:prstGeom>
          <a:noFill/>
        </p:spPr>
        <p:txBody>
          <a:bodyPr wrap="square">
            <a:spAutoFit/>
          </a:bodyPr>
          <a:lstStyle/>
          <a:p>
            <a:pPr algn="ctr">
              <a:defRPr sz="2000" b="0">
                <a:solidFill>
                  <a:srgbClr val="0085CA"/>
                </a:solidFill>
                <a:latin typeface="Calibri"/>
              </a:defRPr>
            </a:pPr>
            <a:r>
              <a:t>How AI Multi-Agent Orchestration is Redefining Business Transformation in Banking</a:t>
            </a:r>
          </a:p>
        </p:txBody>
      </p:sp>
      <p:sp>
        <p:nvSpPr>
          <p:cNvPr id="5" name="Rectangle 4"/>
          <p:cNvSpPr/>
          <p:nvPr/>
        </p:nvSpPr>
        <p:spPr>
          <a:xfrm>
            <a:off x="5029200" y="3657600"/>
            <a:ext cx="2103120" cy="27432"/>
          </a:xfrm>
          <a:prstGeom prst="rect">
            <a:avLst/>
          </a:prstGeom>
          <a:solidFill>
            <a:srgbClr val="00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023360"/>
            <a:ext cx="10332720" cy="457200"/>
          </a:xfrm>
          <a:prstGeom prst="rect">
            <a:avLst/>
          </a:prstGeom>
          <a:noFill/>
        </p:spPr>
        <p:txBody>
          <a:bodyPr wrap="square">
            <a:spAutoFit/>
          </a:bodyPr>
          <a:lstStyle/>
          <a:p>
            <a:pPr algn="ctr">
              <a:defRPr sz="1600" b="0">
                <a:solidFill>
                  <a:srgbClr val="A0BEDC"/>
                </a:solidFill>
                <a:latin typeface="Calibri"/>
              </a:defRPr>
            </a:pPr>
            <a:r>
              <a:t>A Point of View White Paper</a:t>
            </a:r>
          </a:p>
        </p:txBody>
      </p:sp>
      <p:sp>
        <p:nvSpPr>
          <p:cNvPr id="7" name="TextBox 6"/>
          <p:cNvSpPr txBox="1"/>
          <p:nvPr/>
        </p:nvSpPr>
        <p:spPr>
          <a:xfrm>
            <a:off x="914400" y="4572000"/>
            <a:ext cx="10332720" cy="457200"/>
          </a:xfrm>
          <a:prstGeom prst="rect">
            <a:avLst/>
          </a:prstGeom>
          <a:noFill/>
        </p:spPr>
        <p:txBody>
          <a:bodyPr wrap="square">
            <a:spAutoFit/>
          </a:bodyPr>
          <a:lstStyle/>
          <a:p>
            <a:pPr algn="ctr">
              <a:defRPr sz="1400" b="0">
                <a:solidFill>
                  <a:srgbClr val="8CAAC8"/>
                </a:solidFill>
                <a:latin typeface="Calibri"/>
              </a:defRPr>
            </a:pPr>
            <a:r>
              <a:t>Business Transformation Architect (BTA) Platform</a:t>
            </a:r>
          </a:p>
        </p:txBody>
      </p:sp>
      <p:sp>
        <p:nvSpPr>
          <p:cNvPr id="8" name="TextBox 7"/>
          <p:cNvSpPr txBox="1"/>
          <p:nvPr/>
        </p:nvSpPr>
        <p:spPr>
          <a:xfrm>
            <a:off x="914400" y="5029200"/>
            <a:ext cx="10332720" cy="457200"/>
          </a:xfrm>
          <a:prstGeom prst="rect">
            <a:avLst/>
          </a:prstGeom>
          <a:noFill/>
        </p:spPr>
        <p:txBody>
          <a:bodyPr wrap="square">
            <a:spAutoFit/>
          </a:bodyPr>
          <a:lstStyle/>
          <a:p>
            <a:pPr algn="ctr">
              <a:defRPr sz="1400" b="0">
                <a:solidFill>
                  <a:srgbClr val="8CAAC8"/>
                </a:solidFill>
                <a:latin typeface="Calibri"/>
              </a:defRPr>
            </a:pPr>
            <a:r>
              <a:t>Real-World Case Study: US Bancorp (NYSE: USB)</a:t>
            </a:r>
          </a:p>
        </p:txBody>
      </p:sp>
      <p:sp>
        <p:nvSpPr>
          <p:cNvPr id="9" name="Rectangle 8"/>
          <p:cNvSpPr/>
          <p:nvPr/>
        </p:nvSpPr>
        <p:spPr>
          <a:xfrm>
            <a:off x="0" y="6803136"/>
            <a:ext cx="12191695" cy="54864"/>
          </a:xfrm>
          <a:prstGeom prst="rect">
            <a:avLst/>
          </a:prstGeom>
          <a:solidFill>
            <a:srgbClr val="00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48640"/>
          </a:xfrm>
          <a:prstGeom prst="rect">
            <a:avLst/>
          </a:prstGeom>
          <a:noFill/>
        </p:spPr>
        <p:txBody>
          <a:bodyPr wrap="square">
            <a:spAutoFit/>
          </a:bodyPr>
          <a:lstStyle/>
          <a:p>
            <a:pPr algn="l">
              <a:defRPr sz="2800" b="1">
                <a:solidFill>
                  <a:srgbClr val="002952"/>
                </a:solidFill>
                <a:latin typeface="Calibri"/>
              </a:defRPr>
            </a:pPr>
            <a:r>
              <a:t>Executive Summary</a:t>
            </a:r>
          </a:p>
        </p:txBody>
      </p:sp>
      <p:sp>
        <p:nvSpPr>
          <p:cNvPr id="4" name="TextBox 3"/>
          <p:cNvSpPr txBox="1"/>
          <p:nvPr/>
        </p:nvSpPr>
        <p:spPr>
          <a:xfrm>
            <a:off x="548640" y="1097280"/>
            <a:ext cx="10972800" cy="1097280"/>
          </a:xfrm>
          <a:prstGeom prst="rect">
            <a:avLst/>
          </a:prstGeom>
          <a:noFill/>
        </p:spPr>
        <p:txBody>
          <a:bodyPr wrap="square">
            <a:spAutoFit/>
          </a:bodyPr>
          <a:lstStyle/>
          <a:p>
            <a:pPr algn="l">
              <a:defRPr sz="1400" b="0">
                <a:solidFill>
                  <a:srgbClr val="323232"/>
                </a:solidFill>
                <a:latin typeface="Calibri"/>
              </a:defRPr>
            </a:pPr>
            <a:r>
              <a:t>Traditional business transformation planning consumes 5-10 months, costs $160K-540K, and demands 196-400 hours of senior stakeholder time. The outputs — disconnected PowerPoint decks, Visio diagrams, and spreadsheets — are subjective, fragmented, and rarely traceable from strategic objectives to the features engineering teams actually build.</a:t>
            </a:r>
          </a:p>
        </p:txBody>
      </p:sp>
      <p:sp>
        <p:nvSpPr>
          <p:cNvPr id="5" name="TextBox 4"/>
          <p:cNvSpPr txBox="1"/>
          <p:nvPr/>
        </p:nvSpPr>
        <p:spPr>
          <a:xfrm>
            <a:off x="548640" y="2377440"/>
            <a:ext cx="10972800" cy="914400"/>
          </a:xfrm>
          <a:prstGeom prst="rect">
            <a:avLst/>
          </a:prstGeom>
          <a:noFill/>
        </p:spPr>
        <p:txBody>
          <a:bodyPr wrap="square">
            <a:spAutoFit/>
          </a:bodyPr>
          <a:lstStyle/>
          <a:p>
            <a:pPr algn="l">
              <a:defRPr sz="1400" b="0">
                <a:solidFill>
                  <a:srgbClr val="323232"/>
                </a:solidFill>
                <a:latin typeface="Calibri"/>
              </a:defRPr>
            </a:pPr>
            <a:r>
              <a:t>The Business Transformation Architect (BTA) compresses this into a single integrated pipeline that generates a complete, data-driven transformation plan — from financial analysis to sprint-ready feature backlog — in approximately 5 minutes, at an AI cost of ~$0.05.</a:t>
            </a:r>
          </a:p>
        </p:txBody>
      </p:sp>
      <p:sp>
        <p:nvSpPr>
          <p:cNvPr id="6" name="Rounded Rectangle 5"/>
          <p:cNvSpPr/>
          <p:nvPr/>
        </p:nvSpPr>
        <p:spPr>
          <a:xfrm>
            <a:off x="731520" y="3657600"/>
            <a:ext cx="2468880" cy="1371600"/>
          </a:xfrm>
          <a:prstGeom prst="roundRect">
            <a:avLst/>
          </a:prstGeom>
          <a:solidFill>
            <a:srgbClr val="F0F4F8"/>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749039"/>
            <a:ext cx="2468880" cy="640080"/>
          </a:xfrm>
          <a:prstGeom prst="rect">
            <a:avLst/>
          </a:prstGeom>
          <a:noFill/>
        </p:spPr>
        <p:txBody>
          <a:bodyPr wrap="square">
            <a:spAutoFit/>
          </a:bodyPr>
          <a:lstStyle/>
          <a:p>
            <a:pPr algn="ctr">
              <a:defRPr sz="3400" b="1">
                <a:solidFill>
                  <a:srgbClr val="0066B2"/>
                </a:solidFill>
                <a:latin typeface="Calibri"/>
              </a:defRPr>
            </a:pPr>
            <a:r>
              <a:t>~5 min</a:t>
            </a:r>
          </a:p>
        </p:txBody>
      </p:sp>
      <p:sp>
        <p:nvSpPr>
          <p:cNvPr id="8" name="TextBox 7"/>
          <p:cNvSpPr txBox="1"/>
          <p:nvPr/>
        </p:nvSpPr>
        <p:spPr>
          <a:xfrm>
            <a:off x="731520" y="4389120"/>
            <a:ext cx="2468880" cy="502920"/>
          </a:xfrm>
          <a:prstGeom prst="rect">
            <a:avLst/>
          </a:prstGeom>
          <a:noFill/>
        </p:spPr>
        <p:txBody>
          <a:bodyPr wrap="square">
            <a:spAutoFit/>
          </a:bodyPr>
          <a:lstStyle/>
          <a:p>
            <a:pPr algn="ctr">
              <a:defRPr sz="1100" b="0">
                <a:solidFill>
                  <a:srgbClr val="787878"/>
                </a:solidFill>
                <a:latin typeface="Calibri"/>
              </a:defRPr>
            </a:pPr>
            <a:r>
              <a:t>End-to-End</a:t>
            </a:r>
            <a:br/>
            <a:r>
              <a:t>Time</a:t>
            </a:r>
          </a:p>
        </p:txBody>
      </p:sp>
      <p:sp>
        <p:nvSpPr>
          <p:cNvPr id="9" name="Rounded Rectangle 8"/>
          <p:cNvSpPr/>
          <p:nvPr/>
        </p:nvSpPr>
        <p:spPr>
          <a:xfrm>
            <a:off x="3566160" y="3657600"/>
            <a:ext cx="2468880" cy="1371600"/>
          </a:xfrm>
          <a:prstGeom prst="roundRect">
            <a:avLst/>
          </a:prstGeom>
          <a:solidFill>
            <a:srgbClr val="F0F4F8"/>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3749039"/>
            <a:ext cx="2468880" cy="640080"/>
          </a:xfrm>
          <a:prstGeom prst="rect">
            <a:avLst/>
          </a:prstGeom>
          <a:noFill/>
        </p:spPr>
        <p:txBody>
          <a:bodyPr wrap="square">
            <a:spAutoFit/>
          </a:bodyPr>
          <a:lstStyle/>
          <a:p>
            <a:pPr algn="ctr">
              <a:defRPr sz="3400" b="1">
                <a:solidFill>
                  <a:srgbClr val="0066B2"/>
                </a:solidFill>
                <a:latin typeface="Calibri"/>
              </a:defRPr>
            </a:pPr>
            <a:r>
              <a:t>$0.05</a:t>
            </a:r>
          </a:p>
        </p:txBody>
      </p:sp>
      <p:sp>
        <p:nvSpPr>
          <p:cNvPr id="11" name="TextBox 10"/>
          <p:cNvSpPr txBox="1"/>
          <p:nvPr/>
        </p:nvSpPr>
        <p:spPr>
          <a:xfrm>
            <a:off x="3566160" y="4389120"/>
            <a:ext cx="2468880" cy="502920"/>
          </a:xfrm>
          <a:prstGeom prst="rect">
            <a:avLst/>
          </a:prstGeom>
          <a:noFill/>
        </p:spPr>
        <p:txBody>
          <a:bodyPr wrap="square">
            <a:spAutoFit/>
          </a:bodyPr>
          <a:lstStyle/>
          <a:p>
            <a:pPr algn="ctr">
              <a:defRPr sz="1100" b="0">
                <a:solidFill>
                  <a:srgbClr val="787878"/>
                </a:solidFill>
                <a:latin typeface="Calibri"/>
              </a:defRPr>
            </a:pPr>
            <a:r>
              <a:t>Total AI</a:t>
            </a:r>
            <a:br/>
            <a:r>
              <a:t>Cost</a:t>
            </a:r>
          </a:p>
        </p:txBody>
      </p:sp>
      <p:sp>
        <p:nvSpPr>
          <p:cNvPr id="12" name="Rounded Rectangle 11"/>
          <p:cNvSpPr/>
          <p:nvPr/>
        </p:nvSpPr>
        <p:spPr>
          <a:xfrm>
            <a:off x="6400800" y="3657600"/>
            <a:ext cx="2468880" cy="1371600"/>
          </a:xfrm>
          <a:prstGeom prst="roundRect">
            <a:avLst/>
          </a:prstGeom>
          <a:solidFill>
            <a:srgbClr val="F0F4F8"/>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749039"/>
            <a:ext cx="2468880" cy="640080"/>
          </a:xfrm>
          <a:prstGeom prst="rect">
            <a:avLst/>
          </a:prstGeom>
          <a:noFill/>
        </p:spPr>
        <p:txBody>
          <a:bodyPr wrap="square">
            <a:spAutoFit/>
          </a:bodyPr>
          <a:lstStyle/>
          <a:p>
            <a:pPr algn="ctr">
              <a:defRPr sz="3400" b="1">
                <a:solidFill>
                  <a:srgbClr val="0066B2"/>
                </a:solidFill>
                <a:latin typeface="Calibri"/>
              </a:defRPr>
            </a:pPr>
            <a:r>
              <a:t>200+</a:t>
            </a:r>
          </a:p>
        </p:txBody>
      </p:sp>
      <p:sp>
        <p:nvSpPr>
          <p:cNvPr id="14" name="TextBox 13"/>
          <p:cNvSpPr txBox="1"/>
          <p:nvPr/>
        </p:nvSpPr>
        <p:spPr>
          <a:xfrm>
            <a:off x="6400800" y="4389120"/>
            <a:ext cx="2468880" cy="502920"/>
          </a:xfrm>
          <a:prstGeom prst="rect">
            <a:avLst/>
          </a:prstGeom>
          <a:noFill/>
        </p:spPr>
        <p:txBody>
          <a:bodyPr wrap="square">
            <a:spAutoFit/>
          </a:bodyPr>
          <a:lstStyle/>
          <a:p>
            <a:pPr algn="ctr">
              <a:defRPr sz="1100" b="0">
                <a:solidFill>
                  <a:srgbClr val="787878"/>
                </a:solidFill>
                <a:latin typeface="Calibri"/>
              </a:defRPr>
            </a:pPr>
            <a:r>
              <a:t>Interconnected</a:t>
            </a:r>
            <a:br/>
            <a:r>
              <a:t>Artifacts</a:t>
            </a:r>
          </a:p>
        </p:txBody>
      </p:sp>
      <p:sp>
        <p:nvSpPr>
          <p:cNvPr id="15" name="Rounded Rectangle 14"/>
          <p:cNvSpPr/>
          <p:nvPr/>
        </p:nvSpPr>
        <p:spPr>
          <a:xfrm>
            <a:off x="9235440" y="3657600"/>
            <a:ext cx="2468880" cy="1371600"/>
          </a:xfrm>
          <a:prstGeom prst="roundRect">
            <a:avLst/>
          </a:prstGeom>
          <a:solidFill>
            <a:srgbClr val="F0F4F8"/>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3749039"/>
            <a:ext cx="2468880" cy="640080"/>
          </a:xfrm>
          <a:prstGeom prst="rect">
            <a:avLst/>
          </a:prstGeom>
          <a:noFill/>
        </p:spPr>
        <p:txBody>
          <a:bodyPr wrap="square">
            <a:spAutoFit/>
          </a:bodyPr>
          <a:lstStyle/>
          <a:p>
            <a:pPr algn="ctr">
              <a:defRPr sz="3400" b="1">
                <a:solidFill>
                  <a:srgbClr val="0066B2"/>
                </a:solidFill>
                <a:latin typeface="Calibri"/>
              </a:defRPr>
            </a:pPr>
            <a:r>
              <a:t>99.99%</a:t>
            </a:r>
          </a:p>
        </p:txBody>
      </p:sp>
      <p:sp>
        <p:nvSpPr>
          <p:cNvPr id="17" name="TextBox 16"/>
          <p:cNvSpPr txBox="1"/>
          <p:nvPr/>
        </p:nvSpPr>
        <p:spPr>
          <a:xfrm>
            <a:off x="9235440" y="4389120"/>
            <a:ext cx="2468880" cy="502920"/>
          </a:xfrm>
          <a:prstGeom prst="rect">
            <a:avLst/>
          </a:prstGeom>
          <a:noFill/>
        </p:spPr>
        <p:txBody>
          <a:bodyPr wrap="square">
            <a:spAutoFit/>
          </a:bodyPr>
          <a:lstStyle/>
          <a:p>
            <a:pPr algn="ctr">
              <a:defRPr sz="1100" b="0">
                <a:solidFill>
                  <a:srgbClr val="787878"/>
                </a:solidFill>
                <a:latin typeface="Calibri"/>
              </a:defRPr>
            </a:pPr>
            <a:r>
              <a:t>Cost</a:t>
            </a:r>
            <a:br/>
            <a:r>
              <a:t>Reduction</a:t>
            </a:r>
          </a:p>
        </p:txBody>
      </p:sp>
      <p:sp>
        <p:nvSpPr>
          <p:cNvPr id="18" name="TextBox 17"/>
          <p:cNvSpPr txBox="1"/>
          <p:nvPr/>
        </p:nvSpPr>
        <p:spPr>
          <a:xfrm>
            <a:off x="548640" y="5394960"/>
            <a:ext cx="10972800" cy="822960"/>
          </a:xfrm>
          <a:prstGeom prst="rect">
            <a:avLst/>
          </a:prstGeom>
          <a:noFill/>
        </p:spPr>
        <p:txBody>
          <a:bodyPr wrap="square">
            <a:spAutoFit/>
          </a:bodyPr>
          <a:lstStyle/>
          <a:p>
            <a:pPr algn="l">
              <a:defRPr sz="1300" b="0">
                <a:solidFill>
                  <a:srgbClr val="323232"/>
                </a:solidFill>
                <a:latin typeface="Calibri"/>
              </a:defRPr>
            </a:pPr>
            <a:r>
              <a:t>This paper demonstrates these capabilities using US Bancorp (NYSE: USB) — the fifth-largest US commercial bank — walking through all 7 steps with actual platform-generated outputs, showing complete traceability from financial analysis to user stories with acceptance criteria.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48640"/>
          </a:xfrm>
          <a:prstGeom prst="rect">
            <a:avLst/>
          </a:prstGeom>
          <a:noFill/>
        </p:spPr>
        <p:txBody>
          <a:bodyPr wrap="square">
            <a:spAutoFit/>
          </a:bodyPr>
          <a:lstStyle/>
          <a:p>
            <a:pPr algn="l">
              <a:defRPr sz="2800" b="1">
                <a:solidFill>
                  <a:srgbClr val="002952"/>
                </a:solidFill>
                <a:latin typeface="Calibri"/>
              </a:defRPr>
            </a:pPr>
            <a:r>
              <a:t>The Problem: Why Transformation Planning Fails</a:t>
            </a:r>
          </a:p>
        </p:txBody>
      </p:sp>
      <p:sp>
        <p:nvSpPr>
          <p:cNvPr id="4" name="TextBox 3"/>
          <p:cNvSpPr txBox="1"/>
          <p:nvPr/>
        </p:nvSpPr>
        <p:spPr>
          <a:xfrm>
            <a:off x="548640" y="777240"/>
            <a:ext cx="10972800" cy="411480"/>
          </a:xfrm>
          <a:prstGeom prst="rect">
            <a:avLst/>
          </a:prstGeom>
          <a:noFill/>
        </p:spPr>
        <p:txBody>
          <a:bodyPr wrap="square">
            <a:spAutoFit/>
          </a:bodyPr>
          <a:lstStyle/>
          <a:p>
            <a:pPr algn="l">
              <a:defRPr sz="1300" b="0">
                <a:solidFill>
                  <a:srgbClr val="787878"/>
                </a:solidFill>
                <a:latin typeface="Calibri"/>
              </a:defRPr>
            </a:pPr>
            <a:r>
              <a:t>Traditional approach: fragmented tools, disconnected outputs, months of elapsed time</a:t>
            </a:r>
          </a:p>
        </p:txBody>
      </p:sp>
      <p:sp>
        <p:nvSpPr>
          <p:cNvPr id="5" name="TextBox 4"/>
          <p:cNvSpPr txBox="1"/>
          <p:nvPr/>
        </p:nvSpPr>
        <p:spPr>
          <a:xfrm>
            <a:off x="548640" y="1371600"/>
            <a:ext cx="5486400" cy="365760"/>
          </a:xfrm>
          <a:prstGeom prst="rect">
            <a:avLst/>
          </a:prstGeom>
          <a:noFill/>
        </p:spPr>
        <p:txBody>
          <a:bodyPr wrap="square">
            <a:spAutoFit/>
          </a:bodyPr>
          <a:lstStyle/>
          <a:p>
            <a:pPr algn="l">
              <a:defRPr sz="1600" b="1">
                <a:solidFill>
                  <a:srgbClr val="002952"/>
                </a:solidFill>
                <a:latin typeface="Calibri"/>
              </a:defRPr>
            </a:pPr>
            <a:r>
              <a:t>A Typical Transformation Timeline</a:t>
            </a:r>
          </a:p>
        </p:txBody>
      </p:sp>
      <p:sp>
        <p:nvSpPr>
          <p:cNvPr id="6" name="Rounded Rectangle 5"/>
          <p:cNvSpPr/>
          <p:nvPr/>
        </p:nvSpPr>
        <p:spPr>
          <a:xfrm>
            <a:off x="640080" y="1828800"/>
            <a:ext cx="1371600" cy="502920"/>
          </a:xfrm>
          <a:prstGeom prst="round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01952"/>
            <a:ext cx="1371600" cy="365760"/>
          </a:xfrm>
          <a:prstGeom prst="rect">
            <a:avLst/>
          </a:prstGeom>
          <a:noFill/>
        </p:spPr>
        <p:txBody>
          <a:bodyPr wrap="square">
            <a:spAutoFit/>
          </a:bodyPr>
          <a:lstStyle/>
          <a:p>
            <a:pPr algn="ctr">
              <a:defRPr sz="1100" b="1">
                <a:solidFill>
                  <a:srgbClr val="FFFFFF"/>
                </a:solidFill>
                <a:latin typeface="Calibri"/>
              </a:defRPr>
            </a:pPr>
            <a:r>
              <a:t>Weeks 1-4</a:t>
            </a:r>
          </a:p>
        </p:txBody>
      </p:sp>
      <p:sp>
        <p:nvSpPr>
          <p:cNvPr id="8" name="TextBox 7"/>
          <p:cNvSpPr txBox="1"/>
          <p:nvPr/>
        </p:nvSpPr>
        <p:spPr>
          <a:xfrm>
            <a:off x="2194560" y="1901952"/>
            <a:ext cx="2926080" cy="365760"/>
          </a:xfrm>
          <a:prstGeom prst="rect">
            <a:avLst/>
          </a:prstGeom>
          <a:noFill/>
        </p:spPr>
        <p:txBody>
          <a:bodyPr wrap="square">
            <a:spAutoFit/>
          </a:bodyPr>
          <a:lstStyle/>
          <a:p>
            <a:pPr algn="l">
              <a:defRPr sz="1100" b="0">
                <a:solidFill>
                  <a:srgbClr val="323232"/>
                </a:solidFill>
                <a:latin typeface="Calibri"/>
              </a:defRPr>
            </a:pPr>
            <a:r>
              <a:t>Market analysis &amp; financial benchmarking</a:t>
            </a:r>
          </a:p>
        </p:txBody>
      </p:sp>
      <p:sp>
        <p:nvSpPr>
          <p:cNvPr id="9" name="TextBox 8"/>
          <p:cNvSpPr txBox="1"/>
          <p:nvPr/>
        </p:nvSpPr>
        <p:spPr>
          <a:xfrm>
            <a:off x="5029200" y="1901952"/>
            <a:ext cx="1097280" cy="365760"/>
          </a:xfrm>
          <a:prstGeom prst="rect">
            <a:avLst/>
          </a:prstGeom>
          <a:noFill/>
        </p:spPr>
        <p:txBody>
          <a:bodyPr wrap="square">
            <a:spAutoFit/>
          </a:bodyPr>
          <a:lstStyle/>
          <a:p>
            <a:pPr algn="r">
              <a:defRPr sz="1100" b="1">
                <a:solidFill>
                  <a:srgbClr val="B71C1C"/>
                </a:solidFill>
                <a:latin typeface="Calibri"/>
              </a:defRPr>
            </a:pPr>
            <a:r>
              <a:t>$15K-50K</a:t>
            </a:r>
          </a:p>
        </p:txBody>
      </p:sp>
      <p:sp>
        <p:nvSpPr>
          <p:cNvPr id="10" name="Rounded Rectangle 9"/>
          <p:cNvSpPr/>
          <p:nvPr/>
        </p:nvSpPr>
        <p:spPr>
          <a:xfrm>
            <a:off x="640080" y="2487168"/>
            <a:ext cx="1371600" cy="502920"/>
          </a:xfrm>
          <a:prstGeom prst="round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560320"/>
            <a:ext cx="1371600" cy="365760"/>
          </a:xfrm>
          <a:prstGeom prst="rect">
            <a:avLst/>
          </a:prstGeom>
          <a:noFill/>
        </p:spPr>
        <p:txBody>
          <a:bodyPr wrap="square">
            <a:spAutoFit/>
          </a:bodyPr>
          <a:lstStyle/>
          <a:p>
            <a:pPr algn="ctr">
              <a:defRPr sz="1100" b="1">
                <a:solidFill>
                  <a:srgbClr val="FFFFFF"/>
                </a:solidFill>
                <a:latin typeface="Calibri"/>
              </a:defRPr>
            </a:pPr>
            <a:r>
              <a:t>Weeks 4-12</a:t>
            </a:r>
          </a:p>
        </p:txBody>
      </p:sp>
      <p:sp>
        <p:nvSpPr>
          <p:cNvPr id="12" name="TextBox 11"/>
          <p:cNvSpPr txBox="1"/>
          <p:nvPr/>
        </p:nvSpPr>
        <p:spPr>
          <a:xfrm>
            <a:off x="2194560" y="2560320"/>
            <a:ext cx="2926080" cy="365760"/>
          </a:xfrm>
          <a:prstGeom prst="rect">
            <a:avLst/>
          </a:prstGeom>
          <a:noFill/>
        </p:spPr>
        <p:txBody>
          <a:bodyPr wrap="square">
            <a:spAutoFit/>
          </a:bodyPr>
          <a:lstStyle/>
          <a:p>
            <a:pPr algn="l">
              <a:defRPr sz="1100" b="0">
                <a:solidFill>
                  <a:srgbClr val="323232"/>
                </a:solidFill>
                <a:latin typeface="Calibri"/>
              </a:defRPr>
            </a:pPr>
            <a:r>
              <a:t>Value stream mapping workshops &amp; interviews</a:t>
            </a:r>
          </a:p>
        </p:txBody>
      </p:sp>
      <p:sp>
        <p:nvSpPr>
          <p:cNvPr id="13" name="TextBox 12"/>
          <p:cNvSpPr txBox="1"/>
          <p:nvPr/>
        </p:nvSpPr>
        <p:spPr>
          <a:xfrm>
            <a:off x="5029200" y="2560320"/>
            <a:ext cx="1097280" cy="365760"/>
          </a:xfrm>
          <a:prstGeom prst="rect">
            <a:avLst/>
          </a:prstGeom>
          <a:noFill/>
        </p:spPr>
        <p:txBody>
          <a:bodyPr wrap="square">
            <a:spAutoFit/>
          </a:bodyPr>
          <a:lstStyle/>
          <a:p>
            <a:pPr algn="r">
              <a:defRPr sz="1100" b="1">
                <a:solidFill>
                  <a:srgbClr val="B71C1C"/>
                </a:solidFill>
                <a:latin typeface="Calibri"/>
              </a:defRPr>
            </a:pPr>
            <a:r>
              <a:t>$20K-80K</a:t>
            </a:r>
          </a:p>
        </p:txBody>
      </p:sp>
      <p:sp>
        <p:nvSpPr>
          <p:cNvPr id="14" name="Rounded Rectangle 13"/>
          <p:cNvSpPr/>
          <p:nvPr/>
        </p:nvSpPr>
        <p:spPr>
          <a:xfrm>
            <a:off x="640080" y="3145536"/>
            <a:ext cx="1371600" cy="502920"/>
          </a:xfrm>
          <a:prstGeom prst="round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218688"/>
            <a:ext cx="1371600" cy="365760"/>
          </a:xfrm>
          <a:prstGeom prst="rect">
            <a:avLst/>
          </a:prstGeom>
          <a:noFill/>
        </p:spPr>
        <p:txBody>
          <a:bodyPr wrap="square">
            <a:spAutoFit/>
          </a:bodyPr>
          <a:lstStyle/>
          <a:p>
            <a:pPr algn="ctr">
              <a:defRPr sz="1100" b="1">
                <a:solidFill>
                  <a:srgbClr val="FFFFFF"/>
                </a:solidFill>
                <a:latin typeface="Calibri"/>
              </a:defRPr>
            </a:pPr>
            <a:r>
              <a:t>Weeks 8-14</a:t>
            </a:r>
          </a:p>
        </p:txBody>
      </p:sp>
      <p:sp>
        <p:nvSpPr>
          <p:cNvPr id="16" name="TextBox 15"/>
          <p:cNvSpPr txBox="1"/>
          <p:nvPr/>
        </p:nvSpPr>
        <p:spPr>
          <a:xfrm>
            <a:off x="2194560" y="3218688"/>
            <a:ext cx="2926080" cy="365760"/>
          </a:xfrm>
          <a:prstGeom prst="rect">
            <a:avLst/>
          </a:prstGeom>
          <a:noFill/>
        </p:spPr>
        <p:txBody>
          <a:bodyPr wrap="square">
            <a:spAutoFit/>
          </a:bodyPr>
          <a:lstStyle/>
          <a:p>
            <a:pPr algn="l">
              <a:defRPr sz="1100" b="0">
                <a:solidFill>
                  <a:srgbClr val="323232"/>
                </a:solidFill>
                <a:latin typeface="Calibri"/>
              </a:defRPr>
            </a:pPr>
            <a:r>
              <a:t>SWOT analysis, strategy retreats, offsites</a:t>
            </a:r>
          </a:p>
        </p:txBody>
      </p:sp>
      <p:sp>
        <p:nvSpPr>
          <p:cNvPr id="17" name="TextBox 16"/>
          <p:cNvSpPr txBox="1"/>
          <p:nvPr/>
        </p:nvSpPr>
        <p:spPr>
          <a:xfrm>
            <a:off x="5029200" y="3218688"/>
            <a:ext cx="1097280" cy="365760"/>
          </a:xfrm>
          <a:prstGeom prst="rect">
            <a:avLst/>
          </a:prstGeom>
          <a:noFill/>
        </p:spPr>
        <p:txBody>
          <a:bodyPr wrap="square">
            <a:spAutoFit/>
          </a:bodyPr>
          <a:lstStyle/>
          <a:p>
            <a:pPr algn="r">
              <a:defRPr sz="1100" b="1">
                <a:solidFill>
                  <a:srgbClr val="B71C1C"/>
                </a:solidFill>
                <a:latin typeface="Calibri"/>
              </a:defRPr>
            </a:pPr>
            <a:r>
              <a:t>$60K-230K</a:t>
            </a:r>
          </a:p>
        </p:txBody>
      </p:sp>
      <p:sp>
        <p:nvSpPr>
          <p:cNvPr id="18" name="Rounded Rectangle 17"/>
          <p:cNvSpPr/>
          <p:nvPr/>
        </p:nvSpPr>
        <p:spPr>
          <a:xfrm>
            <a:off x="640080" y="3803904"/>
            <a:ext cx="1371600" cy="502920"/>
          </a:xfrm>
          <a:prstGeom prst="round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877056"/>
            <a:ext cx="1371600" cy="365760"/>
          </a:xfrm>
          <a:prstGeom prst="rect">
            <a:avLst/>
          </a:prstGeom>
          <a:noFill/>
        </p:spPr>
        <p:txBody>
          <a:bodyPr wrap="square">
            <a:spAutoFit/>
          </a:bodyPr>
          <a:lstStyle/>
          <a:p>
            <a:pPr algn="ctr">
              <a:defRPr sz="1100" b="1">
                <a:solidFill>
                  <a:srgbClr val="FFFFFF"/>
                </a:solidFill>
                <a:latin typeface="Calibri"/>
              </a:defRPr>
            </a:pPr>
            <a:r>
              <a:t>Weeks 12-24</a:t>
            </a:r>
          </a:p>
        </p:txBody>
      </p:sp>
      <p:sp>
        <p:nvSpPr>
          <p:cNvPr id="20" name="TextBox 19"/>
          <p:cNvSpPr txBox="1"/>
          <p:nvPr/>
        </p:nvSpPr>
        <p:spPr>
          <a:xfrm>
            <a:off x="2194560" y="3877056"/>
            <a:ext cx="2926080" cy="365760"/>
          </a:xfrm>
          <a:prstGeom prst="rect">
            <a:avLst/>
          </a:prstGeom>
          <a:noFill/>
        </p:spPr>
        <p:txBody>
          <a:bodyPr wrap="square">
            <a:spAutoFit/>
          </a:bodyPr>
          <a:lstStyle/>
          <a:p>
            <a:pPr algn="l">
              <a:defRPr sz="1100" b="0">
                <a:solidFill>
                  <a:srgbClr val="323232"/>
                </a:solidFill>
                <a:latin typeface="Calibri"/>
              </a:defRPr>
            </a:pPr>
            <a:r>
              <a:t>Initiative definition, business cases, RICE</a:t>
            </a:r>
          </a:p>
        </p:txBody>
      </p:sp>
      <p:sp>
        <p:nvSpPr>
          <p:cNvPr id="21" name="TextBox 20"/>
          <p:cNvSpPr txBox="1"/>
          <p:nvPr/>
        </p:nvSpPr>
        <p:spPr>
          <a:xfrm>
            <a:off x="5029200" y="3877056"/>
            <a:ext cx="1097280" cy="365760"/>
          </a:xfrm>
          <a:prstGeom prst="rect">
            <a:avLst/>
          </a:prstGeom>
          <a:noFill/>
        </p:spPr>
        <p:txBody>
          <a:bodyPr wrap="square">
            <a:spAutoFit/>
          </a:bodyPr>
          <a:lstStyle/>
          <a:p>
            <a:pPr algn="r">
              <a:defRPr sz="1100" b="1">
                <a:solidFill>
                  <a:srgbClr val="B71C1C"/>
                </a:solidFill>
                <a:latin typeface="Calibri"/>
              </a:defRPr>
            </a:pPr>
            <a:r>
              <a:t>$15K-40K</a:t>
            </a:r>
          </a:p>
        </p:txBody>
      </p:sp>
      <p:sp>
        <p:nvSpPr>
          <p:cNvPr id="22" name="Rounded Rectangle 21"/>
          <p:cNvSpPr/>
          <p:nvPr/>
        </p:nvSpPr>
        <p:spPr>
          <a:xfrm>
            <a:off x="640080" y="4462272"/>
            <a:ext cx="1371600" cy="502920"/>
          </a:xfrm>
          <a:prstGeom prst="round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535424"/>
            <a:ext cx="1371600" cy="365760"/>
          </a:xfrm>
          <a:prstGeom prst="rect">
            <a:avLst/>
          </a:prstGeom>
          <a:noFill/>
        </p:spPr>
        <p:txBody>
          <a:bodyPr wrap="square">
            <a:spAutoFit/>
          </a:bodyPr>
          <a:lstStyle/>
          <a:p>
            <a:pPr algn="ctr">
              <a:defRPr sz="1100" b="1">
                <a:solidFill>
                  <a:srgbClr val="FFFFFF"/>
                </a:solidFill>
                <a:latin typeface="Calibri"/>
              </a:defRPr>
            </a:pPr>
            <a:r>
              <a:t>Weeks 20-36</a:t>
            </a:r>
          </a:p>
        </p:txBody>
      </p:sp>
      <p:sp>
        <p:nvSpPr>
          <p:cNvPr id="24" name="TextBox 23"/>
          <p:cNvSpPr txBox="1"/>
          <p:nvPr/>
        </p:nvSpPr>
        <p:spPr>
          <a:xfrm>
            <a:off x="2194560" y="4535424"/>
            <a:ext cx="2926080" cy="365760"/>
          </a:xfrm>
          <a:prstGeom prst="rect">
            <a:avLst/>
          </a:prstGeom>
          <a:noFill/>
        </p:spPr>
        <p:txBody>
          <a:bodyPr wrap="square">
            <a:spAutoFit/>
          </a:bodyPr>
          <a:lstStyle/>
          <a:p>
            <a:pPr algn="l">
              <a:defRPr sz="1100" b="0">
                <a:solidFill>
                  <a:srgbClr val="323232"/>
                </a:solidFill>
                <a:latin typeface="Calibri"/>
              </a:defRPr>
            </a:pPr>
            <a:r>
              <a:t>Epic decomposition, teams, backlog creation</a:t>
            </a:r>
          </a:p>
        </p:txBody>
      </p:sp>
      <p:sp>
        <p:nvSpPr>
          <p:cNvPr id="25" name="TextBox 24"/>
          <p:cNvSpPr txBox="1"/>
          <p:nvPr/>
        </p:nvSpPr>
        <p:spPr>
          <a:xfrm>
            <a:off x="5029200" y="4535424"/>
            <a:ext cx="1097280" cy="365760"/>
          </a:xfrm>
          <a:prstGeom prst="rect">
            <a:avLst/>
          </a:prstGeom>
          <a:noFill/>
        </p:spPr>
        <p:txBody>
          <a:bodyPr wrap="square">
            <a:spAutoFit/>
          </a:bodyPr>
          <a:lstStyle/>
          <a:p>
            <a:pPr algn="r">
              <a:defRPr sz="1100" b="1">
                <a:solidFill>
                  <a:srgbClr val="B71C1C"/>
                </a:solidFill>
                <a:latin typeface="Calibri"/>
              </a:defRPr>
            </a:pPr>
            <a:r>
              <a:t>$50K-140K</a:t>
            </a:r>
          </a:p>
        </p:txBody>
      </p:sp>
      <p:sp>
        <p:nvSpPr>
          <p:cNvPr id="26" name="TextBox 25"/>
          <p:cNvSpPr txBox="1"/>
          <p:nvPr/>
        </p:nvSpPr>
        <p:spPr>
          <a:xfrm>
            <a:off x="6583680" y="1371600"/>
            <a:ext cx="5029200" cy="365760"/>
          </a:xfrm>
          <a:prstGeom prst="rect">
            <a:avLst/>
          </a:prstGeom>
          <a:noFill/>
        </p:spPr>
        <p:txBody>
          <a:bodyPr wrap="square">
            <a:spAutoFit/>
          </a:bodyPr>
          <a:lstStyle/>
          <a:p>
            <a:pPr algn="l">
              <a:defRPr sz="1600" b="1">
                <a:solidFill>
                  <a:srgbClr val="002952"/>
                </a:solidFill>
                <a:latin typeface="Calibri"/>
              </a:defRPr>
            </a:pPr>
            <a:r>
              <a:t>Why It Fails</a:t>
            </a:r>
          </a:p>
        </p:txBody>
      </p:sp>
      <p:sp>
        <p:nvSpPr>
          <p:cNvPr id="27" name="TextBox 26"/>
          <p:cNvSpPr txBox="1"/>
          <p:nvPr/>
        </p:nvSpPr>
        <p:spPr>
          <a:xfrm>
            <a:off x="6766560" y="1828800"/>
            <a:ext cx="4846320" cy="731520"/>
          </a:xfrm>
          <a:prstGeom prst="rect">
            <a:avLst/>
          </a:prstGeom>
          <a:noFill/>
        </p:spPr>
        <p:txBody>
          <a:bodyPr wrap="square">
            <a:spAutoFit/>
          </a:bodyPr>
          <a:lstStyle/>
          <a:p>
            <a:pPr algn="l">
              <a:defRPr sz="1150" b="0">
                <a:solidFill>
                  <a:srgbClr val="323232"/>
                </a:solidFill>
                <a:latin typeface="Calibri"/>
              </a:defRPr>
            </a:pPr>
            <a:r>
              <a:rPr sz="1150" b="1">
                <a:solidFill>
                  <a:srgbClr val="B71C1C"/>
                </a:solidFill>
                <a:latin typeface="Calibri"/>
              </a:rPr>
              <a:t>▶ Strategy-to-execution gap: </a:t>
            </a:r>
            <a:r>
              <a:rPr sz="1100">
                <a:solidFill>
                  <a:srgbClr val="323232"/>
                </a:solidFill>
                <a:latin typeface="Calibri"/>
              </a:rPr>
              <a:t>PowerPoint decks never reach Jira backlogs. No traceable link between a board objective and a sprint story.</a:t>
            </a:r>
          </a:p>
        </p:txBody>
      </p:sp>
      <p:sp>
        <p:nvSpPr>
          <p:cNvPr id="28" name="TextBox 27"/>
          <p:cNvSpPr txBox="1"/>
          <p:nvPr/>
        </p:nvSpPr>
        <p:spPr>
          <a:xfrm>
            <a:off x="6766560" y="2606040"/>
            <a:ext cx="4846320" cy="731520"/>
          </a:xfrm>
          <a:prstGeom prst="rect">
            <a:avLst/>
          </a:prstGeom>
          <a:noFill/>
        </p:spPr>
        <p:txBody>
          <a:bodyPr wrap="square">
            <a:spAutoFit/>
          </a:bodyPr>
          <a:lstStyle/>
          <a:p>
            <a:pPr algn="l">
              <a:defRPr sz="1150" b="0">
                <a:solidFill>
                  <a:srgbClr val="323232"/>
                </a:solidFill>
                <a:latin typeface="Calibri"/>
              </a:defRPr>
            </a:pPr>
            <a:r>
              <a:rPr sz="1150" b="1">
                <a:solidFill>
                  <a:srgbClr val="B71C1C"/>
                </a:solidFill>
                <a:latin typeface="Calibri"/>
              </a:rPr>
              <a:t>▶ Opinion-driven decisions: </a:t>
            </a:r>
            <a:r>
              <a:rPr sz="1100">
                <a:solidFill>
                  <a:srgbClr val="323232"/>
                </a:solidFill>
                <a:latin typeface="Calibri"/>
              </a:rPr>
              <a:t>SWOT entries reflect who speaks loudest. Priorities set by politics, not data. OKR targets are arbitrary.</a:t>
            </a:r>
          </a:p>
        </p:txBody>
      </p:sp>
      <p:sp>
        <p:nvSpPr>
          <p:cNvPr id="29" name="TextBox 28"/>
          <p:cNvSpPr txBox="1"/>
          <p:nvPr/>
        </p:nvSpPr>
        <p:spPr>
          <a:xfrm>
            <a:off x="6766560" y="3383280"/>
            <a:ext cx="4846320" cy="731520"/>
          </a:xfrm>
          <a:prstGeom prst="rect">
            <a:avLst/>
          </a:prstGeom>
          <a:noFill/>
        </p:spPr>
        <p:txBody>
          <a:bodyPr wrap="square">
            <a:spAutoFit/>
          </a:bodyPr>
          <a:lstStyle/>
          <a:p>
            <a:pPr algn="l">
              <a:defRPr sz="1150" b="0">
                <a:solidFill>
                  <a:srgbClr val="323232"/>
                </a:solidFill>
                <a:latin typeface="Calibri"/>
              </a:defRPr>
            </a:pPr>
            <a:r>
              <a:rPr sz="1150" b="1">
                <a:solidFill>
                  <a:srgbClr val="B71C1C"/>
                </a:solidFill>
                <a:latin typeface="Calibri"/>
              </a:rPr>
              <a:t>▶ Banking-specific complexity: </a:t>
            </a:r>
            <a:r>
              <a:rPr sz="1100">
                <a:solidFill>
                  <a:srgbClr val="323232"/>
                </a:solidFill>
                <a:latin typeface="Calibri"/>
              </a:rPr>
              <a:t>OCC/Fed regulations, Basel III capital requirements, legacy core systems, fintech competitive pressure from Chime/SoFi.</a:t>
            </a:r>
          </a:p>
        </p:txBody>
      </p:sp>
      <p:sp>
        <p:nvSpPr>
          <p:cNvPr id="30" name="TextBox 29"/>
          <p:cNvSpPr txBox="1"/>
          <p:nvPr/>
        </p:nvSpPr>
        <p:spPr>
          <a:xfrm>
            <a:off x="6766560" y="4160520"/>
            <a:ext cx="4846320" cy="731520"/>
          </a:xfrm>
          <a:prstGeom prst="rect">
            <a:avLst/>
          </a:prstGeom>
          <a:noFill/>
        </p:spPr>
        <p:txBody>
          <a:bodyPr wrap="square">
            <a:spAutoFit/>
          </a:bodyPr>
          <a:lstStyle/>
          <a:p>
            <a:pPr algn="l">
              <a:defRPr sz="1150" b="0">
                <a:solidFill>
                  <a:srgbClr val="323232"/>
                </a:solidFill>
                <a:latin typeface="Calibri"/>
              </a:defRPr>
            </a:pPr>
            <a:r>
              <a:rPr sz="1150" b="1">
                <a:solidFill>
                  <a:srgbClr val="B71C1C"/>
                </a:solidFill>
                <a:latin typeface="Calibri"/>
              </a:rPr>
              <a:t>▶ Stale on arrival: </a:t>
            </a:r>
            <a:r>
              <a:rPr sz="1100">
                <a:solidFill>
                  <a:srgbClr val="323232"/>
                </a:solidFill>
                <a:latin typeface="Calibri"/>
              </a:rPr>
              <a:t>By the time plans reach engineering, market conditions have already shifted. Re-engagement costs $50K+.</a:t>
            </a:r>
          </a:p>
        </p:txBody>
      </p:sp>
      <p:sp>
        <p:nvSpPr>
          <p:cNvPr id="31" name="TextBox 30"/>
          <p:cNvSpPr txBox="1"/>
          <p:nvPr/>
        </p:nvSpPr>
        <p:spPr>
          <a:xfrm>
            <a:off x="6766560" y="4937760"/>
            <a:ext cx="4846320" cy="731520"/>
          </a:xfrm>
          <a:prstGeom prst="rect">
            <a:avLst/>
          </a:prstGeom>
          <a:noFill/>
        </p:spPr>
        <p:txBody>
          <a:bodyPr wrap="square">
            <a:spAutoFit/>
          </a:bodyPr>
          <a:lstStyle/>
          <a:p>
            <a:pPr algn="l">
              <a:defRPr sz="1150" b="0">
                <a:solidFill>
                  <a:srgbClr val="323232"/>
                </a:solidFill>
                <a:latin typeface="Calibri"/>
              </a:defRPr>
            </a:pPr>
            <a:r>
              <a:rPr sz="1150" b="1">
                <a:solidFill>
                  <a:srgbClr val="B71C1C"/>
                </a:solidFill>
                <a:latin typeface="Calibri"/>
              </a:rPr>
              <a:t>▶ Massive stakeholder burden: </a:t>
            </a:r>
            <a:r>
              <a:rPr sz="1100">
                <a:solidFill>
                  <a:srgbClr val="323232"/>
                </a:solidFill>
                <a:latin typeface="Calibri"/>
              </a:rPr>
              <a:t>196-400 hours of senior leadership time consumed in workshops, interviews, and alignment sessions.</a:t>
            </a:r>
          </a:p>
        </p:txBody>
      </p:sp>
      <p:sp>
        <p:nvSpPr>
          <p:cNvPr id="32" name="Rectangle 31"/>
          <p:cNvSpPr/>
          <p:nvPr/>
        </p:nvSpPr>
        <p:spPr>
          <a:xfrm>
            <a:off x="548640" y="5760720"/>
            <a:ext cx="11064240" cy="64008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833872"/>
            <a:ext cx="10698480" cy="457200"/>
          </a:xfrm>
          <a:prstGeom prst="rect">
            <a:avLst/>
          </a:prstGeom>
          <a:noFill/>
        </p:spPr>
        <p:txBody>
          <a:bodyPr wrap="square">
            <a:spAutoFit/>
          </a:bodyPr>
          <a:lstStyle/>
          <a:p>
            <a:pPr algn="ctr">
              <a:defRPr sz="1400" b="1">
                <a:solidFill>
                  <a:srgbClr val="B71C1C"/>
                </a:solidFill>
                <a:latin typeface="Calibri"/>
              </a:defRPr>
            </a:pPr>
            <a:r>
              <a:t>Total:  5-10 months  |  $160K-540K consulting fees  |  196-400 hours stakeholder time  |  ~50-80 disconnected artifacts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48640"/>
          </a:xfrm>
          <a:prstGeom prst="rect">
            <a:avLst/>
          </a:prstGeom>
          <a:noFill/>
        </p:spPr>
        <p:txBody>
          <a:bodyPr wrap="square">
            <a:spAutoFit/>
          </a:bodyPr>
          <a:lstStyle/>
          <a:p>
            <a:pPr algn="l">
              <a:defRPr sz="2800" b="1">
                <a:solidFill>
                  <a:srgbClr val="002952"/>
                </a:solidFill>
                <a:latin typeface="Calibri"/>
              </a:defRPr>
            </a:pPr>
            <a:r>
              <a:t>The Solution: AI Multi-Agent Orchestration</a:t>
            </a:r>
          </a:p>
        </p:txBody>
      </p:sp>
      <p:sp>
        <p:nvSpPr>
          <p:cNvPr id="4" name="TextBox 3"/>
          <p:cNvSpPr txBox="1"/>
          <p:nvPr/>
        </p:nvSpPr>
        <p:spPr>
          <a:xfrm>
            <a:off x="548640" y="777240"/>
            <a:ext cx="10972800" cy="411480"/>
          </a:xfrm>
          <a:prstGeom prst="rect">
            <a:avLst/>
          </a:prstGeom>
          <a:noFill/>
        </p:spPr>
        <p:txBody>
          <a:bodyPr wrap="square">
            <a:spAutoFit/>
          </a:bodyPr>
          <a:lstStyle/>
          <a:p>
            <a:pPr algn="l">
              <a:defRPr sz="1300" b="0">
                <a:solidFill>
                  <a:srgbClr val="787878"/>
                </a:solidFill>
                <a:latin typeface="Calibri"/>
              </a:defRPr>
            </a:pPr>
            <a:r>
              <a:t>13 specialized AI agents working sequentially through a 7-step pipeline with human review gates</a:t>
            </a:r>
          </a:p>
        </p:txBody>
      </p:sp>
      <p:sp>
        <p:nvSpPr>
          <p:cNvPr id="5" name="TextBox 4"/>
          <p:cNvSpPr txBox="1"/>
          <p:nvPr/>
        </p:nvSpPr>
        <p:spPr>
          <a:xfrm>
            <a:off x="548640" y="1280160"/>
            <a:ext cx="10972800" cy="822960"/>
          </a:xfrm>
          <a:prstGeom prst="rect">
            <a:avLst/>
          </a:prstGeom>
          <a:noFill/>
        </p:spPr>
        <p:txBody>
          <a:bodyPr wrap="square">
            <a:spAutoFit/>
          </a:bodyPr>
          <a:lstStyle/>
          <a:p>
            <a:pPr algn="l">
              <a:defRPr sz="1300" b="0">
                <a:solidFill>
                  <a:srgbClr val="323232"/>
                </a:solidFill>
                <a:latin typeface="Calibri"/>
              </a:defRPr>
            </a:pPr>
            <a:r>
              <a:t>Each agent is purpose-built for its domain and receives the complete context of all upstream agents’ validated outputs. The SWOT agent doesn’t generate from general knowledge — it builds every entry from the specific financial gaps, process bottlenecks, and competitor benchmarks identified in Steps 1-2. Data lineage is preserved end-to-end.</a:t>
            </a:r>
          </a:p>
        </p:txBody>
      </p:sp>
      <p:sp>
        <p:nvSpPr>
          <p:cNvPr id="6" name="Rounded Rectangle 5"/>
          <p:cNvSpPr/>
          <p:nvPr/>
        </p:nvSpPr>
        <p:spPr>
          <a:xfrm>
            <a:off x="320040" y="2377440"/>
            <a:ext cx="1463040" cy="2194560"/>
          </a:xfrm>
          <a:prstGeom prst="roundRect">
            <a:avLst/>
          </a:prstGeom>
          <a:solidFill>
            <a:srgbClr val="F0F4F8"/>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468880"/>
            <a:ext cx="731520" cy="347472"/>
          </a:xfrm>
          <a:prstGeom prst="rect">
            <a:avLst/>
          </a:prstGeom>
          <a:solidFill>
            <a:srgbClr val="00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487168"/>
            <a:ext cx="731520" cy="320040"/>
          </a:xfrm>
          <a:prstGeom prst="rect">
            <a:avLst/>
          </a:prstGeom>
          <a:noFill/>
        </p:spPr>
        <p:txBody>
          <a:bodyPr wrap="square">
            <a:spAutoFit/>
          </a:bodyPr>
          <a:lstStyle/>
          <a:p>
            <a:pPr algn="ctr">
              <a:defRPr sz="1200" b="1">
                <a:solidFill>
                  <a:srgbClr val="FFFFFF"/>
                </a:solidFill>
                <a:latin typeface="Calibri"/>
              </a:defRPr>
            </a:pPr>
            <a:r>
              <a:t>Step 1</a:t>
            </a:r>
          </a:p>
        </p:txBody>
      </p:sp>
      <p:sp>
        <p:nvSpPr>
          <p:cNvPr id="9" name="TextBox 8"/>
          <p:cNvSpPr txBox="1"/>
          <p:nvPr/>
        </p:nvSpPr>
        <p:spPr>
          <a:xfrm>
            <a:off x="393192" y="2880360"/>
            <a:ext cx="1316736" cy="457200"/>
          </a:xfrm>
          <a:prstGeom prst="rect">
            <a:avLst/>
          </a:prstGeom>
          <a:noFill/>
        </p:spPr>
        <p:txBody>
          <a:bodyPr wrap="square">
            <a:spAutoFit/>
          </a:bodyPr>
          <a:lstStyle/>
          <a:p>
            <a:pPr algn="ctr">
              <a:defRPr sz="1050" b="1">
                <a:solidFill>
                  <a:srgbClr val="002952"/>
                </a:solidFill>
                <a:latin typeface="Calibri"/>
              </a:defRPr>
            </a:pPr>
            <a:r>
              <a:t>Financial</a:t>
            </a:r>
            <a:br/>
            <a:r>
              <a:t>Analysis</a:t>
            </a:r>
          </a:p>
        </p:txBody>
      </p:sp>
      <p:sp>
        <p:nvSpPr>
          <p:cNvPr id="10" name="TextBox 9"/>
          <p:cNvSpPr txBox="1"/>
          <p:nvPr/>
        </p:nvSpPr>
        <p:spPr>
          <a:xfrm>
            <a:off x="393192" y="3337560"/>
            <a:ext cx="1316736" cy="256032"/>
          </a:xfrm>
          <a:prstGeom prst="rect">
            <a:avLst/>
          </a:prstGeom>
          <a:noFill/>
        </p:spPr>
        <p:txBody>
          <a:bodyPr wrap="square">
            <a:spAutoFit/>
          </a:bodyPr>
          <a:lstStyle/>
          <a:p>
            <a:pPr algn="ctr">
              <a:defRPr sz="1000" b="1">
                <a:solidFill>
                  <a:srgbClr val="2E7D32"/>
                </a:solidFill>
                <a:latin typeface="Calibri"/>
              </a:defRPr>
            </a:pPr>
            <a:r>
              <a:t>30 sec</a:t>
            </a:r>
          </a:p>
        </p:txBody>
      </p:sp>
      <p:sp>
        <p:nvSpPr>
          <p:cNvPr id="11" name="TextBox 10"/>
          <p:cNvSpPr txBox="1"/>
          <p:nvPr/>
        </p:nvSpPr>
        <p:spPr>
          <a:xfrm>
            <a:off x="393192" y="3611880"/>
            <a:ext cx="1316736" cy="777240"/>
          </a:xfrm>
          <a:prstGeom prst="rect">
            <a:avLst/>
          </a:prstGeom>
          <a:noFill/>
        </p:spPr>
        <p:txBody>
          <a:bodyPr wrap="square">
            <a:spAutoFit/>
          </a:bodyPr>
          <a:lstStyle/>
          <a:p>
            <a:pPr algn="ctr">
              <a:defRPr sz="900" b="0">
                <a:solidFill>
                  <a:srgbClr val="787878"/>
                </a:solidFill>
                <a:latin typeface="Calibri"/>
              </a:defRPr>
            </a:pPr>
            <a:r>
              <a:t>20+ KPIs</a:t>
            </a:r>
            <a:br/>
            <a:r>
              <a:t>3 competitors</a:t>
            </a:r>
          </a:p>
        </p:txBody>
      </p:sp>
      <p:sp>
        <p:nvSpPr>
          <p:cNvPr id="12" name="TextBox 11"/>
          <p:cNvSpPr txBox="1"/>
          <p:nvPr/>
        </p:nvSpPr>
        <p:spPr>
          <a:xfrm>
            <a:off x="1801368" y="3108960"/>
            <a:ext cx="201168" cy="365760"/>
          </a:xfrm>
          <a:prstGeom prst="rect">
            <a:avLst/>
          </a:prstGeom>
          <a:noFill/>
        </p:spPr>
        <p:txBody>
          <a:bodyPr wrap="square">
            <a:spAutoFit/>
          </a:bodyPr>
          <a:lstStyle/>
          <a:p>
            <a:pPr algn="ctr">
              <a:defRPr sz="1300" b="1">
                <a:solidFill>
                  <a:srgbClr val="0066B2"/>
                </a:solidFill>
                <a:latin typeface="Calibri"/>
              </a:defRPr>
            </a:pPr>
            <a:r>
              <a:t>▶</a:t>
            </a:r>
          </a:p>
        </p:txBody>
      </p:sp>
      <p:sp>
        <p:nvSpPr>
          <p:cNvPr id="13" name="Rounded Rectangle 12"/>
          <p:cNvSpPr/>
          <p:nvPr/>
        </p:nvSpPr>
        <p:spPr>
          <a:xfrm>
            <a:off x="1984248" y="2377440"/>
            <a:ext cx="1463040" cy="2194560"/>
          </a:xfrm>
          <a:prstGeom prst="roundRect">
            <a:avLst/>
          </a:prstGeom>
          <a:solidFill>
            <a:srgbClr val="F0F4F8"/>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50008" y="2468880"/>
            <a:ext cx="731520" cy="347472"/>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50008" y="2487168"/>
            <a:ext cx="731520" cy="320040"/>
          </a:xfrm>
          <a:prstGeom prst="rect">
            <a:avLst/>
          </a:prstGeom>
          <a:noFill/>
        </p:spPr>
        <p:txBody>
          <a:bodyPr wrap="square">
            <a:spAutoFit/>
          </a:bodyPr>
          <a:lstStyle/>
          <a:p>
            <a:pPr algn="ctr">
              <a:defRPr sz="1200" b="1">
                <a:solidFill>
                  <a:srgbClr val="FFFFFF"/>
                </a:solidFill>
                <a:latin typeface="Calibri"/>
              </a:defRPr>
            </a:pPr>
            <a:r>
              <a:t>Step 2</a:t>
            </a:r>
          </a:p>
        </p:txBody>
      </p:sp>
      <p:sp>
        <p:nvSpPr>
          <p:cNvPr id="16" name="TextBox 15"/>
          <p:cNvSpPr txBox="1"/>
          <p:nvPr/>
        </p:nvSpPr>
        <p:spPr>
          <a:xfrm>
            <a:off x="2057400" y="2880360"/>
            <a:ext cx="1316736" cy="457200"/>
          </a:xfrm>
          <a:prstGeom prst="rect">
            <a:avLst/>
          </a:prstGeom>
          <a:noFill/>
        </p:spPr>
        <p:txBody>
          <a:bodyPr wrap="square">
            <a:spAutoFit/>
          </a:bodyPr>
          <a:lstStyle/>
          <a:p>
            <a:pPr algn="ctr">
              <a:defRPr sz="1050" b="1">
                <a:solidFill>
                  <a:srgbClr val="002952"/>
                </a:solidFill>
                <a:latin typeface="Calibri"/>
              </a:defRPr>
            </a:pPr>
            <a:r>
              <a:t>Value Stream</a:t>
            </a:r>
            <a:br/>
            <a:r>
              <a:t>Mapping</a:t>
            </a:r>
          </a:p>
        </p:txBody>
      </p:sp>
      <p:sp>
        <p:nvSpPr>
          <p:cNvPr id="17" name="TextBox 16"/>
          <p:cNvSpPr txBox="1"/>
          <p:nvPr/>
        </p:nvSpPr>
        <p:spPr>
          <a:xfrm>
            <a:off x="2057400" y="3337560"/>
            <a:ext cx="1316736" cy="256032"/>
          </a:xfrm>
          <a:prstGeom prst="rect">
            <a:avLst/>
          </a:prstGeom>
          <a:noFill/>
        </p:spPr>
        <p:txBody>
          <a:bodyPr wrap="square">
            <a:spAutoFit/>
          </a:bodyPr>
          <a:lstStyle/>
          <a:p>
            <a:pPr algn="ctr">
              <a:defRPr sz="1000" b="1">
                <a:solidFill>
                  <a:srgbClr val="2E7D32"/>
                </a:solidFill>
                <a:latin typeface="Calibri"/>
              </a:defRPr>
            </a:pPr>
            <a:r>
              <a:t>3 min</a:t>
            </a:r>
          </a:p>
        </p:txBody>
      </p:sp>
      <p:sp>
        <p:nvSpPr>
          <p:cNvPr id="18" name="TextBox 17"/>
          <p:cNvSpPr txBox="1"/>
          <p:nvPr/>
        </p:nvSpPr>
        <p:spPr>
          <a:xfrm>
            <a:off x="2057400" y="3611880"/>
            <a:ext cx="1316736" cy="777240"/>
          </a:xfrm>
          <a:prstGeom prst="rect">
            <a:avLst/>
          </a:prstGeom>
          <a:noFill/>
        </p:spPr>
        <p:txBody>
          <a:bodyPr wrap="square">
            <a:spAutoFit/>
          </a:bodyPr>
          <a:lstStyle/>
          <a:p>
            <a:pPr algn="ctr">
              <a:defRPr sz="900" b="0">
                <a:solidFill>
                  <a:srgbClr val="787878"/>
                </a:solidFill>
                <a:latin typeface="Calibri"/>
              </a:defRPr>
            </a:pPr>
            <a:r>
              <a:t>4 streams</a:t>
            </a:r>
            <a:br/>
            <a:r>
              <a:t>17 steps</a:t>
            </a:r>
          </a:p>
        </p:txBody>
      </p:sp>
      <p:sp>
        <p:nvSpPr>
          <p:cNvPr id="19" name="TextBox 18"/>
          <p:cNvSpPr txBox="1"/>
          <p:nvPr/>
        </p:nvSpPr>
        <p:spPr>
          <a:xfrm>
            <a:off x="3465576" y="3108960"/>
            <a:ext cx="201168" cy="365760"/>
          </a:xfrm>
          <a:prstGeom prst="rect">
            <a:avLst/>
          </a:prstGeom>
          <a:noFill/>
        </p:spPr>
        <p:txBody>
          <a:bodyPr wrap="square">
            <a:spAutoFit/>
          </a:bodyPr>
          <a:lstStyle/>
          <a:p>
            <a:pPr algn="ctr">
              <a:defRPr sz="1300" b="1">
                <a:solidFill>
                  <a:srgbClr val="0066B2"/>
                </a:solidFill>
                <a:latin typeface="Calibri"/>
              </a:defRPr>
            </a:pPr>
            <a:r>
              <a:t>▶</a:t>
            </a:r>
          </a:p>
        </p:txBody>
      </p:sp>
      <p:sp>
        <p:nvSpPr>
          <p:cNvPr id="20" name="Rounded Rectangle 19"/>
          <p:cNvSpPr/>
          <p:nvPr/>
        </p:nvSpPr>
        <p:spPr>
          <a:xfrm>
            <a:off x="3648456" y="2377440"/>
            <a:ext cx="1463040" cy="2194560"/>
          </a:xfrm>
          <a:prstGeom prst="roundRect">
            <a:avLst/>
          </a:prstGeom>
          <a:solidFill>
            <a:srgbClr val="F0F4F8"/>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014216" y="2468880"/>
            <a:ext cx="731520" cy="34747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14216" y="2487168"/>
            <a:ext cx="731520" cy="320040"/>
          </a:xfrm>
          <a:prstGeom prst="rect">
            <a:avLst/>
          </a:prstGeom>
          <a:noFill/>
        </p:spPr>
        <p:txBody>
          <a:bodyPr wrap="square">
            <a:spAutoFit/>
          </a:bodyPr>
          <a:lstStyle/>
          <a:p>
            <a:pPr algn="ctr">
              <a:defRPr sz="1200" b="1">
                <a:solidFill>
                  <a:srgbClr val="FFFFFF"/>
                </a:solidFill>
                <a:latin typeface="Calibri"/>
              </a:defRPr>
            </a:pPr>
            <a:r>
              <a:t>Step 3</a:t>
            </a:r>
          </a:p>
        </p:txBody>
      </p:sp>
      <p:sp>
        <p:nvSpPr>
          <p:cNvPr id="23" name="TextBox 22"/>
          <p:cNvSpPr txBox="1"/>
          <p:nvPr/>
        </p:nvSpPr>
        <p:spPr>
          <a:xfrm>
            <a:off x="3721608" y="2880360"/>
            <a:ext cx="1316736" cy="457200"/>
          </a:xfrm>
          <a:prstGeom prst="rect">
            <a:avLst/>
          </a:prstGeom>
          <a:noFill/>
        </p:spPr>
        <p:txBody>
          <a:bodyPr wrap="square">
            <a:spAutoFit/>
          </a:bodyPr>
          <a:lstStyle/>
          <a:p>
            <a:pPr algn="ctr">
              <a:defRPr sz="1050" b="1">
                <a:solidFill>
                  <a:srgbClr val="002952"/>
                </a:solidFill>
                <a:latin typeface="Calibri"/>
              </a:defRPr>
            </a:pPr>
            <a:r>
              <a:t>SWOT →</a:t>
            </a:r>
            <a:br/>
            <a:r>
              <a:t>TOWS</a:t>
            </a:r>
          </a:p>
        </p:txBody>
      </p:sp>
      <p:sp>
        <p:nvSpPr>
          <p:cNvPr id="24" name="TextBox 23"/>
          <p:cNvSpPr txBox="1"/>
          <p:nvPr/>
        </p:nvSpPr>
        <p:spPr>
          <a:xfrm>
            <a:off x="3721608" y="3337560"/>
            <a:ext cx="1316736" cy="256032"/>
          </a:xfrm>
          <a:prstGeom prst="rect">
            <a:avLst/>
          </a:prstGeom>
          <a:noFill/>
        </p:spPr>
        <p:txBody>
          <a:bodyPr wrap="square">
            <a:spAutoFit/>
          </a:bodyPr>
          <a:lstStyle/>
          <a:p>
            <a:pPr algn="ctr">
              <a:defRPr sz="1000" b="1">
                <a:solidFill>
                  <a:srgbClr val="2E7D32"/>
                </a:solidFill>
                <a:latin typeface="Calibri"/>
              </a:defRPr>
            </a:pPr>
            <a:r>
              <a:t>90 sec</a:t>
            </a:r>
          </a:p>
        </p:txBody>
      </p:sp>
      <p:sp>
        <p:nvSpPr>
          <p:cNvPr id="25" name="TextBox 24"/>
          <p:cNvSpPr txBox="1"/>
          <p:nvPr/>
        </p:nvSpPr>
        <p:spPr>
          <a:xfrm>
            <a:off x="3721608" y="3611880"/>
            <a:ext cx="1316736" cy="777240"/>
          </a:xfrm>
          <a:prstGeom prst="rect">
            <a:avLst/>
          </a:prstGeom>
          <a:noFill/>
        </p:spPr>
        <p:txBody>
          <a:bodyPr wrap="square">
            <a:spAutoFit/>
          </a:bodyPr>
          <a:lstStyle/>
          <a:p>
            <a:pPr algn="ctr">
              <a:defRPr sz="900" b="0">
                <a:solidFill>
                  <a:srgbClr val="787878"/>
                </a:solidFill>
                <a:latin typeface="Calibri"/>
              </a:defRPr>
            </a:pPr>
            <a:r>
              <a:t>16 entries</a:t>
            </a:r>
            <a:br/>
            <a:r>
              <a:t>6 actions</a:t>
            </a:r>
          </a:p>
        </p:txBody>
      </p:sp>
      <p:sp>
        <p:nvSpPr>
          <p:cNvPr id="26" name="TextBox 25"/>
          <p:cNvSpPr txBox="1"/>
          <p:nvPr/>
        </p:nvSpPr>
        <p:spPr>
          <a:xfrm>
            <a:off x="5129784" y="3108960"/>
            <a:ext cx="201168" cy="365760"/>
          </a:xfrm>
          <a:prstGeom prst="rect">
            <a:avLst/>
          </a:prstGeom>
          <a:noFill/>
        </p:spPr>
        <p:txBody>
          <a:bodyPr wrap="square">
            <a:spAutoFit/>
          </a:bodyPr>
          <a:lstStyle/>
          <a:p>
            <a:pPr algn="ctr">
              <a:defRPr sz="1300" b="1">
                <a:solidFill>
                  <a:srgbClr val="0066B2"/>
                </a:solidFill>
                <a:latin typeface="Calibri"/>
              </a:defRPr>
            </a:pPr>
            <a:r>
              <a:t>▶</a:t>
            </a:r>
          </a:p>
        </p:txBody>
      </p:sp>
      <p:sp>
        <p:nvSpPr>
          <p:cNvPr id="27" name="Rounded Rectangle 26"/>
          <p:cNvSpPr/>
          <p:nvPr/>
        </p:nvSpPr>
        <p:spPr>
          <a:xfrm>
            <a:off x="5312664" y="2377440"/>
            <a:ext cx="1463040" cy="2194560"/>
          </a:xfrm>
          <a:prstGeom prst="roundRect">
            <a:avLst/>
          </a:prstGeom>
          <a:solidFill>
            <a:srgbClr val="F0F4F8"/>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78424" y="2468880"/>
            <a:ext cx="731520" cy="347472"/>
          </a:xfrm>
          <a:prstGeom prst="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78424" y="2487168"/>
            <a:ext cx="731520" cy="320040"/>
          </a:xfrm>
          <a:prstGeom prst="rect">
            <a:avLst/>
          </a:prstGeom>
          <a:noFill/>
        </p:spPr>
        <p:txBody>
          <a:bodyPr wrap="square">
            <a:spAutoFit/>
          </a:bodyPr>
          <a:lstStyle/>
          <a:p>
            <a:pPr algn="ctr">
              <a:defRPr sz="1200" b="1">
                <a:solidFill>
                  <a:srgbClr val="FFFFFF"/>
                </a:solidFill>
                <a:latin typeface="Calibri"/>
              </a:defRPr>
            </a:pPr>
            <a:r>
              <a:t>Step 4</a:t>
            </a:r>
          </a:p>
        </p:txBody>
      </p:sp>
      <p:sp>
        <p:nvSpPr>
          <p:cNvPr id="30" name="TextBox 29"/>
          <p:cNvSpPr txBox="1"/>
          <p:nvPr/>
        </p:nvSpPr>
        <p:spPr>
          <a:xfrm>
            <a:off x="5385816" y="2880360"/>
            <a:ext cx="1316736" cy="457200"/>
          </a:xfrm>
          <a:prstGeom prst="rect">
            <a:avLst/>
          </a:prstGeom>
          <a:noFill/>
        </p:spPr>
        <p:txBody>
          <a:bodyPr wrap="square">
            <a:spAutoFit/>
          </a:bodyPr>
          <a:lstStyle/>
          <a:p>
            <a:pPr algn="ctr">
              <a:defRPr sz="1050" b="1">
                <a:solidFill>
                  <a:srgbClr val="002952"/>
                </a:solidFill>
                <a:latin typeface="Calibri"/>
              </a:defRPr>
            </a:pPr>
            <a:r>
              <a:t>Strategy</a:t>
            </a:r>
            <a:br/>
            <a:r>
              <a:t>&amp; OKRs</a:t>
            </a:r>
          </a:p>
        </p:txBody>
      </p:sp>
      <p:sp>
        <p:nvSpPr>
          <p:cNvPr id="31" name="TextBox 30"/>
          <p:cNvSpPr txBox="1"/>
          <p:nvPr/>
        </p:nvSpPr>
        <p:spPr>
          <a:xfrm>
            <a:off x="5385816" y="3337560"/>
            <a:ext cx="1316736" cy="256032"/>
          </a:xfrm>
          <a:prstGeom prst="rect">
            <a:avLst/>
          </a:prstGeom>
          <a:noFill/>
        </p:spPr>
        <p:txBody>
          <a:bodyPr wrap="square">
            <a:spAutoFit/>
          </a:bodyPr>
          <a:lstStyle/>
          <a:p>
            <a:pPr algn="ctr">
              <a:defRPr sz="1000" b="1">
                <a:solidFill>
                  <a:srgbClr val="2E7D32"/>
                </a:solidFill>
                <a:latin typeface="Calibri"/>
              </a:defRPr>
            </a:pPr>
            <a:r>
              <a:t>60 sec</a:t>
            </a:r>
          </a:p>
        </p:txBody>
      </p:sp>
      <p:sp>
        <p:nvSpPr>
          <p:cNvPr id="32" name="TextBox 31"/>
          <p:cNvSpPr txBox="1"/>
          <p:nvPr/>
        </p:nvSpPr>
        <p:spPr>
          <a:xfrm>
            <a:off x="5385816" y="3611880"/>
            <a:ext cx="1316736" cy="777240"/>
          </a:xfrm>
          <a:prstGeom prst="rect">
            <a:avLst/>
          </a:prstGeom>
          <a:noFill/>
        </p:spPr>
        <p:txBody>
          <a:bodyPr wrap="square">
            <a:spAutoFit/>
          </a:bodyPr>
          <a:lstStyle/>
          <a:p>
            <a:pPr algn="ctr">
              <a:defRPr sz="900" b="0">
                <a:solidFill>
                  <a:srgbClr val="787878"/>
                </a:solidFill>
                <a:latin typeface="Calibri"/>
              </a:defRPr>
            </a:pPr>
            <a:r>
              <a:t>6 strategies</a:t>
            </a:r>
            <a:br/>
            <a:r>
              <a:t>6 OKRs</a:t>
            </a:r>
          </a:p>
        </p:txBody>
      </p:sp>
      <p:sp>
        <p:nvSpPr>
          <p:cNvPr id="33" name="TextBox 32"/>
          <p:cNvSpPr txBox="1"/>
          <p:nvPr/>
        </p:nvSpPr>
        <p:spPr>
          <a:xfrm>
            <a:off x="6793992" y="3108960"/>
            <a:ext cx="201168" cy="365760"/>
          </a:xfrm>
          <a:prstGeom prst="rect">
            <a:avLst/>
          </a:prstGeom>
          <a:noFill/>
        </p:spPr>
        <p:txBody>
          <a:bodyPr wrap="square">
            <a:spAutoFit/>
          </a:bodyPr>
          <a:lstStyle/>
          <a:p>
            <a:pPr algn="ctr">
              <a:defRPr sz="1300" b="1">
                <a:solidFill>
                  <a:srgbClr val="0066B2"/>
                </a:solidFill>
                <a:latin typeface="Calibri"/>
              </a:defRPr>
            </a:pPr>
            <a:r>
              <a:t>▶</a:t>
            </a:r>
          </a:p>
        </p:txBody>
      </p:sp>
      <p:sp>
        <p:nvSpPr>
          <p:cNvPr id="34" name="Rounded Rectangle 33"/>
          <p:cNvSpPr/>
          <p:nvPr/>
        </p:nvSpPr>
        <p:spPr>
          <a:xfrm>
            <a:off x="6976872" y="2377440"/>
            <a:ext cx="1463040" cy="2194560"/>
          </a:xfrm>
          <a:prstGeom prst="roundRect">
            <a:avLst/>
          </a:prstGeom>
          <a:solidFill>
            <a:srgbClr val="F0F4F8"/>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342632" y="2468880"/>
            <a:ext cx="731520" cy="347472"/>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42632" y="2487168"/>
            <a:ext cx="731520" cy="320040"/>
          </a:xfrm>
          <a:prstGeom prst="rect">
            <a:avLst/>
          </a:prstGeom>
          <a:noFill/>
        </p:spPr>
        <p:txBody>
          <a:bodyPr wrap="square">
            <a:spAutoFit/>
          </a:bodyPr>
          <a:lstStyle/>
          <a:p>
            <a:pPr algn="ctr">
              <a:defRPr sz="1200" b="1">
                <a:solidFill>
                  <a:srgbClr val="FFFFFF"/>
                </a:solidFill>
                <a:latin typeface="Calibri"/>
              </a:defRPr>
            </a:pPr>
            <a:r>
              <a:t>Step 5</a:t>
            </a:r>
          </a:p>
        </p:txBody>
      </p:sp>
      <p:sp>
        <p:nvSpPr>
          <p:cNvPr id="37" name="TextBox 36"/>
          <p:cNvSpPr txBox="1"/>
          <p:nvPr/>
        </p:nvSpPr>
        <p:spPr>
          <a:xfrm>
            <a:off x="7050024" y="2880360"/>
            <a:ext cx="1316736" cy="457200"/>
          </a:xfrm>
          <a:prstGeom prst="rect">
            <a:avLst/>
          </a:prstGeom>
          <a:noFill/>
        </p:spPr>
        <p:txBody>
          <a:bodyPr wrap="square">
            <a:spAutoFit/>
          </a:bodyPr>
          <a:lstStyle/>
          <a:p>
            <a:pPr algn="ctr">
              <a:defRPr sz="1050" b="1">
                <a:solidFill>
                  <a:srgbClr val="002952"/>
                </a:solidFill>
                <a:latin typeface="Calibri"/>
              </a:defRPr>
            </a:pPr>
            <a:r>
              <a:t>Initiative</a:t>
            </a:r>
            <a:br/>
            <a:r>
              <a:t>Scoring</a:t>
            </a:r>
          </a:p>
        </p:txBody>
      </p:sp>
      <p:sp>
        <p:nvSpPr>
          <p:cNvPr id="38" name="TextBox 37"/>
          <p:cNvSpPr txBox="1"/>
          <p:nvPr/>
        </p:nvSpPr>
        <p:spPr>
          <a:xfrm>
            <a:off x="7050024" y="3337560"/>
            <a:ext cx="1316736" cy="256032"/>
          </a:xfrm>
          <a:prstGeom prst="rect">
            <a:avLst/>
          </a:prstGeom>
          <a:noFill/>
        </p:spPr>
        <p:txBody>
          <a:bodyPr wrap="square">
            <a:spAutoFit/>
          </a:bodyPr>
          <a:lstStyle/>
          <a:p>
            <a:pPr algn="ctr">
              <a:defRPr sz="1000" b="1">
                <a:solidFill>
                  <a:srgbClr val="2E7D32"/>
                </a:solidFill>
                <a:latin typeface="Calibri"/>
              </a:defRPr>
            </a:pPr>
            <a:r>
              <a:t>60 sec</a:t>
            </a:r>
          </a:p>
        </p:txBody>
      </p:sp>
      <p:sp>
        <p:nvSpPr>
          <p:cNvPr id="39" name="TextBox 38"/>
          <p:cNvSpPr txBox="1"/>
          <p:nvPr/>
        </p:nvSpPr>
        <p:spPr>
          <a:xfrm>
            <a:off x="7050024" y="3611880"/>
            <a:ext cx="1316736" cy="777240"/>
          </a:xfrm>
          <a:prstGeom prst="rect">
            <a:avLst/>
          </a:prstGeom>
          <a:noFill/>
        </p:spPr>
        <p:txBody>
          <a:bodyPr wrap="square">
            <a:spAutoFit/>
          </a:bodyPr>
          <a:lstStyle/>
          <a:p>
            <a:pPr algn="ctr">
              <a:defRPr sz="900" b="0">
                <a:solidFill>
                  <a:srgbClr val="787878"/>
                </a:solidFill>
                <a:latin typeface="Calibri"/>
              </a:defRPr>
            </a:pPr>
            <a:r>
              <a:t>8 initiatives</a:t>
            </a:r>
            <a:br/>
            <a:r>
              <a:t>RICE scored</a:t>
            </a:r>
          </a:p>
        </p:txBody>
      </p:sp>
      <p:sp>
        <p:nvSpPr>
          <p:cNvPr id="40" name="TextBox 39"/>
          <p:cNvSpPr txBox="1"/>
          <p:nvPr/>
        </p:nvSpPr>
        <p:spPr>
          <a:xfrm>
            <a:off x="8458200" y="3108960"/>
            <a:ext cx="201168" cy="365760"/>
          </a:xfrm>
          <a:prstGeom prst="rect">
            <a:avLst/>
          </a:prstGeom>
          <a:noFill/>
        </p:spPr>
        <p:txBody>
          <a:bodyPr wrap="square">
            <a:spAutoFit/>
          </a:bodyPr>
          <a:lstStyle/>
          <a:p>
            <a:pPr algn="ctr">
              <a:defRPr sz="1300" b="1">
                <a:solidFill>
                  <a:srgbClr val="0066B2"/>
                </a:solidFill>
                <a:latin typeface="Calibri"/>
              </a:defRPr>
            </a:pPr>
            <a:r>
              <a:t>▶</a:t>
            </a:r>
          </a:p>
        </p:txBody>
      </p:sp>
      <p:sp>
        <p:nvSpPr>
          <p:cNvPr id="41" name="Rounded Rectangle 40"/>
          <p:cNvSpPr/>
          <p:nvPr/>
        </p:nvSpPr>
        <p:spPr>
          <a:xfrm>
            <a:off x="8641080" y="2377440"/>
            <a:ext cx="1463040" cy="2194560"/>
          </a:xfrm>
          <a:prstGeom prst="roundRect">
            <a:avLst/>
          </a:prstGeom>
          <a:solidFill>
            <a:srgbClr val="F0F4F8"/>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006840" y="2468880"/>
            <a:ext cx="731520" cy="347472"/>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06840" y="2487168"/>
            <a:ext cx="731520" cy="320040"/>
          </a:xfrm>
          <a:prstGeom prst="rect">
            <a:avLst/>
          </a:prstGeom>
          <a:noFill/>
        </p:spPr>
        <p:txBody>
          <a:bodyPr wrap="square">
            <a:spAutoFit/>
          </a:bodyPr>
          <a:lstStyle/>
          <a:p>
            <a:pPr algn="ctr">
              <a:defRPr sz="1200" b="1">
                <a:solidFill>
                  <a:srgbClr val="FFFFFF"/>
                </a:solidFill>
                <a:latin typeface="Calibri"/>
              </a:defRPr>
            </a:pPr>
            <a:r>
              <a:t>Step 6</a:t>
            </a:r>
          </a:p>
        </p:txBody>
      </p:sp>
      <p:sp>
        <p:nvSpPr>
          <p:cNvPr id="44" name="TextBox 43"/>
          <p:cNvSpPr txBox="1"/>
          <p:nvPr/>
        </p:nvSpPr>
        <p:spPr>
          <a:xfrm>
            <a:off x="8714232" y="2880360"/>
            <a:ext cx="1316736" cy="457200"/>
          </a:xfrm>
          <a:prstGeom prst="rect">
            <a:avLst/>
          </a:prstGeom>
          <a:noFill/>
        </p:spPr>
        <p:txBody>
          <a:bodyPr wrap="square">
            <a:spAutoFit/>
          </a:bodyPr>
          <a:lstStyle/>
          <a:p>
            <a:pPr algn="ctr">
              <a:defRPr sz="1050" b="1">
                <a:solidFill>
                  <a:srgbClr val="002952"/>
                </a:solidFill>
                <a:latin typeface="Calibri"/>
              </a:defRPr>
            </a:pPr>
            <a:r>
              <a:t>Epics &amp;</a:t>
            </a:r>
            <a:br/>
            <a:r>
              <a:t>Teams</a:t>
            </a:r>
          </a:p>
        </p:txBody>
      </p:sp>
      <p:sp>
        <p:nvSpPr>
          <p:cNvPr id="45" name="TextBox 44"/>
          <p:cNvSpPr txBox="1"/>
          <p:nvPr/>
        </p:nvSpPr>
        <p:spPr>
          <a:xfrm>
            <a:off x="8714232" y="3337560"/>
            <a:ext cx="1316736" cy="256032"/>
          </a:xfrm>
          <a:prstGeom prst="rect">
            <a:avLst/>
          </a:prstGeom>
          <a:noFill/>
        </p:spPr>
        <p:txBody>
          <a:bodyPr wrap="square">
            <a:spAutoFit/>
          </a:bodyPr>
          <a:lstStyle/>
          <a:p>
            <a:pPr algn="ctr">
              <a:defRPr sz="1000" b="1">
                <a:solidFill>
                  <a:srgbClr val="2E7D32"/>
                </a:solidFill>
                <a:latin typeface="Calibri"/>
              </a:defRPr>
            </a:pPr>
            <a:r>
              <a:t>90 sec</a:t>
            </a:r>
          </a:p>
        </p:txBody>
      </p:sp>
      <p:sp>
        <p:nvSpPr>
          <p:cNvPr id="46" name="TextBox 45"/>
          <p:cNvSpPr txBox="1"/>
          <p:nvPr/>
        </p:nvSpPr>
        <p:spPr>
          <a:xfrm>
            <a:off x="8714232" y="3611880"/>
            <a:ext cx="1316736" cy="777240"/>
          </a:xfrm>
          <a:prstGeom prst="rect">
            <a:avLst/>
          </a:prstGeom>
          <a:noFill/>
        </p:spPr>
        <p:txBody>
          <a:bodyPr wrap="square">
            <a:spAutoFit/>
          </a:bodyPr>
          <a:lstStyle/>
          <a:p>
            <a:pPr algn="ctr">
              <a:defRPr sz="900" b="0">
                <a:solidFill>
                  <a:srgbClr val="787878"/>
                </a:solidFill>
                <a:latin typeface="Calibri"/>
              </a:defRPr>
            </a:pPr>
            <a:r>
              <a:t>6 teams</a:t>
            </a:r>
            <a:br/>
            <a:r>
              <a:t>8 epics</a:t>
            </a:r>
          </a:p>
        </p:txBody>
      </p:sp>
      <p:sp>
        <p:nvSpPr>
          <p:cNvPr id="47" name="TextBox 46"/>
          <p:cNvSpPr txBox="1"/>
          <p:nvPr/>
        </p:nvSpPr>
        <p:spPr>
          <a:xfrm>
            <a:off x="10122408" y="3108960"/>
            <a:ext cx="201168" cy="365760"/>
          </a:xfrm>
          <a:prstGeom prst="rect">
            <a:avLst/>
          </a:prstGeom>
          <a:noFill/>
        </p:spPr>
        <p:txBody>
          <a:bodyPr wrap="square">
            <a:spAutoFit/>
          </a:bodyPr>
          <a:lstStyle/>
          <a:p>
            <a:pPr algn="ctr">
              <a:defRPr sz="1300" b="1">
                <a:solidFill>
                  <a:srgbClr val="0066B2"/>
                </a:solidFill>
                <a:latin typeface="Calibri"/>
              </a:defRPr>
            </a:pPr>
            <a:r>
              <a:t>▶</a:t>
            </a:r>
          </a:p>
        </p:txBody>
      </p:sp>
      <p:sp>
        <p:nvSpPr>
          <p:cNvPr id="48" name="Rounded Rectangle 47"/>
          <p:cNvSpPr/>
          <p:nvPr/>
        </p:nvSpPr>
        <p:spPr>
          <a:xfrm>
            <a:off x="10305288" y="2377440"/>
            <a:ext cx="1463040" cy="2194560"/>
          </a:xfrm>
          <a:prstGeom prst="roundRect">
            <a:avLst/>
          </a:prstGeom>
          <a:solidFill>
            <a:srgbClr val="F0F4F8"/>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671048" y="2468880"/>
            <a:ext cx="731520" cy="34747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671048" y="2487168"/>
            <a:ext cx="731520" cy="320040"/>
          </a:xfrm>
          <a:prstGeom prst="rect">
            <a:avLst/>
          </a:prstGeom>
          <a:noFill/>
        </p:spPr>
        <p:txBody>
          <a:bodyPr wrap="square">
            <a:spAutoFit/>
          </a:bodyPr>
          <a:lstStyle/>
          <a:p>
            <a:pPr algn="ctr">
              <a:defRPr sz="1200" b="1">
                <a:solidFill>
                  <a:srgbClr val="FFFFFF"/>
                </a:solidFill>
                <a:latin typeface="Calibri"/>
              </a:defRPr>
            </a:pPr>
            <a:r>
              <a:t>Step 7</a:t>
            </a:r>
          </a:p>
        </p:txBody>
      </p:sp>
      <p:sp>
        <p:nvSpPr>
          <p:cNvPr id="51" name="TextBox 50"/>
          <p:cNvSpPr txBox="1"/>
          <p:nvPr/>
        </p:nvSpPr>
        <p:spPr>
          <a:xfrm>
            <a:off x="10378440" y="2880360"/>
            <a:ext cx="1316736" cy="457200"/>
          </a:xfrm>
          <a:prstGeom prst="rect">
            <a:avLst/>
          </a:prstGeom>
          <a:noFill/>
        </p:spPr>
        <p:txBody>
          <a:bodyPr wrap="square">
            <a:spAutoFit/>
          </a:bodyPr>
          <a:lstStyle/>
          <a:p>
            <a:pPr algn="ctr">
              <a:defRPr sz="1050" b="1">
                <a:solidFill>
                  <a:srgbClr val="002952"/>
                </a:solidFill>
                <a:latin typeface="Calibri"/>
              </a:defRPr>
            </a:pPr>
            <a:r>
              <a:t>Feature</a:t>
            </a:r>
            <a:br/>
            <a:r>
              <a:t>Backlog</a:t>
            </a:r>
          </a:p>
        </p:txBody>
      </p:sp>
      <p:sp>
        <p:nvSpPr>
          <p:cNvPr id="52" name="TextBox 51"/>
          <p:cNvSpPr txBox="1"/>
          <p:nvPr/>
        </p:nvSpPr>
        <p:spPr>
          <a:xfrm>
            <a:off x="10378440" y="3337560"/>
            <a:ext cx="1316736" cy="256032"/>
          </a:xfrm>
          <a:prstGeom prst="rect">
            <a:avLst/>
          </a:prstGeom>
          <a:noFill/>
        </p:spPr>
        <p:txBody>
          <a:bodyPr wrap="square">
            <a:spAutoFit/>
          </a:bodyPr>
          <a:lstStyle/>
          <a:p>
            <a:pPr algn="ctr">
              <a:defRPr sz="1000" b="1">
                <a:solidFill>
                  <a:srgbClr val="2E7D32"/>
                </a:solidFill>
                <a:latin typeface="Calibri"/>
              </a:defRPr>
            </a:pPr>
            <a:r>
              <a:t>45 sec</a:t>
            </a:r>
          </a:p>
        </p:txBody>
      </p:sp>
      <p:sp>
        <p:nvSpPr>
          <p:cNvPr id="53" name="TextBox 52"/>
          <p:cNvSpPr txBox="1"/>
          <p:nvPr/>
        </p:nvSpPr>
        <p:spPr>
          <a:xfrm>
            <a:off x="10378440" y="3611880"/>
            <a:ext cx="1316736" cy="777240"/>
          </a:xfrm>
          <a:prstGeom prst="rect">
            <a:avLst/>
          </a:prstGeom>
          <a:noFill/>
        </p:spPr>
        <p:txBody>
          <a:bodyPr wrap="square">
            <a:spAutoFit/>
          </a:bodyPr>
          <a:lstStyle/>
          <a:p>
            <a:pPr algn="ctr">
              <a:defRPr sz="900" b="0">
                <a:solidFill>
                  <a:srgbClr val="787878"/>
                </a:solidFill>
                <a:latin typeface="Calibri"/>
              </a:defRPr>
            </a:pPr>
            <a:r>
              <a:t>15 features</a:t>
            </a:r>
            <a:br/>
            <a:r>
              <a:t>4 delivery OKRs</a:t>
            </a:r>
          </a:p>
        </p:txBody>
      </p:sp>
      <p:sp>
        <p:nvSpPr>
          <p:cNvPr id="54" name="Rectangle 53"/>
          <p:cNvSpPr/>
          <p:nvPr/>
        </p:nvSpPr>
        <p:spPr>
          <a:xfrm>
            <a:off x="320040" y="4754880"/>
            <a:ext cx="11521440" cy="384048"/>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0040" y="4773168"/>
            <a:ext cx="11521440" cy="365760"/>
          </a:xfrm>
          <a:prstGeom prst="rect">
            <a:avLst/>
          </a:prstGeom>
          <a:noFill/>
        </p:spPr>
        <p:txBody>
          <a:bodyPr wrap="square">
            <a:spAutoFit/>
          </a:bodyPr>
          <a:lstStyle/>
          <a:p>
            <a:pPr algn="ctr">
              <a:defRPr sz="1200" b="1">
                <a:solidFill>
                  <a:srgbClr val="2E7D32"/>
                </a:solidFill>
                <a:latin typeface="Calibri"/>
              </a:defRPr>
            </a:pPr>
            <a:r>
              <a:t>✓ Human Review Gate after every step  |  AI accelerates, humans validate  |  Full audit trail for regulators</a:t>
            </a:r>
          </a:p>
        </p:txBody>
      </p:sp>
      <p:sp>
        <p:nvSpPr>
          <p:cNvPr id="56" name="TextBox 55"/>
          <p:cNvSpPr txBox="1"/>
          <p:nvPr/>
        </p:nvSpPr>
        <p:spPr>
          <a:xfrm>
            <a:off x="640080" y="5394960"/>
            <a:ext cx="10972800" cy="365760"/>
          </a:xfrm>
          <a:prstGeom prst="rect">
            <a:avLst/>
          </a:prstGeom>
          <a:noFill/>
        </p:spPr>
        <p:txBody>
          <a:bodyPr wrap="square">
            <a:spAutoFit/>
          </a:bodyPr>
          <a:lstStyle/>
          <a:p>
            <a:pPr algn="l">
              <a:defRPr sz="1200" b="0">
                <a:solidFill>
                  <a:srgbClr val="323232"/>
                </a:solidFill>
                <a:latin typeface="Calibri"/>
              </a:defRPr>
            </a:pPr>
            <a:r>
              <a:rPr sz="1200">
                <a:solidFill>
                  <a:srgbClr val="2E7D32"/>
                </a:solidFill>
                <a:latin typeface="Calibri"/>
              </a:rPr>
              <a:t>▸  </a:t>
            </a:r>
            <a:r>
              <a:rPr sz="1200" b="1">
                <a:solidFill>
                  <a:srgbClr val="323232"/>
                </a:solidFill>
                <a:latin typeface="Calibri"/>
              </a:rPr>
              <a:t>Data Lineage: </a:t>
            </a:r>
            <a:r>
              <a:rPr sz="1200">
                <a:solidFill>
                  <a:srgbClr val="323232"/>
                </a:solidFill>
                <a:latin typeface="Calibri"/>
              </a:rPr>
              <a:t>Every output cites its data source — financial metric, process bottleneck, competitor benchmark</a:t>
            </a:r>
          </a:p>
        </p:txBody>
      </p:sp>
      <p:sp>
        <p:nvSpPr>
          <p:cNvPr id="57" name="TextBox 56"/>
          <p:cNvSpPr txBox="1"/>
          <p:nvPr/>
        </p:nvSpPr>
        <p:spPr>
          <a:xfrm>
            <a:off x="640080" y="5779008"/>
            <a:ext cx="10972800" cy="365760"/>
          </a:xfrm>
          <a:prstGeom prst="rect">
            <a:avLst/>
          </a:prstGeom>
          <a:noFill/>
        </p:spPr>
        <p:txBody>
          <a:bodyPr wrap="square">
            <a:spAutoFit/>
          </a:bodyPr>
          <a:lstStyle/>
          <a:p>
            <a:pPr algn="l">
              <a:defRPr sz="1200" b="0">
                <a:solidFill>
                  <a:srgbClr val="323232"/>
                </a:solidFill>
                <a:latin typeface="Calibri"/>
              </a:defRPr>
            </a:pPr>
            <a:r>
              <a:rPr sz="1200">
                <a:solidFill>
                  <a:srgbClr val="2E7D32"/>
                </a:solidFill>
                <a:latin typeface="Calibri"/>
              </a:rPr>
              <a:t>▸  </a:t>
            </a:r>
            <a:r>
              <a:rPr sz="1200" b="1">
                <a:solidFill>
                  <a:srgbClr val="323232"/>
                </a:solidFill>
                <a:latin typeface="Calibri"/>
              </a:rPr>
              <a:t>Fallback Resilience: </a:t>
            </a:r>
            <a:r>
              <a:rPr sz="1200">
                <a:solidFill>
                  <a:srgbClr val="323232"/>
                </a:solidFill>
                <a:latin typeface="Calibri"/>
              </a:rPr>
              <a:t>Live API → AI Analysis → Template Default. Pipeline always completes.</a:t>
            </a:r>
          </a:p>
        </p:txBody>
      </p:sp>
      <p:sp>
        <p:nvSpPr>
          <p:cNvPr id="58" name="TextBox 57"/>
          <p:cNvSpPr txBox="1"/>
          <p:nvPr/>
        </p:nvSpPr>
        <p:spPr>
          <a:xfrm>
            <a:off x="640080" y="6163056"/>
            <a:ext cx="10972800" cy="365760"/>
          </a:xfrm>
          <a:prstGeom prst="rect">
            <a:avLst/>
          </a:prstGeom>
          <a:noFill/>
        </p:spPr>
        <p:txBody>
          <a:bodyPr wrap="square">
            <a:spAutoFit/>
          </a:bodyPr>
          <a:lstStyle/>
          <a:p>
            <a:pPr algn="l">
              <a:defRPr sz="1200" b="0">
                <a:solidFill>
                  <a:srgbClr val="323232"/>
                </a:solidFill>
                <a:latin typeface="Calibri"/>
              </a:defRPr>
            </a:pPr>
            <a:r>
              <a:rPr sz="1200">
                <a:solidFill>
                  <a:srgbClr val="2E7D32"/>
                </a:solidFill>
                <a:latin typeface="Calibri"/>
              </a:rPr>
              <a:t>▸  </a:t>
            </a:r>
            <a:r>
              <a:rPr sz="1200" b="1">
                <a:solidFill>
                  <a:srgbClr val="323232"/>
                </a:solidFill>
                <a:latin typeface="Calibri"/>
              </a:rPr>
              <a:t>RAG Knowledge Base: </a:t>
            </a:r>
            <a:r>
              <a:rPr sz="1200">
                <a:solidFill>
                  <a:srgbClr val="323232"/>
                </a:solidFill>
                <a:latin typeface="Calibri"/>
              </a:rPr>
              <a:t>Every agent queries uploaded org docs, industry reports, and regulatory guidance</a:t>
            </a:r>
          </a:p>
        </p:txBody>
      </p:sp>
      <p:sp>
        <p:nvSpPr>
          <p:cNvPr id="59" name="TextBox 58"/>
          <p:cNvSpPr txBox="1"/>
          <p:nvPr/>
        </p:nvSpPr>
        <p:spPr>
          <a:xfrm>
            <a:off x="640080" y="6547104"/>
            <a:ext cx="10972800" cy="365760"/>
          </a:xfrm>
          <a:prstGeom prst="rect">
            <a:avLst/>
          </a:prstGeom>
          <a:noFill/>
        </p:spPr>
        <p:txBody>
          <a:bodyPr wrap="square">
            <a:spAutoFit/>
          </a:bodyPr>
          <a:lstStyle/>
          <a:p>
            <a:pPr algn="l">
              <a:defRPr sz="1200" b="0">
                <a:solidFill>
                  <a:srgbClr val="323232"/>
                </a:solidFill>
                <a:latin typeface="Calibri"/>
              </a:defRPr>
            </a:pPr>
            <a:r>
              <a:rPr sz="1200">
                <a:solidFill>
                  <a:srgbClr val="2E7D32"/>
                </a:solidFill>
                <a:latin typeface="Calibri"/>
              </a:rPr>
              <a:t>▸  </a:t>
            </a:r>
            <a:r>
              <a:rPr sz="1200" b="1">
                <a:solidFill>
                  <a:srgbClr val="323232"/>
                </a:solidFill>
                <a:latin typeface="Calibri"/>
              </a:rPr>
              <a:t>Human-in-the-Loop: </a:t>
            </a:r>
            <a:r>
              <a:rPr sz="1200">
                <a:solidFill>
                  <a:srgbClr val="323232"/>
                </a:solidFill>
                <a:latin typeface="Calibri"/>
              </a:rPr>
              <a:t>7 review gates. Leaders approve/reject before outputs flow downstream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48640"/>
          </a:xfrm>
          <a:prstGeom prst="rect">
            <a:avLst/>
          </a:prstGeom>
          <a:noFill/>
        </p:spPr>
        <p:txBody>
          <a:bodyPr wrap="square">
            <a:spAutoFit/>
          </a:bodyPr>
          <a:lstStyle/>
          <a:p>
            <a:pPr algn="l">
              <a:defRPr sz="2800" b="1">
                <a:solidFill>
                  <a:srgbClr val="002952"/>
                </a:solidFill>
                <a:latin typeface="Calibri"/>
              </a:defRPr>
            </a:pPr>
            <a:r>
              <a:t>Case Study: US Bancorp — Step 1: Financial Analysis</a:t>
            </a:r>
          </a:p>
        </p:txBody>
      </p:sp>
      <p:sp>
        <p:nvSpPr>
          <p:cNvPr id="4" name="TextBox 3"/>
          <p:cNvSpPr txBox="1"/>
          <p:nvPr/>
        </p:nvSpPr>
        <p:spPr>
          <a:xfrm>
            <a:off x="548640" y="777240"/>
            <a:ext cx="10972800" cy="411480"/>
          </a:xfrm>
          <a:prstGeom prst="rect">
            <a:avLst/>
          </a:prstGeom>
          <a:noFill/>
        </p:spPr>
        <p:txBody>
          <a:bodyPr wrap="square">
            <a:spAutoFit/>
          </a:bodyPr>
          <a:lstStyle/>
          <a:p>
            <a:pPr algn="l">
              <a:defRPr sz="1300" b="0">
                <a:solidFill>
                  <a:srgbClr val="787878"/>
                </a:solidFill>
                <a:latin typeface="Calibri"/>
              </a:defRPr>
            </a:pPr>
            <a:r>
              <a:t>Auto-ingested from Finnhub + Alpha Vantage APIs in 30 seconds. No analyst input required.</a:t>
            </a:r>
          </a:p>
        </p:txBody>
      </p:sp>
      <p:sp>
        <p:nvSpPr>
          <p:cNvPr id="5" name="TextBox 4"/>
          <p:cNvSpPr txBox="1"/>
          <p:nvPr/>
        </p:nvSpPr>
        <p:spPr>
          <a:xfrm>
            <a:off x="548640" y="1280160"/>
            <a:ext cx="10972800" cy="640080"/>
          </a:xfrm>
          <a:prstGeom prst="rect">
            <a:avLst/>
          </a:prstGeom>
          <a:noFill/>
        </p:spPr>
        <p:txBody>
          <a:bodyPr wrap="square">
            <a:spAutoFit/>
          </a:bodyPr>
          <a:lstStyle/>
          <a:p>
            <a:pPr algn="l">
              <a:defRPr sz="1300" b="0">
                <a:solidFill>
                  <a:srgbClr val="323232"/>
                </a:solidFill>
                <a:latin typeface="Calibri"/>
              </a:defRPr>
            </a:pPr>
            <a:r>
              <a:t>From a single input ("US Bancorp, Banking &amp; Financial Services"), the platform extracted 20+ KPIs, decomposed revenue across 4 business lines and 5 regions, and benchmarked against 3 competitors. The AI immediately surfaced the efficiency ratio gap and payment leadership position — insights that take 2-4 weeks of manual analyst research.</a:t>
            </a:r>
          </a:p>
        </p:txBody>
      </p:sp>
      <p:sp>
        <p:nvSpPr>
          <p:cNvPr id="6" name="TextBox 5"/>
          <p:cNvSpPr txBox="1"/>
          <p:nvPr/>
        </p:nvSpPr>
        <p:spPr>
          <a:xfrm>
            <a:off x="548640" y="2103120"/>
            <a:ext cx="5029200" cy="365760"/>
          </a:xfrm>
          <a:prstGeom prst="rect">
            <a:avLst/>
          </a:prstGeom>
          <a:noFill/>
        </p:spPr>
        <p:txBody>
          <a:bodyPr wrap="square">
            <a:spAutoFit/>
          </a:bodyPr>
          <a:lstStyle/>
          <a:p>
            <a:pPr algn="l">
              <a:defRPr sz="1400" b="1">
                <a:solidFill>
                  <a:srgbClr val="002952"/>
                </a:solidFill>
                <a:latin typeface="Calibri"/>
              </a:defRPr>
            </a:pPr>
            <a:r>
              <a:t>US Bancorp Key Metrics (TTM)</a:t>
            </a:r>
          </a:p>
        </p:txBody>
      </p:sp>
      <p:sp>
        <p:nvSpPr>
          <p:cNvPr id="7" name="TextBox 6"/>
          <p:cNvSpPr txBox="1"/>
          <p:nvPr/>
        </p:nvSpPr>
        <p:spPr>
          <a:xfrm>
            <a:off x="731520" y="2560320"/>
            <a:ext cx="2377440" cy="292608"/>
          </a:xfrm>
          <a:prstGeom prst="rect">
            <a:avLst/>
          </a:prstGeom>
          <a:noFill/>
        </p:spPr>
        <p:txBody>
          <a:bodyPr wrap="square">
            <a:spAutoFit/>
          </a:bodyPr>
          <a:lstStyle/>
          <a:p>
            <a:pPr algn="l">
              <a:defRPr sz="1100" b="0">
                <a:solidFill>
                  <a:srgbClr val="323232"/>
                </a:solidFill>
                <a:latin typeface="Calibri"/>
              </a:defRPr>
            </a:pPr>
            <a:r>
              <a:rPr sz="1100">
                <a:solidFill>
                  <a:srgbClr val="787878"/>
                </a:solidFill>
                <a:latin typeface="Calibri"/>
              </a:rPr>
              <a:t>Market Cap: </a:t>
            </a:r>
            <a:r>
              <a:rPr sz="1100" b="1">
                <a:solidFill>
                  <a:srgbClr val="002952"/>
                </a:solidFill>
                <a:latin typeface="Calibri"/>
              </a:rPr>
              <a:t>$87B</a:t>
            </a:r>
          </a:p>
        </p:txBody>
      </p:sp>
      <p:sp>
        <p:nvSpPr>
          <p:cNvPr id="8" name="TextBox 7"/>
          <p:cNvSpPr txBox="1"/>
          <p:nvPr/>
        </p:nvSpPr>
        <p:spPr>
          <a:xfrm>
            <a:off x="731520" y="2889504"/>
            <a:ext cx="2377440" cy="292608"/>
          </a:xfrm>
          <a:prstGeom prst="rect">
            <a:avLst/>
          </a:prstGeom>
          <a:noFill/>
        </p:spPr>
        <p:txBody>
          <a:bodyPr wrap="square">
            <a:spAutoFit/>
          </a:bodyPr>
          <a:lstStyle/>
          <a:p>
            <a:pPr algn="l">
              <a:defRPr sz="1100" b="0">
                <a:solidFill>
                  <a:srgbClr val="323232"/>
                </a:solidFill>
                <a:latin typeface="Calibri"/>
              </a:defRPr>
            </a:pPr>
            <a:r>
              <a:rPr sz="1100">
                <a:solidFill>
                  <a:srgbClr val="787878"/>
                </a:solidFill>
                <a:latin typeface="Calibri"/>
              </a:rPr>
              <a:t>Revenue: </a:t>
            </a:r>
            <a:r>
              <a:rPr sz="1100" b="1">
                <a:solidFill>
                  <a:srgbClr val="002952"/>
                </a:solidFill>
                <a:latin typeface="Calibri"/>
              </a:rPr>
              <a:t>$25.2B</a:t>
            </a:r>
          </a:p>
        </p:txBody>
      </p:sp>
      <p:sp>
        <p:nvSpPr>
          <p:cNvPr id="9" name="TextBox 8"/>
          <p:cNvSpPr txBox="1"/>
          <p:nvPr/>
        </p:nvSpPr>
        <p:spPr>
          <a:xfrm>
            <a:off x="731520" y="3218688"/>
            <a:ext cx="2377440" cy="292608"/>
          </a:xfrm>
          <a:prstGeom prst="rect">
            <a:avLst/>
          </a:prstGeom>
          <a:noFill/>
        </p:spPr>
        <p:txBody>
          <a:bodyPr wrap="square">
            <a:spAutoFit/>
          </a:bodyPr>
          <a:lstStyle/>
          <a:p>
            <a:pPr algn="l">
              <a:defRPr sz="1100" b="0">
                <a:solidFill>
                  <a:srgbClr val="323232"/>
                </a:solidFill>
                <a:latin typeface="Calibri"/>
              </a:defRPr>
            </a:pPr>
            <a:r>
              <a:rPr sz="1100">
                <a:solidFill>
                  <a:srgbClr val="787878"/>
                </a:solidFill>
                <a:latin typeface="Calibri"/>
              </a:rPr>
              <a:t>Net Profit Margin: </a:t>
            </a:r>
            <a:r>
              <a:rPr sz="1100" b="1">
                <a:solidFill>
                  <a:srgbClr val="002952"/>
                </a:solidFill>
                <a:latin typeface="Calibri"/>
              </a:rPr>
              <a:t>24.14%</a:t>
            </a:r>
          </a:p>
        </p:txBody>
      </p:sp>
      <p:sp>
        <p:nvSpPr>
          <p:cNvPr id="10" name="TextBox 9"/>
          <p:cNvSpPr txBox="1"/>
          <p:nvPr/>
        </p:nvSpPr>
        <p:spPr>
          <a:xfrm>
            <a:off x="731520" y="3547872"/>
            <a:ext cx="2377440" cy="292608"/>
          </a:xfrm>
          <a:prstGeom prst="rect">
            <a:avLst/>
          </a:prstGeom>
          <a:noFill/>
        </p:spPr>
        <p:txBody>
          <a:bodyPr wrap="square">
            <a:spAutoFit/>
          </a:bodyPr>
          <a:lstStyle/>
          <a:p>
            <a:pPr algn="l">
              <a:defRPr sz="1100" b="0">
                <a:solidFill>
                  <a:srgbClr val="323232"/>
                </a:solidFill>
                <a:latin typeface="Calibri"/>
              </a:defRPr>
            </a:pPr>
            <a:r>
              <a:rPr sz="1100">
                <a:solidFill>
                  <a:srgbClr val="787878"/>
                </a:solidFill>
                <a:latin typeface="Calibri"/>
              </a:rPr>
              <a:t>Operating Margin: </a:t>
            </a:r>
            <a:r>
              <a:rPr sz="1100" b="1">
                <a:solidFill>
                  <a:srgbClr val="002952"/>
                </a:solidFill>
                <a:latin typeface="Calibri"/>
              </a:rPr>
              <a:t>30.19%</a:t>
            </a:r>
          </a:p>
        </p:txBody>
      </p:sp>
      <p:sp>
        <p:nvSpPr>
          <p:cNvPr id="11" name="TextBox 10"/>
          <p:cNvSpPr txBox="1"/>
          <p:nvPr/>
        </p:nvSpPr>
        <p:spPr>
          <a:xfrm>
            <a:off x="731520" y="3877056"/>
            <a:ext cx="2377440" cy="292608"/>
          </a:xfrm>
          <a:prstGeom prst="rect">
            <a:avLst/>
          </a:prstGeom>
          <a:noFill/>
        </p:spPr>
        <p:txBody>
          <a:bodyPr wrap="square">
            <a:spAutoFit/>
          </a:bodyPr>
          <a:lstStyle/>
          <a:p>
            <a:pPr algn="l">
              <a:defRPr sz="1100" b="0">
                <a:solidFill>
                  <a:srgbClr val="323232"/>
                </a:solidFill>
                <a:latin typeface="Calibri"/>
              </a:defRPr>
            </a:pPr>
            <a:r>
              <a:rPr sz="1100">
                <a:solidFill>
                  <a:srgbClr val="787878"/>
                </a:solidFill>
                <a:latin typeface="Calibri"/>
              </a:rPr>
              <a:t>ROE: </a:t>
            </a:r>
            <a:r>
              <a:rPr sz="1100" b="1">
                <a:solidFill>
                  <a:srgbClr val="002952"/>
                </a:solidFill>
                <a:latin typeface="Calibri"/>
              </a:rPr>
              <a:t>11.61%</a:t>
            </a:r>
          </a:p>
        </p:txBody>
      </p:sp>
      <p:sp>
        <p:nvSpPr>
          <p:cNvPr id="12" name="TextBox 11"/>
          <p:cNvSpPr txBox="1"/>
          <p:nvPr/>
        </p:nvSpPr>
        <p:spPr>
          <a:xfrm>
            <a:off x="3291840" y="2560320"/>
            <a:ext cx="2377440" cy="292608"/>
          </a:xfrm>
          <a:prstGeom prst="rect">
            <a:avLst/>
          </a:prstGeom>
          <a:noFill/>
        </p:spPr>
        <p:txBody>
          <a:bodyPr wrap="square">
            <a:spAutoFit/>
          </a:bodyPr>
          <a:lstStyle/>
          <a:p>
            <a:pPr algn="l">
              <a:defRPr sz="1100" b="0">
                <a:solidFill>
                  <a:srgbClr val="323232"/>
                </a:solidFill>
                <a:latin typeface="Calibri"/>
              </a:defRPr>
            </a:pPr>
            <a:r>
              <a:rPr sz="1100">
                <a:solidFill>
                  <a:srgbClr val="787878"/>
                </a:solidFill>
                <a:latin typeface="Calibri"/>
              </a:rPr>
              <a:t>ROA: </a:t>
            </a:r>
            <a:r>
              <a:rPr sz="1100" b="1">
                <a:solidFill>
                  <a:srgbClr val="002952"/>
                </a:solidFill>
                <a:latin typeface="Calibri"/>
              </a:rPr>
              <a:t>1.10%</a:t>
            </a:r>
          </a:p>
        </p:txBody>
      </p:sp>
      <p:sp>
        <p:nvSpPr>
          <p:cNvPr id="13" name="TextBox 12"/>
          <p:cNvSpPr txBox="1"/>
          <p:nvPr/>
        </p:nvSpPr>
        <p:spPr>
          <a:xfrm>
            <a:off x="3291840" y="2889504"/>
            <a:ext cx="2377440" cy="292608"/>
          </a:xfrm>
          <a:prstGeom prst="rect">
            <a:avLst/>
          </a:prstGeom>
          <a:noFill/>
        </p:spPr>
        <p:txBody>
          <a:bodyPr wrap="square">
            <a:spAutoFit/>
          </a:bodyPr>
          <a:lstStyle/>
          <a:p>
            <a:pPr algn="l">
              <a:defRPr sz="1100" b="0">
                <a:solidFill>
                  <a:srgbClr val="323232"/>
                </a:solidFill>
                <a:latin typeface="Calibri"/>
              </a:defRPr>
            </a:pPr>
            <a:r>
              <a:rPr sz="1100">
                <a:solidFill>
                  <a:srgbClr val="787878"/>
                </a:solidFill>
                <a:latin typeface="Calibri"/>
              </a:rPr>
              <a:t>Efficiency Ratio: </a:t>
            </a:r>
            <a:r>
              <a:rPr sz="1100" b="1">
                <a:solidFill>
                  <a:srgbClr val="002952"/>
                </a:solidFill>
                <a:latin typeface="Calibri"/>
              </a:rPr>
              <a:t>61.2%</a:t>
            </a:r>
          </a:p>
        </p:txBody>
      </p:sp>
      <p:sp>
        <p:nvSpPr>
          <p:cNvPr id="14" name="TextBox 13"/>
          <p:cNvSpPr txBox="1"/>
          <p:nvPr/>
        </p:nvSpPr>
        <p:spPr>
          <a:xfrm>
            <a:off x="3291840" y="3218688"/>
            <a:ext cx="2377440" cy="292608"/>
          </a:xfrm>
          <a:prstGeom prst="rect">
            <a:avLst/>
          </a:prstGeom>
          <a:noFill/>
        </p:spPr>
        <p:txBody>
          <a:bodyPr wrap="square">
            <a:spAutoFit/>
          </a:bodyPr>
          <a:lstStyle/>
          <a:p>
            <a:pPr algn="l">
              <a:defRPr sz="1100" b="0">
                <a:solidFill>
                  <a:srgbClr val="323232"/>
                </a:solidFill>
                <a:latin typeface="Calibri"/>
              </a:defRPr>
            </a:pPr>
            <a:r>
              <a:rPr sz="1100">
                <a:solidFill>
                  <a:srgbClr val="787878"/>
                </a:solidFill>
                <a:latin typeface="Calibri"/>
              </a:rPr>
              <a:t>Net Interest Margin: </a:t>
            </a:r>
            <a:r>
              <a:rPr sz="1100" b="1">
                <a:solidFill>
                  <a:srgbClr val="002952"/>
                </a:solidFill>
                <a:latin typeface="Calibri"/>
              </a:rPr>
              <a:t>2.81%</a:t>
            </a:r>
          </a:p>
        </p:txBody>
      </p:sp>
      <p:sp>
        <p:nvSpPr>
          <p:cNvPr id="15" name="TextBox 14"/>
          <p:cNvSpPr txBox="1"/>
          <p:nvPr/>
        </p:nvSpPr>
        <p:spPr>
          <a:xfrm>
            <a:off x="3291840" y="3547872"/>
            <a:ext cx="2377440" cy="292608"/>
          </a:xfrm>
          <a:prstGeom prst="rect">
            <a:avLst/>
          </a:prstGeom>
          <a:noFill/>
        </p:spPr>
        <p:txBody>
          <a:bodyPr wrap="square">
            <a:spAutoFit/>
          </a:bodyPr>
          <a:lstStyle/>
          <a:p>
            <a:pPr algn="l">
              <a:defRPr sz="1100" b="0">
                <a:solidFill>
                  <a:srgbClr val="323232"/>
                </a:solidFill>
                <a:latin typeface="Calibri"/>
              </a:defRPr>
            </a:pPr>
            <a:r>
              <a:rPr sz="1100">
                <a:solidFill>
                  <a:srgbClr val="787878"/>
                </a:solidFill>
                <a:latin typeface="Calibri"/>
              </a:rPr>
              <a:t>CET1 Capital Ratio: </a:t>
            </a:r>
            <a:r>
              <a:rPr sz="1100" b="1">
                <a:solidFill>
                  <a:srgbClr val="002952"/>
                </a:solidFill>
                <a:latin typeface="Calibri"/>
              </a:rPr>
              <a:t>10.20%</a:t>
            </a:r>
          </a:p>
        </p:txBody>
      </p:sp>
      <p:sp>
        <p:nvSpPr>
          <p:cNvPr id="16" name="TextBox 15"/>
          <p:cNvSpPr txBox="1"/>
          <p:nvPr/>
        </p:nvSpPr>
        <p:spPr>
          <a:xfrm>
            <a:off x="3291840" y="3877056"/>
            <a:ext cx="2377440" cy="292608"/>
          </a:xfrm>
          <a:prstGeom prst="rect">
            <a:avLst/>
          </a:prstGeom>
          <a:noFill/>
        </p:spPr>
        <p:txBody>
          <a:bodyPr wrap="square">
            <a:spAutoFit/>
          </a:bodyPr>
          <a:lstStyle/>
          <a:p>
            <a:pPr algn="l">
              <a:defRPr sz="1100" b="0">
                <a:solidFill>
                  <a:srgbClr val="323232"/>
                </a:solidFill>
                <a:latin typeface="Calibri"/>
              </a:defRPr>
            </a:pPr>
            <a:r>
              <a:rPr sz="1100">
                <a:solidFill>
                  <a:srgbClr val="787878"/>
                </a:solidFill>
                <a:latin typeface="Calibri"/>
              </a:rPr>
              <a:t>EPS: </a:t>
            </a:r>
            <a:r>
              <a:rPr sz="1100" b="1">
                <a:solidFill>
                  <a:srgbClr val="002952"/>
                </a:solidFill>
                <a:latin typeface="Calibri"/>
              </a:rPr>
              <a:t>$4.86</a:t>
            </a:r>
          </a:p>
        </p:txBody>
      </p:sp>
      <p:sp>
        <p:nvSpPr>
          <p:cNvPr id="17" name="TextBox 16"/>
          <p:cNvSpPr txBox="1"/>
          <p:nvPr/>
        </p:nvSpPr>
        <p:spPr>
          <a:xfrm>
            <a:off x="548640" y="4389120"/>
            <a:ext cx="5029200" cy="320040"/>
          </a:xfrm>
          <a:prstGeom prst="rect">
            <a:avLst/>
          </a:prstGeom>
          <a:noFill/>
        </p:spPr>
        <p:txBody>
          <a:bodyPr wrap="square">
            <a:spAutoFit/>
          </a:bodyPr>
          <a:lstStyle/>
          <a:p>
            <a:pPr algn="l">
              <a:defRPr sz="1200" b="1">
                <a:solidFill>
                  <a:srgbClr val="002952"/>
                </a:solidFill>
                <a:latin typeface="Calibri"/>
              </a:defRPr>
            </a:pPr>
            <a:r>
              <a:t>Revenue by Business Line ($M)</a:t>
            </a:r>
          </a:p>
        </p:txBody>
      </p:sp>
      <p:sp>
        <p:nvSpPr>
          <p:cNvPr id="18" name="Rectangle 17"/>
          <p:cNvSpPr/>
          <p:nvPr/>
        </p:nvSpPr>
        <p:spPr>
          <a:xfrm>
            <a:off x="548640" y="4754880"/>
            <a:ext cx="167640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754880"/>
            <a:ext cx="1676400" cy="256032"/>
          </a:xfrm>
          <a:prstGeom prst="rect">
            <a:avLst/>
          </a:prstGeom>
          <a:noFill/>
        </p:spPr>
        <p:txBody>
          <a:bodyPr wrap="square">
            <a:spAutoFit/>
          </a:bodyPr>
          <a:lstStyle/>
          <a:p>
            <a:pPr algn="ctr">
              <a:defRPr sz="1000" b="1">
                <a:solidFill>
                  <a:srgbClr val="FFFFFF"/>
                </a:solidFill>
                <a:latin typeface="Calibri"/>
              </a:defRPr>
            </a:pPr>
            <a:r>
              <a:t>Business Line</a:t>
            </a:r>
          </a:p>
        </p:txBody>
      </p:sp>
      <p:sp>
        <p:nvSpPr>
          <p:cNvPr id="20" name="Rectangle 19"/>
          <p:cNvSpPr/>
          <p:nvPr/>
        </p:nvSpPr>
        <p:spPr>
          <a:xfrm>
            <a:off x="2225040" y="4754880"/>
            <a:ext cx="167640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25040" y="4754880"/>
            <a:ext cx="1676400" cy="256032"/>
          </a:xfrm>
          <a:prstGeom prst="rect">
            <a:avLst/>
          </a:prstGeom>
          <a:noFill/>
        </p:spPr>
        <p:txBody>
          <a:bodyPr wrap="square">
            <a:spAutoFit/>
          </a:bodyPr>
          <a:lstStyle/>
          <a:p>
            <a:pPr algn="ctr">
              <a:defRPr sz="1000" b="1">
                <a:solidFill>
                  <a:srgbClr val="FFFFFF"/>
                </a:solidFill>
                <a:latin typeface="Calibri"/>
              </a:defRPr>
            </a:pPr>
            <a:r>
              <a:t>Revenue</a:t>
            </a:r>
          </a:p>
        </p:txBody>
      </p:sp>
      <p:sp>
        <p:nvSpPr>
          <p:cNvPr id="22" name="Rectangle 21"/>
          <p:cNvSpPr/>
          <p:nvPr/>
        </p:nvSpPr>
        <p:spPr>
          <a:xfrm>
            <a:off x="3901440" y="4754880"/>
            <a:ext cx="167640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01440" y="4754880"/>
            <a:ext cx="1676400" cy="256032"/>
          </a:xfrm>
          <a:prstGeom prst="rect">
            <a:avLst/>
          </a:prstGeom>
          <a:noFill/>
        </p:spPr>
        <p:txBody>
          <a:bodyPr wrap="square">
            <a:spAutoFit/>
          </a:bodyPr>
          <a:lstStyle/>
          <a:p>
            <a:pPr algn="ctr">
              <a:defRPr sz="1000" b="1">
                <a:solidFill>
                  <a:srgbClr val="FFFFFF"/>
                </a:solidFill>
                <a:latin typeface="Calibri"/>
              </a:defRPr>
            </a:pPr>
            <a:r>
              <a:t>Share</a:t>
            </a:r>
          </a:p>
        </p:txBody>
      </p:sp>
      <p:sp>
        <p:nvSpPr>
          <p:cNvPr id="24" name="Rectangle 23"/>
          <p:cNvSpPr/>
          <p:nvPr/>
        </p:nvSpPr>
        <p:spPr>
          <a:xfrm>
            <a:off x="548640" y="5010912"/>
            <a:ext cx="16764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010912"/>
            <a:ext cx="1676400" cy="256032"/>
          </a:xfrm>
          <a:prstGeom prst="rect">
            <a:avLst/>
          </a:prstGeom>
          <a:noFill/>
        </p:spPr>
        <p:txBody>
          <a:bodyPr wrap="square">
            <a:spAutoFit/>
          </a:bodyPr>
          <a:lstStyle/>
          <a:p>
            <a:pPr algn="ctr">
              <a:defRPr sz="1000" b="0">
                <a:solidFill>
                  <a:srgbClr val="323232"/>
                </a:solidFill>
                <a:latin typeface="Calibri"/>
              </a:defRPr>
            </a:pPr>
            <a:r>
              <a:t>Consumer &amp; Business Banking</a:t>
            </a:r>
          </a:p>
        </p:txBody>
      </p:sp>
      <p:sp>
        <p:nvSpPr>
          <p:cNvPr id="26" name="Rectangle 25"/>
          <p:cNvSpPr/>
          <p:nvPr/>
        </p:nvSpPr>
        <p:spPr>
          <a:xfrm>
            <a:off x="2225040" y="5010912"/>
            <a:ext cx="16764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25040" y="5010912"/>
            <a:ext cx="1676400" cy="256032"/>
          </a:xfrm>
          <a:prstGeom prst="rect">
            <a:avLst/>
          </a:prstGeom>
          <a:noFill/>
        </p:spPr>
        <p:txBody>
          <a:bodyPr wrap="square">
            <a:spAutoFit/>
          </a:bodyPr>
          <a:lstStyle/>
          <a:p>
            <a:pPr algn="ctr">
              <a:defRPr sz="1000" b="0">
                <a:solidFill>
                  <a:srgbClr val="323232"/>
                </a:solidFill>
                <a:latin typeface="Calibri"/>
              </a:defRPr>
            </a:pPr>
            <a:r>
              <a:t>$9,842M</a:t>
            </a:r>
          </a:p>
        </p:txBody>
      </p:sp>
      <p:sp>
        <p:nvSpPr>
          <p:cNvPr id="28" name="Rectangle 27"/>
          <p:cNvSpPr/>
          <p:nvPr/>
        </p:nvSpPr>
        <p:spPr>
          <a:xfrm>
            <a:off x="3901440" y="5010912"/>
            <a:ext cx="16764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01440" y="5010912"/>
            <a:ext cx="1676400" cy="256032"/>
          </a:xfrm>
          <a:prstGeom prst="rect">
            <a:avLst/>
          </a:prstGeom>
          <a:noFill/>
        </p:spPr>
        <p:txBody>
          <a:bodyPr wrap="square">
            <a:spAutoFit/>
          </a:bodyPr>
          <a:lstStyle/>
          <a:p>
            <a:pPr algn="ctr">
              <a:defRPr sz="1000" b="0">
                <a:solidFill>
                  <a:srgbClr val="2E7D32"/>
                </a:solidFill>
                <a:latin typeface="Calibri"/>
              </a:defRPr>
            </a:pPr>
            <a:r>
              <a:t>39%</a:t>
            </a:r>
          </a:p>
        </p:txBody>
      </p:sp>
      <p:sp>
        <p:nvSpPr>
          <p:cNvPr id="30" name="Rectangle 29"/>
          <p:cNvSpPr/>
          <p:nvPr/>
        </p:nvSpPr>
        <p:spPr>
          <a:xfrm>
            <a:off x="548640" y="5266944"/>
            <a:ext cx="16764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5266944"/>
            <a:ext cx="1676400" cy="256032"/>
          </a:xfrm>
          <a:prstGeom prst="rect">
            <a:avLst/>
          </a:prstGeom>
          <a:noFill/>
        </p:spPr>
        <p:txBody>
          <a:bodyPr wrap="square">
            <a:spAutoFit/>
          </a:bodyPr>
          <a:lstStyle/>
          <a:p>
            <a:pPr algn="ctr">
              <a:defRPr sz="1000" b="0">
                <a:solidFill>
                  <a:srgbClr val="323232"/>
                </a:solidFill>
                <a:latin typeface="Calibri"/>
              </a:defRPr>
            </a:pPr>
            <a:r>
              <a:t>Payment Services (Elavon)</a:t>
            </a:r>
          </a:p>
        </p:txBody>
      </p:sp>
      <p:sp>
        <p:nvSpPr>
          <p:cNvPr id="32" name="Rectangle 31"/>
          <p:cNvSpPr/>
          <p:nvPr/>
        </p:nvSpPr>
        <p:spPr>
          <a:xfrm>
            <a:off x="2225040" y="5266944"/>
            <a:ext cx="16764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25040" y="5266944"/>
            <a:ext cx="1676400" cy="256032"/>
          </a:xfrm>
          <a:prstGeom prst="rect">
            <a:avLst/>
          </a:prstGeom>
          <a:noFill/>
        </p:spPr>
        <p:txBody>
          <a:bodyPr wrap="square">
            <a:spAutoFit/>
          </a:bodyPr>
          <a:lstStyle/>
          <a:p>
            <a:pPr algn="ctr">
              <a:defRPr sz="1000" b="0">
                <a:solidFill>
                  <a:srgbClr val="323232"/>
                </a:solidFill>
                <a:latin typeface="Calibri"/>
              </a:defRPr>
            </a:pPr>
            <a:r>
              <a:t>$7,218M</a:t>
            </a:r>
          </a:p>
        </p:txBody>
      </p:sp>
      <p:sp>
        <p:nvSpPr>
          <p:cNvPr id="34" name="Rectangle 33"/>
          <p:cNvSpPr/>
          <p:nvPr/>
        </p:nvSpPr>
        <p:spPr>
          <a:xfrm>
            <a:off x="3901440" y="5266944"/>
            <a:ext cx="16764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01440" y="5266944"/>
            <a:ext cx="1676400" cy="256032"/>
          </a:xfrm>
          <a:prstGeom prst="rect">
            <a:avLst/>
          </a:prstGeom>
          <a:noFill/>
        </p:spPr>
        <p:txBody>
          <a:bodyPr wrap="square">
            <a:spAutoFit/>
          </a:bodyPr>
          <a:lstStyle/>
          <a:p>
            <a:pPr algn="ctr">
              <a:defRPr sz="1000" b="0">
                <a:solidFill>
                  <a:srgbClr val="2E7D32"/>
                </a:solidFill>
                <a:latin typeface="Calibri"/>
              </a:defRPr>
            </a:pPr>
            <a:r>
              <a:t>29%</a:t>
            </a:r>
          </a:p>
        </p:txBody>
      </p:sp>
      <p:sp>
        <p:nvSpPr>
          <p:cNvPr id="36" name="Rectangle 35"/>
          <p:cNvSpPr/>
          <p:nvPr/>
        </p:nvSpPr>
        <p:spPr>
          <a:xfrm>
            <a:off x="548640" y="5522976"/>
            <a:ext cx="16764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5522976"/>
            <a:ext cx="1676400" cy="256032"/>
          </a:xfrm>
          <a:prstGeom prst="rect">
            <a:avLst/>
          </a:prstGeom>
          <a:noFill/>
        </p:spPr>
        <p:txBody>
          <a:bodyPr wrap="square">
            <a:spAutoFit/>
          </a:bodyPr>
          <a:lstStyle/>
          <a:p>
            <a:pPr algn="ctr">
              <a:defRPr sz="1000" b="0">
                <a:solidFill>
                  <a:srgbClr val="323232"/>
                </a:solidFill>
                <a:latin typeface="Calibri"/>
              </a:defRPr>
            </a:pPr>
            <a:r>
              <a:t>Treasury &amp; Corporate</a:t>
            </a:r>
          </a:p>
        </p:txBody>
      </p:sp>
      <p:sp>
        <p:nvSpPr>
          <p:cNvPr id="38" name="Rectangle 37"/>
          <p:cNvSpPr/>
          <p:nvPr/>
        </p:nvSpPr>
        <p:spPr>
          <a:xfrm>
            <a:off x="2225040" y="5522976"/>
            <a:ext cx="16764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225040" y="5522976"/>
            <a:ext cx="1676400" cy="256032"/>
          </a:xfrm>
          <a:prstGeom prst="rect">
            <a:avLst/>
          </a:prstGeom>
          <a:noFill/>
        </p:spPr>
        <p:txBody>
          <a:bodyPr wrap="square">
            <a:spAutoFit/>
          </a:bodyPr>
          <a:lstStyle/>
          <a:p>
            <a:pPr algn="ctr">
              <a:defRPr sz="1000" b="0">
                <a:solidFill>
                  <a:srgbClr val="323232"/>
                </a:solidFill>
                <a:latin typeface="Calibri"/>
              </a:defRPr>
            </a:pPr>
            <a:r>
              <a:t>$4,295M</a:t>
            </a:r>
          </a:p>
        </p:txBody>
      </p:sp>
      <p:sp>
        <p:nvSpPr>
          <p:cNvPr id="40" name="Rectangle 39"/>
          <p:cNvSpPr/>
          <p:nvPr/>
        </p:nvSpPr>
        <p:spPr>
          <a:xfrm>
            <a:off x="3901440" y="5522976"/>
            <a:ext cx="16764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01440" y="5522976"/>
            <a:ext cx="1676400" cy="256032"/>
          </a:xfrm>
          <a:prstGeom prst="rect">
            <a:avLst/>
          </a:prstGeom>
          <a:noFill/>
        </p:spPr>
        <p:txBody>
          <a:bodyPr wrap="square">
            <a:spAutoFit/>
          </a:bodyPr>
          <a:lstStyle/>
          <a:p>
            <a:pPr algn="ctr">
              <a:defRPr sz="1000" b="0">
                <a:solidFill>
                  <a:srgbClr val="2E7D32"/>
                </a:solidFill>
                <a:latin typeface="Calibri"/>
              </a:defRPr>
            </a:pPr>
            <a:r>
              <a:t>17%</a:t>
            </a:r>
          </a:p>
        </p:txBody>
      </p:sp>
      <p:sp>
        <p:nvSpPr>
          <p:cNvPr id="42" name="Rectangle 41"/>
          <p:cNvSpPr/>
          <p:nvPr/>
        </p:nvSpPr>
        <p:spPr>
          <a:xfrm>
            <a:off x="548640" y="5779008"/>
            <a:ext cx="16764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779008"/>
            <a:ext cx="1676400" cy="256032"/>
          </a:xfrm>
          <a:prstGeom prst="rect">
            <a:avLst/>
          </a:prstGeom>
          <a:noFill/>
        </p:spPr>
        <p:txBody>
          <a:bodyPr wrap="square">
            <a:spAutoFit/>
          </a:bodyPr>
          <a:lstStyle/>
          <a:p>
            <a:pPr algn="ctr">
              <a:defRPr sz="1000" b="1">
                <a:solidFill>
                  <a:srgbClr val="323232"/>
                </a:solidFill>
                <a:latin typeface="Calibri"/>
              </a:defRPr>
            </a:pPr>
            <a:r>
              <a:t>Wealth Management</a:t>
            </a:r>
          </a:p>
        </p:txBody>
      </p:sp>
      <p:sp>
        <p:nvSpPr>
          <p:cNvPr id="44" name="Rectangle 43"/>
          <p:cNvSpPr/>
          <p:nvPr/>
        </p:nvSpPr>
        <p:spPr>
          <a:xfrm>
            <a:off x="2225040" y="5779008"/>
            <a:ext cx="16764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225040" y="5779008"/>
            <a:ext cx="1676400" cy="256032"/>
          </a:xfrm>
          <a:prstGeom prst="rect">
            <a:avLst/>
          </a:prstGeom>
          <a:noFill/>
        </p:spPr>
        <p:txBody>
          <a:bodyPr wrap="square">
            <a:spAutoFit/>
          </a:bodyPr>
          <a:lstStyle/>
          <a:p>
            <a:pPr algn="ctr">
              <a:defRPr sz="1000" b="1">
                <a:solidFill>
                  <a:srgbClr val="323232"/>
                </a:solidFill>
                <a:latin typeface="Calibri"/>
              </a:defRPr>
            </a:pPr>
            <a:r>
              <a:t>$3,845M</a:t>
            </a:r>
          </a:p>
        </p:txBody>
      </p:sp>
      <p:sp>
        <p:nvSpPr>
          <p:cNvPr id="46" name="Rectangle 45"/>
          <p:cNvSpPr/>
          <p:nvPr/>
        </p:nvSpPr>
        <p:spPr>
          <a:xfrm>
            <a:off x="3901440" y="5779008"/>
            <a:ext cx="16764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901440" y="5779008"/>
            <a:ext cx="1676400" cy="256032"/>
          </a:xfrm>
          <a:prstGeom prst="rect">
            <a:avLst/>
          </a:prstGeom>
          <a:noFill/>
        </p:spPr>
        <p:txBody>
          <a:bodyPr wrap="square">
            <a:spAutoFit/>
          </a:bodyPr>
          <a:lstStyle/>
          <a:p>
            <a:pPr algn="ctr">
              <a:defRPr sz="1000" b="1">
                <a:solidFill>
                  <a:srgbClr val="2E7D32"/>
                </a:solidFill>
                <a:latin typeface="Calibri"/>
              </a:defRPr>
            </a:pPr>
            <a:r>
              <a:t>15%</a:t>
            </a:r>
          </a:p>
        </p:txBody>
      </p:sp>
      <p:sp>
        <p:nvSpPr>
          <p:cNvPr id="48" name="TextBox 47"/>
          <p:cNvSpPr txBox="1"/>
          <p:nvPr/>
        </p:nvSpPr>
        <p:spPr>
          <a:xfrm>
            <a:off x="6217920" y="2103120"/>
            <a:ext cx="5486400" cy="365760"/>
          </a:xfrm>
          <a:prstGeom prst="rect">
            <a:avLst/>
          </a:prstGeom>
          <a:noFill/>
        </p:spPr>
        <p:txBody>
          <a:bodyPr wrap="square">
            <a:spAutoFit/>
          </a:bodyPr>
          <a:lstStyle/>
          <a:p>
            <a:pPr algn="l">
              <a:defRPr sz="1400" b="1">
                <a:solidFill>
                  <a:srgbClr val="002952"/>
                </a:solidFill>
                <a:latin typeface="Calibri"/>
              </a:defRPr>
            </a:pPr>
            <a:r>
              <a:t>Automated Competitor Benchmarking</a:t>
            </a:r>
          </a:p>
        </p:txBody>
      </p:sp>
      <p:sp>
        <p:nvSpPr>
          <p:cNvPr id="49" name="Rectangle 48"/>
          <p:cNvSpPr/>
          <p:nvPr/>
        </p:nvSpPr>
        <p:spPr>
          <a:xfrm>
            <a:off x="6217920" y="2560320"/>
            <a:ext cx="109728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7920" y="2560320"/>
            <a:ext cx="1097280" cy="256032"/>
          </a:xfrm>
          <a:prstGeom prst="rect">
            <a:avLst/>
          </a:prstGeom>
          <a:noFill/>
        </p:spPr>
        <p:txBody>
          <a:bodyPr wrap="square">
            <a:spAutoFit/>
          </a:bodyPr>
          <a:lstStyle/>
          <a:p>
            <a:pPr algn="ctr">
              <a:defRPr sz="1000" b="1">
                <a:solidFill>
                  <a:srgbClr val="FFFFFF"/>
                </a:solidFill>
                <a:latin typeface="Calibri"/>
              </a:defRPr>
            </a:pPr>
            <a:r>
              <a:t>Metric</a:t>
            </a:r>
          </a:p>
        </p:txBody>
      </p:sp>
      <p:sp>
        <p:nvSpPr>
          <p:cNvPr id="51" name="Rectangle 50"/>
          <p:cNvSpPr/>
          <p:nvPr/>
        </p:nvSpPr>
        <p:spPr>
          <a:xfrm>
            <a:off x="7315200" y="2560320"/>
            <a:ext cx="109728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15200" y="2560320"/>
            <a:ext cx="1097280" cy="256032"/>
          </a:xfrm>
          <a:prstGeom prst="rect">
            <a:avLst/>
          </a:prstGeom>
          <a:noFill/>
        </p:spPr>
        <p:txBody>
          <a:bodyPr wrap="square">
            <a:spAutoFit/>
          </a:bodyPr>
          <a:lstStyle/>
          <a:p>
            <a:pPr algn="ctr">
              <a:defRPr sz="1000" b="1">
                <a:solidFill>
                  <a:srgbClr val="FFFFFF"/>
                </a:solidFill>
                <a:latin typeface="Calibri"/>
              </a:defRPr>
            </a:pPr>
            <a:r>
              <a:t>USB</a:t>
            </a:r>
          </a:p>
        </p:txBody>
      </p:sp>
      <p:sp>
        <p:nvSpPr>
          <p:cNvPr id="53" name="Rectangle 52"/>
          <p:cNvSpPr/>
          <p:nvPr/>
        </p:nvSpPr>
        <p:spPr>
          <a:xfrm>
            <a:off x="8412480" y="2560320"/>
            <a:ext cx="109728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12480" y="2560320"/>
            <a:ext cx="1097280" cy="256032"/>
          </a:xfrm>
          <a:prstGeom prst="rect">
            <a:avLst/>
          </a:prstGeom>
          <a:noFill/>
        </p:spPr>
        <p:txBody>
          <a:bodyPr wrap="square">
            <a:spAutoFit/>
          </a:bodyPr>
          <a:lstStyle/>
          <a:p>
            <a:pPr algn="ctr">
              <a:defRPr sz="1000" b="1">
                <a:solidFill>
                  <a:srgbClr val="FFFFFF"/>
                </a:solidFill>
                <a:latin typeface="Calibri"/>
              </a:defRPr>
            </a:pPr>
            <a:r>
              <a:t>JPMorgan</a:t>
            </a:r>
          </a:p>
        </p:txBody>
      </p:sp>
      <p:sp>
        <p:nvSpPr>
          <p:cNvPr id="55" name="Rectangle 54"/>
          <p:cNvSpPr/>
          <p:nvPr/>
        </p:nvSpPr>
        <p:spPr>
          <a:xfrm>
            <a:off x="9509760" y="2560320"/>
            <a:ext cx="109728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509760" y="2560320"/>
            <a:ext cx="1097280" cy="256032"/>
          </a:xfrm>
          <a:prstGeom prst="rect">
            <a:avLst/>
          </a:prstGeom>
          <a:noFill/>
        </p:spPr>
        <p:txBody>
          <a:bodyPr wrap="square">
            <a:spAutoFit/>
          </a:bodyPr>
          <a:lstStyle/>
          <a:p>
            <a:pPr algn="ctr">
              <a:defRPr sz="1000" b="1">
                <a:solidFill>
                  <a:srgbClr val="FFFFFF"/>
                </a:solidFill>
                <a:latin typeface="Calibri"/>
              </a:defRPr>
            </a:pPr>
            <a:r>
              <a:t>Wells Fargo</a:t>
            </a:r>
          </a:p>
        </p:txBody>
      </p:sp>
      <p:sp>
        <p:nvSpPr>
          <p:cNvPr id="57" name="Rectangle 56"/>
          <p:cNvSpPr/>
          <p:nvPr/>
        </p:nvSpPr>
        <p:spPr>
          <a:xfrm>
            <a:off x="10607040" y="2560320"/>
            <a:ext cx="109728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607040" y="2560320"/>
            <a:ext cx="1097280" cy="256032"/>
          </a:xfrm>
          <a:prstGeom prst="rect">
            <a:avLst/>
          </a:prstGeom>
          <a:noFill/>
        </p:spPr>
        <p:txBody>
          <a:bodyPr wrap="square">
            <a:spAutoFit/>
          </a:bodyPr>
          <a:lstStyle/>
          <a:p>
            <a:pPr algn="ctr">
              <a:defRPr sz="1000" b="1">
                <a:solidFill>
                  <a:srgbClr val="FFFFFF"/>
                </a:solidFill>
                <a:latin typeface="Calibri"/>
              </a:defRPr>
            </a:pPr>
            <a:r>
              <a:t>PNC</a:t>
            </a:r>
          </a:p>
        </p:txBody>
      </p:sp>
      <p:sp>
        <p:nvSpPr>
          <p:cNvPr id="59" name="Rectangle 58"/>
          <p:cNvSpPr/>
          <p:nvPr/>
        </p:nvSpPr>
        <p:spPr>
          <a:xfrm>
            <a:off x="6217920" y="2816352"/>
            <a:ext cx="10972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17920" y="2816352"/>
            <a:ext cx="1097280" cy="256032"/>
          </a:xfrm>
          <a:prstGeom prst="rect">
            <a:avLst/>
          </a:prstGeom>
          <a:noFill/>
        </p:spPr>
        <p:txBody>
          <a:bodyPr wrap="square">
            <a:spAutoFit/>
          </a:bodyPr>
          <a:lstStyle/>
          <a:p>
            <a:pPr algn="ctr">
              <a:defRPr sz="1000" b="0">
                <a:solidFill>
                  <a:srgbClr val="323232"/>
                </a:solidFill>
                <a:latin typeface="Calibri"/>
              </a:defRPr>
            </a:pPr>
            <a:r>
              <a:t>Market Cap</a:t>
            </a:r>
          </a:p>
        </p:txBody>
      </p:sp>
      <p:sp>
        <p:nvSpPr>
          <p:cNvPr id="61" name="Rectangle 60"/>
          <p:cNvSpPr/>
          <p:nvPr/>
        </p:nvSpPr>
        <p:spPr>
          <a:xfrm>
            <a:off x="7315200" y="2816352"/>
            <a:ext cx="10972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315200" y="2816352"/>
            <a:ext cx="1097280" cy="256032"/>
          </a:xfrm>
          <a:prstGeom prst="rect">
            <a:avLst/>
          </a:prstGeom>
          <a:noFill/>
        </p:spPr>
        <p:txBody>
          <a:bodyPr wrap="square">
            <a:spAutoFit/>
          </a:bodyPr>
          <a:lstStyle/>
          <a:p>
            <a:pPr algn="ctr">
              <a:defRPr sz="1000" b="0">
                <a:solidFill>
                  <a:srgbClr val="323232"/>
                </a:solidFill>
                <a:latin typeface="Calibri"/>
              </a:defRPr>
            </a:pPr>
            <a:r>
              <a:t>$87B</a:t>
            </a:r>
          </a:p>
        </p:txBody>
      </p:sp>
      <p:sp>
        <p:nvSpPr>
          <p:cNvPr id="63" name="Rectangle 62"/>
          <p:cNvSpPr/>
          <p:nvPr/>
        </p:nvSpPr>
        <p:spPr>
          <a:xfrm>
            <a:off x="8412480" y="2816352"/>
            <a:ext cx="10972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12480" y="2816352"/>
            <a:ext cx="1097280" cy="256032"/>
          </a:xfrm>
          <a:prstGeom prst="rect">
            <a:avLst/>
          </a:prstGeom>
          <a:noFill/>
        </p:spPr>
        <p:txBody>
          <a:bodyPr wrap="square">
            <a:spAutoFit/>
          </a:bodyPr>
          <a:lstStyle/>
          <a:p>
            <a:pPr algn="ctr">
              <a:defRPr sz="1000" b="0">
                <a:solidFill>
                  <a:srgbClr val="323232"/>
                </a:solidFill>
                <a:latin typeface="Calibri"/>
              </a:defRPr>
            </a:pPr>
            <a:r>
              <a:t>$690B</a:t>
            </a:r>
          </a:p>
        </p:txBody>
      </p:sp>
      <p:sp>
        <p:nvSpPr>
          <p:cNvPr id="65" name="Rectangle 64"/>
          <p:cNvSpPr/>
          <p:nvPr/>
        </p:nvSpPr>
        <p:spPr>
          <a:xfrm>
            <a:off x="9509760" y="2816352"/>
            <a:ext cx="10972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509760" y="2816352"/>
            <a:ext cx="1097280" cy="256032"/>
          </a:xfrm>
          <a:prstGeom prst="rect">
            <a:avLst/>
          </a:prstGeom>
          <a:noFill/>
        </p:spPr>
        <p:txBody>
          <a:bodyPr wrap="square">
            <a:spAutoFit/>
          </a:bodyPr>
          <a:lstStyle/>
          <a:p>
            <a:pPr algn="ctr">
              <a:defRPr sz="1000" b="0">
                <a:solidFill>
                  <a:srgbClr val="323232"/>
                </a:solidFill>
                <a:latin typeface="Calibri"/>
              </a:defRPr>
            </a:pPr>
            <a:r>
              <a:t>$218B</a:t>
            </a:r>
          </a:p>
        </p:txBody>
      </p:sp>
      <p:sp>
        <p:nvSpPr>
          <p:cNvPr id="67" name="Rectangle 66"/>
          <p:cNvSpPr/>
          <p:nvPr/>
        </p:nvSpPr>
        <p:spPr>
          <a:xfrm>
            <a:off x="10607040" y="2816352"/>
            <a:ext cx="10972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607040" y="2816352"/>
            <a:ext cx="1097280" cy="256032"/>
          </a:xfrm>
          <a:prstGeom prst="rect">
            <a:avLst/>
          </a:prstGeom>
          <a:noFill/>
        </p:spPr>
        <p:txBody>
          <a:bodyPr wrap="square">
            <a:spAutoFit/>
          </a:bodyPr>
          <a:lstStyle/>
          <a:p>
            <a:pPr algn="ctr">
              <a:defRPr sz="1000" b="0">
                <a:solidFill>
                  <a:srgbClr val="323232"/>
                </a:solidFill>
                <a:latin typeface="Calibri"/>
              </a:defRPr>
            </a:pPr>
            <a:r>
              <a:t>$85B</a:t>
            </a:r>
          </a:p>
        </p:txBody>
      </p:sp>
      <p:sp>
        <p:nvSpPr>
          <p:cNvPr id="69" name="Rectangle 68"/>
          <p:cNvSpPr/>
          <p:nvPr/>
        </p:nvSpPr>
        <p:spPr>
          <a:xfrm>
            <a:off x="6217920" y="3072384"/>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217920" y="3072384"/>
            <a:ext cx="1097280" cy="256032"/>
          </a:xfrm>
          <a:prstGeom prst="rect">
            <a:avLst/>
          </a:prstGeom>
          <a:noFill/>
        </p:spPr>
        <p:txBody>
          <a:bodyPr wrap="square">
            <a:spAutoFit/>
          </a:bodyPr>
          <a:lstStyle/>
          <a:p>
            <a:pPr algn="ctr">
              <a:defRPr sz="1000" b="0">
                <a:solidFill>
                  <a:srgbClr val="323232"/>
                </a:solidFill>
                <a:latin typeface="Calibri"/>
              </a:defRPr>
            </a:pPr>
            <a:r>
              <a:t>Revenue</a:t>
            </a:r>
          </a:p>
        </p:txBody>
      </p:sp>
      <p:sp>
        <p:nvSpPr>
          <p:cNvPr id="71" name="Rectangle 70"/>
          <p:cNvSpPr/>
          <p:nvPr/>
        </p:nvSpPr>
        <p:spPr>
          <a:xfrm>
            <a:off x="7315200" y="3072384"/>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315200" y="3072384"/>
            <a:ext cx="1097280" cy="256032"/>
          </a:xfrm>
          <a:prstGeom prst="rect">
            <a:avLst/>
          </a:prstGeom>
          <a:noFill/>
        </p:spPr>
        <p:txBody>
          <a:bodyPr wrap="square">
            <a:spAutoFit/>
          </a:bodyPr>
          <a:lstStyle/>
          <a:p>
            <a:pPr algn="ctr">
              <a:defRPr sz="1000" b="0">
                <a:solidFill>
                  <a:srgbClr val="323232"/>
                </a:solidFill>
                <a:latin typeface="Calibri"/>
              </a:defRPr>
            </a:pPr>
            <a:r>
              <a:t>$25.2B</a:t>
            </a:r>
          </a:p>
        </p:txBody>
      </p:sp>
      <p:sp>
        <p:nvSpPr>
          <p:cNvPr id="73" name="Rectangle 72"/>
          <p:cNvSpPr/>
          <p:nvPr/>
        </p:nvSpPr>
        <p:spPr>
          <a:xfrm>
            <a:off x="8412480" y="3072384"/>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12480" y="3072384"/>
            <a:ext cx="1097280" cy="256032"/>
          </a:xfrm>
          <a:prstGeom prst="rect">
            <a:avLst/>
          </a:prstGeom>
          <a:noFill/>
        </p:spPr>
        <p:txBody>
          <a:bodyPr wrap="square">
            <a:spAutoFit/>
          </a:bodyPr>
          <a:lstStyle/>
          <a:p>
            <a:pPr algn="ctr">
              <a:defRPr sz="1000" b="0">
                <a:solidFill>
                  <a:srgbClr val="323232"/>
                </a:solidFill>
                <a:latin typeface="Calibri"/>
              </a:defRPr>
            </a:pPr>
            <a:r>
              <a:t>$177.6B</a:t>
            </a:r>
          </a:p>
        </p:txBody>
      </p:sp>
      <p:sp>
        <p:nvSpPr>
          <p:cNvPr id="75" name="Rectangle 74"/>
          <p:cNvSpPr/>
          <p:nvPr/>
        </p:nvSpPr>
        <p:spPr>
          <a:xfrm>
            <a:off x="9509760" y="3072384"/>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509760" y="3072384"/>
            <a:ext cx="1097280" cy="256032"/>
          </a:xfrm>
          <a:prstGeom prst="rect">
            <a:avLst/>
          </a:prstGeom>
          <a:noFill/>
        </p:spPr>
        <p:txBody>
          <a:bodyPr wrap="square">
            <a:spAutoFit/>
          </a:bodyPr>
          <a:lstStyle/>
          <a:p>
            <a:pPr algn="ctr">
              <a:defRPr sz="1000" b="0">
                <a:solidFill>
                  <a:srgbClr val="323232"/>
                </a:solidFill>
                <a:latin typeface="Calibri"/>
              </a:defRPr>
            </a:pPr>
            <a:r>
              <a:t>$82.6B</a:t>
            </a:r>
          </a:p>
        </p:txBody>
      </p:sp>
      <p:sp>
        <p:nvSpPr>
          <p:cNvPr id="77" name="Rectangle 76"/>
          <p:cNvSpPr/>
          <p:nvPr/>
        </p:nvSpPr>
        <p:spPr>
          <a:xfrm>
            <a:off x="10607040" y="3072384"/>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607040" y="3072384"/>
            <a:ext cx="1097280" cy="256032"/>
          </a:xfrm>
          <a:prstGeom prst="rect">
            <a:avLst/>
          </a:prstGeom>
          <a:noFill/>
        </p:spPr>
        <p:txBody>
          <a:bodyPr wrap="square">
            <a:spAutoFit/>
          </a:bodyPr>
          <a:lstStyle/>
          <a:p>
            <a:pPr algn="ctr">
              <a:defRPr sz="1000" b="0">
                <a:solidFill>
                  <a:srgbClr val="323232"/>
                </a:solidFill>
                <a:latin typeface="Calibri"/>
              </a:defRPr>
            </a:pPr>
            <a:r>
              <a:t>$22.4B</a:t>
            </a:r>
          </a:p>
        </p:txBody>
      </p:sp>
      <p:sp>
        <p:nvSpPr>
          <p:cNvPr id="79" name="Rectangle 78"/>
          <p:cNvSpPr/>
          <p:nvPr/>
        </p:nvSpPr>
        <p:spPr>
          <a:xfrm>
            <a:off x="6217920" y="3328416"/>
            <a:ext cx="10972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17920" y="3328416"/>
            <a:ext cx="1097280" cy="256032"/>
          </a:xfrm>
          <a:prstGeom prst="rect">
            <a:avLst/>
          </a:prstGeom>
          <a:noFill/>
        </p:spPr>
        <p:txBody>
          <a:bodyPr wrap="square">
            <a:spAutoFit/>
          </a:bodyPr>
          <a:lstStyle/>
          <a:p>
            <a:pPr algn="ctr">
              <a:defRPr sz="1000" b="0">
                <a:solidFill>
                  <a:srgbClr val="323232"/>
                </a:solidFill>
                <a:latin typeface="Calibri"/>
              </a:defRPr>
            </a:pPr>
            <a:r>
              <a:t>Profit Margin</a:t>
            </a:r>
          </a:p>
        </p:txBody>
      </p:sp>
      <p:sp>
        <p:nvSpPr>
          <p:cNvPr id="81" name="Rectangle 80"/>
          <p:cNvSpPr/>
          <p:nvPr/>
        </p:nvSpPr>
        <p:spPr>
          <a:xfrm>
            <a:off x="7315200" y="3328416"/>
            <a:ext cx="10972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315200" y="3328416"/>
            <a:ext cx="1097280" cy="256032"/>
          </a:xfrm>
          <a:prstGeom prst="rect">
            <a:avLst/>
          </a:prstGeom>
          <a:noFill/>
        </p:spPr>
        <p:txBody>
          <a:bodyPr wrap="square">
            <a:spAutoFit/>
          </a:bodyPr>
          <a:lstStyle/>
          <a:p>
            <a:pPr algn="ctr">
              <a:defRPr sz="1000" b="0">
                <a:solidFill>
                  <a:srgbClr val="323232"/>
                </a:solidFill>
                <a:latin typeface="Calibri"/>
              </a:defRPr>
            </a:pPr>
            <a:r>
              <a:t>24.1%</a:t>
            </a:r>
          </a:p>
        </p:txBody>
      </p:sp>
      <p:sp>
        <p:nvSpPr>
          <p:cNvPr id="83" name="Rectangle 82"/>
          <p:cNvSpPr/>
          <p:nvPr/>
        </p:nvSpPr>
        <p:spPr>
          <a:xfrm>
            <a:off x="8412480" y="3328416"/>
            <a:ext cx="10972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412480" y="3328416"/>
            <a:ext cx="1097280" cy="256032"/>
          </a:xfrm>
          <a:prstGeom prst="rect">
            <a:avLst/>
          </a:prstGeom>
          <a:noFill/>
        </p:spPr>
        <p:txBody>
          <a:bodyPr wrap="square">
            <a:spAutoFit/>
          </a:bodyPr>
          <a:lstStyle/>
          <a:p>
            <a:pPr algn="ctr">
              <a:defRPr sz="1000" b="0">
                <a:solidFill>
                  <a:srgbClr val="323232"/>
                </a:solidFill>
                <a:latin typeface="Calibri"/>
              </a:defRPr>
            </a:pPr>
            <a:r>
              <a:t>33.4%</a:t>
            </a:r>
          </a:p>
        </p:txBody>
      </p:sp>
      <p:sp>
        <p:nvSpPr>
          <p:cNvPr id="85" name="Rectangle 84"/>
          <p:cNvSpPr/>
          <p:nvPr/>
        </p:nvSpPr>
        <p:spPr>
          <a:xfrm>
            <a:off x="9509760" y="3328416"/>
            <a:ext cx="10972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509760" y="3328416"/>
            <a:ext cx="1097280" cy="256032"/>
          </a:xfrm>
          <a:prstGeom prst="rect">
            <a:avLst/>
          </a:prstGeom>
          <a:noFill/>
        </p:spPr>
        <p:txBody>
          <a:bodyPr wrap="square">
            <a:spAutoFit/>
          </a:bodyPr>
          <a:lstStyle/>
          <a:p>
            <a:pPr algn="ctr">
              <a:defRPr sz="1000" b="0">
                <a:solidFill>
                  <a:srgbClr val="323232"/>
                </a:solidFill>
                <a:latin typeface="Calibri"/>
              </a:defRPr>
            </a:pPr>
            <a:r>
              <a:t>25.5%</a:t>
            </a:r>
          </a:p>
        </p:txBody>
      </p:sp>
      <p:sp>
        <p:nvSpPr>
          <p:cNvPr id="87" name="Rectangle 86"/>
          <p:cNvSpPr/>
          <p:nvPr/>
        </p:nvSpPr>
        <p:spPr>
          <a:xfrm>
            <a:off x="10607040" y="3328416"/>
            <a:ext cx="10972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607040" y="3328416"/>
            <a:ext cx="1097280" cy="256032"/>
          </a:xfrm>
          <a:prstGeom prst="rect">
            <a:avLst/>
          </a:prstGeom>
          <a:noFill/>
        </p:spPr>
        <p:txBody>
          <a:bodyPr wrap="square">
            <a:spAutoFit/>
          </a:bodyPr>
          <a:lstStyle/>
          <a:p>
            <a:pPr algn="ctr">
              <a:defRPr sz="1000" b="0">
                <a:solidFill>
                  <a:srgbClr val="2E7D32"/>
                </a:solidFill>
                <a:latin typeface="Calibri"/>
              </a:defRPr>
            </a:pPr>
            <a:r>
              <a:t>26.8%</a:t>
            </a:r>
          </a:p>
        </p:txBody>
      </p:sp>
      <p:sp>
        <p:nvSpPr>
          <p:cNvPr id="89" name="Rectangle 88"/>
          <p:cNvSpPr/>
          <p:nvPr/>
        </p:nvSpPr>
        <p:spPr>
          <a:xfrm>
            <a:off x="6217920" y="3584448"/>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217920" y="3584448"/>
            <a:ext cx="1097280" cy="256032"/>
          </a:xfrm>
          <a:prstGeom prst="rect">
            <a:avLst/>
          </a:prstGeom>
          <a:noFill/>
        </p:spPr>
        <p:txBody>
          <a:bodyPr wrap="square">
            <a:spAutoFit/>
          </a:bodyPr>
          <a:lstStyle/>
          <a:p>
            <a:pPr algn="ctr">
              <a:defRPr sz="1000" b="0">
                <a:solidFill>
                  <a:srgbClr val="323232"/>
                </a:solidFill>
                <a:latin typeface="Calibri"/>
              </a:defRPr>
            </a:pPr>
            <a:r>
              <a:t>ROE</a:t>
            </a:r>
          </a:p>
        </p:txBody>
      </p:sp>
      <p:sp>
        <p:nvSpPr>
          <p:cNvPr id="91" name="Rectangle 90"/>
          <p:cNvSpPr/>
          <p:nvPr/>
        </p:nvSpPr>
        <p:spPr>
          <a:xfrm>
            <a:off x="7315200" y="3584448"/>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7315200" y="3584448"/>
            <a:ext cx="1097280" cy="256032"/>
          </a:xfrm>
          <a:prstGeom prst="rect">
            <a:avLst/>
          </a:prstGeom>
          <a:noFill/>
        </p:spPr>
        <p:txBody>
          <a:bodyPr wrap="square">
            <a:spAutoFit/>
          </a:bodyPr>
          <a:lstStyle/>
          <a:p>
            <a:pPr algn="ctr">
              <a:defRPr sz="1000" b="0">
                <a:solidFill>
                  <a:srgbClr val="323232"/>
                </a:solidFill>
                <a:latin typeface="Calibri"/>
              </a:defRPr>
            </a:pPr>
            <a:r>
              <a:t>11.6%</a:t>
            </a:r>
          </a:p>
        </p:txBody>
      </p:sp>
      <p:sp>
        <p:nvSpPr>
          <p:cNvPr id="93" name="Rectangle 92"/>
          <p:cNvSpPr/>
          <p:nvPr/>
        </p:nvSpPr>
        <p:spPr>
          <a:xfrm>
            <a:off x="8412480" y="3584448"/>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412480" y="3584448"/>
            <a:ext cx="1097280" cy="256032"/>
          </a:xfrm>
          <a:prstGeom prst="rect">
            <a:avLst/>
          </a:prstGeom>
          <a:noFill/>
        </p:spPr>
        <p:txBody>
          <a:bodyPr wrap="square">
            <a:spAutoFit/>
          </a:bodyPr>
          <a:lstStyle/>
          <a:p>
            <a:pPr algn="ctr">
              <a:defRPr sz="1000" b="0">
                <a:solidFill>
                  <a:srgbClr val="323232"/>
                </a:solidFill>
                <a:latin typeface="Calibri"/>
              </a:defRPr>
            </a:pPr>
            <a:r>
              <a:t>17.0%</a:t>
            </a:r>
          </a:p>
        </p:txBody>
      </p:sp>
      <p:sp>
        <p:nvSpPr>
          <p:cNvPr id="95" name="Rectangle 94"/>
          <p:cNvSpPr/>
          <p:nvPr/>
        </p:nvSpPr>
        <p:spPr>
          <a:xfrm>
            <a:off x="9509760" y="3584448"/>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9509760" y="3584448"/>
            <a:ext cx="1097280" cy="256032"/>
          </a:xfrm>
          <a:prstGeom prst="rect">
            <a:avLst/>
          </a:prstGeom>
          <a:noFill/>
        </p:spPr>
        <p:txBody>
          <a:bodyPr wrap="square">
            <a:spAutoFit/>
          </a:bodyPr>
          <a:lstStyle/>
          <a:p>
            <a:pPr algn="ctr">
              <a:defRPr sz="1000" b="0">
                <a:solidFill>
                  <a:srgbClr val="323232"/>
                </a:solidFill>
                <a:latin typeface="Calibri"/>
              </a:defRPr>
            </a:pPr>
            <a:r>
              <a:t>12.0%</a:t>
            </a:r>
          </a:p>
        </p:txBody>
      </p:sp>
      <p:sp>
        <p:nvSpPr>
          <p:cNvPr id="97" name="Rectangle 96"/>
          <p:cNvSpPr/>
          <p:nvPr/>
        </p:nvSpPr>
        <p:spPr>
          <a:xfrm>
            <a:off x="10607040" y="3584448"/>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607040" y="3584448"/>
            <a:ext cx="1097280" cy="256032"/>
          </a:xfrm>
          <a:prstGeom prst="rect">
            <a:avLst/>
          </a:prstGeom>
          <a:noFill/>
        </p:spPr>
        <p:txBody>
          <a:bodyPr wrap="square">
            <a:spAutoFit/>
          </a:bodyPr>
          <a:lstStyle/>
          <a:p>
            <a:pPr algn="ctr">
              <a:defRPr sz="1000" b="0">
                <a:solidFill>
                  <a:srgbClr val="2E7D32"/>
                </a:solidFill>
                <a:latin typeface="Calibri"/>
              </a:defRPr>
            </a:pPr>
            <a:r>
              <a:t>12.0%</a:t>
            </a:r>
          </a:p>
        </p:txBody>
      </p:sp>
      <p:sp>
        <p:nvSpPr>
          <p:cNvPr id="99" name="Rectangle 98"/>
          <p:cNvSpPr/>
          <p:nvPr/>
        </p:nvSpPr>
        <p:spPr>
          <a:xfrm>
            <a:off x="6217920" y="3840480"/>
            <a:ext cx="10972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217920" y="3840480"/>
            <a:ext cx="1097280" cy="256032"/>
          </a:xfrm>
          <a:prstGeom prst="rect">
            <a:avLst/>
          </a:prstGeom>
          <a:noFill/>
        </p:spPr>
        <p:txBody>
          <a:bodyPr wrap="square">
            <a:spAutoFit/>
          </a:bodyPr>
          <a:lstStyle/>
          <a:p>
            <a:pPr algn="ctr">
              <a:defRPr sz="1000" b="0">
                <a:solidFill>
                  <a:srgbClr val="323232"/>
                </a:solidFill>
                <a:latin typeface="Calibri"/>
              </a:defRPr>
            </a:pPr>
            <a:r>
              <a:t>Efficiency Ratio</a:t>
            </a:r>
          </a:p>
        </p:txBody>
      </p:sp>
      <p:sp>
        <p:nvSpPr>
          <p:cNvPr id="101" name="Rectangle 100"/>
          <p:cNvSpPr/>
          <p:nvPr/>
        </p:nvSpPr>
        <p:spPr>
          <a:xfrm>
            <a:off x="7315200" y="3840480"/>
            <a:ext cx="10972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315200" y="3840480"/>
            <a:ext cx="1097280" cy="256032"/>
          </a:xfrm>
          <a:prstGeom prst="rect">
            <a:avLst/>
          </a:prstGeom>
          <a:noFill/>
        </p:spPr>
        <p:txBody>
          <a:bodyPr wrap="square">
            <a:spAutoFit/>
          </a:bodyPr>
          <a:lstStyle/>
          <a:p>
            <a:pPr algn="ctr">
              <a:defRPr sz="1000" b="0">
                <a:solidFill>
                  <a:srgbClr val="323232"/>
                </a:solidFill>
                <a:latin typeface="Calibri"/>
              </a:defRPr>
            </a:pPr>
            <a:r>
              <a:t>61.2%</a:t>
            </a:r>
          </a:p>
        </p:txBody>
      </p:sp>
      <p:sp>
        <p:nvSpPr>
          <p:cNvPr id="103" name="Rectangle 102"/>
          <p:cNvSpPr/>
          <p:nvPr/>
        </p:nvSpPr>
        <p:spPr>
          <a:xfrm>
            <a:off x="8412480" y="3840480"/>
            <a:ext cx="10972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412480" y="3840480"/>
            <a:ext cx="1097280" cy="256032"/>
          </a:xfrm>
          <a:prstGeom prst="rect">
            <a:avLst/>
          </a:prstGeom>
          <a:noFill/>
        </p:spPr>
        <p:txBody>
          <a:bodyPr wrap="square">
            <a:spAutoFit/>
          </a:bodyPr>
          <a:lstStyle/>
          <a:p>
            <a:pPr algn="ctr">
              <a:defRPr sz="1000" b="0">
                <a:solidFill>
                  <a:srgbClr val="323232"/>
                </a:solidFill>
                <a:latin typeface="Calibri"/>
              </a:defRPr>
            </a:pPr>
            <a:r>
              <a:t>55%</a:t>
            </a:r>
          </a:p>
        </p:txBody>
      </p:sp>
      <p:sp>
        <p:nvSpPr>
          <p:cNvPr id="105" name="Rectangle 104"/>
          <p:cNvSpPr/>
          <p:nvPr/>
        </p:nvSpPr>
        <p:spPr>
          <a:xfrm>
            <a:off x="9509760" y="3840480"/>
            <a:ext cx="10972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509760" y="3840480"/>
            <a:ext cx="1097280" cy="256032"/>
          </a:xfrm>
          <a:prstGeom prst="rect">
            <a:avLst/>
          </a:prstGeom>
          <a:noFill/>
        </p:spPr>
        <p:txBody>
          <a:bodyPr wrap="square">
            <a:spAutoFit/>
          </a:bodyPr>
          <a:lstStyle/>
          <a:p>
            <a:pPr algn="ctr">
              <a:defRPr sz="1000" b="0">
                <a:solidFill>
                  <a:srgbClr val="323232"/>
                </a:solidFill>
                <a:latin typeface="Calibri"/>
              </a:defRPr>
            </a:pPr>
            <a:r>
              <a:t>—</a:t>
            </a:r>
          </a:p>
        </p:txBody>
      </p:sp>
      <p:sp>
        <p:nvSpPr>
          <p:cNvPr id="107" name="Rectangle 106"/>
          <p:cNvSpPr/>
          <p:nvPr/>
        </p:nvSpPr>
        <p:spPr>
          <a:xfrm>
            <a:off x="10607040" y="3840480"/>
            <a:ext cx="10972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0607040" y="3840480"/>
            <a:ext cx="1097280" cy="256032"/>
          </a:xfrm>
          <a:prstGeom prst="rect">
            <a:avLst/>
          </a:prstGeom>
          <a:noFill/>
        </p:spPr>
        <p:txBody>
          <a:bodyPr wrap="square">
            <a:spAutoFit/>
          </a:bodyPr>
          <a:lstStyle/>
          <a:p>
            <a:pPr algn="ctr">
              <a:defRPr sz="1000" b="0">
                <a:solidFill>
                  <a:srgbClr val="2E7D32"/>
                </a:solidFill>
                <a:latin typeface="Calibri"/>
              </a:defRPr>
            </a:pPr>
            <a:r>
              <a:t>58%</a:t>
            </a:r>
          </a:p>
        </p:txBody>
      </p:sp>
      <p:sp>
        <p:nvSpPr>
          <p:cNvPr id="109" name="Rectangle 108"/>
          <p:cNvSpPr/>
          <p:nvPr/>
        </p:nvSpPr>
        <p:spPr>
          <a:xfrm>
            <a:off x="6217920" y="4096512"/>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6217920" y="4096512"/>
            <a:ext cx="1097280" cy="256032"/>
          </a:xfrm>
          <a:prstGeom prst="rect">
            <a:avLst/>
          </a:prstGeom>
          <a:noFill/>
        </p:spPr>
        <p:txBody>
          <a:bodyPr wrap="square">
            <a:spAutoFit/>
          </a:bodyPr>
          <a:lstStyle/>
          <a:p>
            <a:pPr algn="ctr">
              <a:defRPr sz="1000" b="1">
                <a:solidFill>
                  <a:srgbClr val="323232"/>
                </a:solidFill>
                <a:latin typeface="Calibri"/>
              </a:defRPr>
            </a:pPr>
            <a:r>
              <a:t>Tech Spend</a:t>
            </a:r>
          </a:p>
        </p:txBody>
      </p:sp>
      <p:sp>
        <p:nvSpPr>
          <p:cNvPr id="111" name="Rectangle 110"/>
          <p:cNvSpPr/>
          <p:nvPr/>
        </p:nvSpPr>
        <p:spPr>
          <a:xfrm>
            <a:off x="7315200" y="4096512"/>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315200" y="4096512"/>
            <a:ext cx="1097280" cy="256032"/>
          </a:xfrm>
          <a:prstGeom prst="rect">
            <a:avLst/>
          </a:prstGeom>
          <a:noFill/>
        </p:spPr>
        <p:txBody>
          <a:bodyPr wrap="square">
            <a:spAutoFit/>
          </a:bodyPr>
          <a:lstStyle/>
          <a:p>
            <a:pPr algn="ctr">
              <a:defRPr sz="1000" b="1">
                <a:solidFill>
                  <a:srgbClr val="323232"/>
                </a:solidFill>
                <a:latin typeface="Calibri"/>
              </a:defRPr>
            </a:pPr>
            <a:r>
              <a:t>$3.5B</a:t>
            </a:r>
          </a:p>
        </p:txBody>
      </p:sp>
      <p:sp>
        <p:nvSpPr>
          <p:cNvPr id="113" name="Rectangle 112"/>
          <p:cNvSpPr/>
          <p:nvPr/>
        </p:nvSpPr>
        <p:spPr>
          <a:xfrm>
            <a:off x="8412480" y="4096512"/>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8412480" y="4096512"/>
            <a:ext cx="1097280" cy="256032"/>
          </a:xfrm>
          <a:prstGeom prst="rect">
            <a:avLst/>
          </a:prstGeom>
          <a:noFill/>
        </p:spPr>
        <p:txBody>
          <a:bodyPr wrap="square">
            <a:spAutoFit/>
          </a:bodyPr>
          <a:lstStyle/>
          <a:p>
            <a:pPr algn="ctr">
              <a:defRPr sz="1000" b="1">
                <a:solidFill>
                  <a:srgbClr val="323232"/>
                </a:solidFill>
                <a:latin typeface="Calibri"/>
              </a:defRPr>
            </a:pPr>
            <a:r>
              <a:t>$15B+</a:t>
            </a:r>
          </a:p>
        </p:txBody>
      </p:sp>
      <p:sp>
        <p:nvSpPr>
          <p:cNvPr id="115" name="Rectangle 114"/>
          <p:cNvSpPr/>
          <p:nvPr/>
        </p:nvSpPr>
        <p:spPr>
          <a:xfrm>
            <a:off x="9509760" y="4096512"/>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9509760" y="4096512"/>
            <a:ext cx="1097280" cy="256032"/>
          </a:xfrm>
          <a:prstGeom prst="rect">
            <a:avLst/>
          </a:prstGeom>
          <a:noFill/>
        </p:spPr>
        <p:txBody>
          <a:bodyPr wrap="square">
            <a:spAutoFit/>
          </a:bodyPr>
          <a:lstStyle/>
          <a:p>
            <a:pPr algn="ctr">
              <a:defRPr sz="1000" b="1">
                <a:solidFill>
                  <a:srgbClr val="323232"/>
                </a:solidFill>
                <a:latin typeface="Calibri"/>
              </a:defRPr>
            </a:pPr>
            <a:r>
              <a:t>—</a:t>
            </a:r>
          </a:p>
        </p:txBody>
      </p:sp>
      <p:sp>
        <p:nvSpPr>
          <p:cNvPr id="117" name="Rectangle 116"/>
          <p:cNvSpPr/>
          <p:nvPr/>
        </p:nvSpPr>
        <p:spPr>
          <a:xfrm>
            <a:off x="10607040" y="4096512"/>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0607040" y="4096512"/>
            <a:ext cx="1097280" cy="256032"/>
          </a:xfrm>
          <a:prstGeom prst="rect">
            <a:avLst/>
          </a:prstGeom>
          <a:noFill/>
        </p:spPr>
        <p:txBody>
          <a:bodyPr wrap="square">
            <a:spAutoFit/>
          </a:bodyPr>
          <a:lstStyle/>
          <a:p>
            <a:pPr algn="ctr">
              <a:defRPr sz="1000" b="1">
                <a:solidFill>
                  <a:srgbClr val="323232"/>
                </a:solidFill>
                <a:latin typeface="Calibri"/>
              </a:defRPr>
            </a:pPr>
            <a:r>
              <a:t>—</a:t>
            </a:r>
          </a:p>
        </p:txBody>
      </p:sp>
      <p:sp>
        <p:nvSpPr>
          <p:cNvPr id="119" name="TextBox 118"/>
          <p:cNvSpPr txBox="1"/>
          <p:nvPr/>
        </p:nvSpPr>
        <p:spPr>
          <a:xfrm>
            <a:off x="6217920" y="4663440"/>
            <a:ext cx="5486400" cy="320040"/>
          </a:xfrm>
          <a:prstGeom prst="rect">
            <a:avLst/>
          </a:prstGeom>
          <a:noFill/>
        </p:spPr>
        <p:txBody>
          <a:bodyPr wrap="square">
            <a:spAutoFit/>
          </a:bodyPr>
          <a:lstStyle/>
          <a:p>
            <a:pPr algn="l">
              <a:defRPr sz="1200" b="1">
                <a:solidFill>
                  <a:srgbClr val="002952"/>
                </a:solidFill>
                <a:latin typeface="Calibri"/>
              </a:defRPr>
            </a:pPr>
            <a:r>
              <a:t>AI Auto-Discovered Insights:</a:t>
            </a:r>
          </a:p>
        </p:txBody>
      </p:sp>
      <p:sp>
        <p:nvSpPr>
          <p:cNvPr id="120" name="TextBox 119"/>
          <p:cNvSpPr txBox="1"/>
          <p:nvPr/>
        </p:nvSpPr>
        <p:spPr>
          <a:xfrm>
            <a:off x="6309360" y="5029200"/>
            <a:ext cx="5212080" cy="365760"/>
          </a:xfrm>
          <a:prstGeom prst="rect">
            <a:avLst/>
          </a:prstGeom>
          <a:noFill/>
        </p:spPr>
        <p:txBody>
          <a:bodyPr wrap="square">
            <a:spAutoFit/>
          </a:bodyPr>
          <a:lstStyle/>
          <a:p>
            <a:pPr algn="l">
              <a:defRPr sz="1100" b="0">
                <a:solidFill>
                  <a:srgbClr val="323232"/>
                </a:solidFill>
                <a:latin typeface="Calibri"/>
              </a:defRPr>
            </a:pPr>
            <a:r>
              <a:rPr sz="1100">
                <a:solidFill>
                  <a:srgbClr val="0066B2"/>
                </a:solidFill>
                <a:latin typeface="Calibri"/>
              </a:rPr>
              <a:t>▸  </a:t>
            </a:r>
            <a:r>
              <a:rPr sz="1100" b="1">
                <a:solidFill>
                  <a:srgbClr val="323232"/>
                </a:solidFill>
                <a:latin typeface="Calibri"/>
              </a:rPr>
              <a:t>Efficiency gap: </a:t>
            </a:r>
            <a:r>
              <a:rPr sz="1100">
                <a:solidFill>
                  <a:srgbClr val="323232"/>
                </a:solidFill>
                <a:latin typeface="Calibri"/>
              </a:rPr>
              <a:t>61.2% vs JPM 55% and PNC 58% — highest-impact transformation area</a:t>
            </a:r>
          </a:p>
        </p:txBody>
      </p:sp>
      <p:sp>
        <p:nvSpPr>
          <p:cNvPr id="121" name="TextBox 120"/>
          <p:cNvSpPr txBox="1"/>
          <p:nvPr/>
        </p:nvSpPr>
        <p:spPr>
          <a:xfrm>
            <a:off x="6309360" y="5413248"/>
            <a:ext cx="5212080" cy="365760"/>
          </a:xfrm>
          <a:prstGeom prst="rect">
            <a:avLst/>
          </a:prstGeom>
          <a:noFill/>
        </p:spPr>
        <p:txBody>
          <a:bodyPr wrap="square">
            <a:spAutoFit/>
          </a:bodyPr>
          <a:lstStyle/>
          <a:p>
            <a:pPr algn="l">
              <a:defRPr sz="1100" b="0">
                <a:solidFill>
                  <a:srgbClr val="323232"/>
                </a:solidFill>
                <a:latin typeface="Calibri"/>
              </a:defRPr>
            </a:pPr>
            <a:r>
              <a:rPr sz="1100">
                <a:solidFill>
                  <a:srgbClr val="0066B2"/>
                </a:solidFill>
                <a:latin typeface="Calibri"/>
              </a:rPr>
              <a:t>▸  </a:t>
            </a:r>
            <a:r>
              <a:rPr sz="1100" b="1">
                <a:solidFill>
                  <a:srgbClr val="323232"/>
                </a:solidFill>
                <a:latin typeface="Calibri"/>
              </a:rPr>
              <a:t>Tech spend constraint: </a:t>
            </a:r>
            <a:r>
              <a:rPr sz="1100">
                <a:solidFill>
                  <a:srgbClr val="323232"/>
                </a:solidFill>
                <a:latin typeface="Calibri"/>
              </a:rPr>
              <a:t>$3.5B is 25% of JPM’s $15B — requires AI-first, not outspend, strategy</a:t>
            </a:r>
          </a:p>
        </p:txBody>
      </p:sp>
      <p:sp>
        <p:nvSpPr>
          <p:cNvPr id="122" name="TextBox 121"/>
          <p:cNvSpPr txBox="1"/>
          <p:nvPr/>
        </p:nvSpPr>
        <p:spPr>
          <a:xfrm>
            <a:off x="6309360" y="5797296"/>
            <a:ext cx="5212080" cy="365760"/>
          </a:xfrm>
          <a:prstGeom prst="rect">
            <a:avLst/>
          </a:prstGeom>
          <a:noFill/>
        </p:spPr>
        <p:txBody>
          <a:bodyPr wrap="square">
            <a:spAutoFit/>
          </a:bodyPr>
          <a:lstStyle/>
          <a:p>
            <a:pPr algn="l">
              <a:defRPr sz="1100" b="0">
                <a:solidFill>
                  <a:srgbClr val="323232"/>
                </a:solidFill>
                <a:latin typeface="Calibri"/>
              </a:defRPr>
            </a:pPr>
            <a:r>
              <a:rPr sz="1100">
                <a:solidFill>
                  <a:srgbClr val="0066B2"/>
                </a:solidFill>
                <a:latin typeface="Calibri"/>
              </a:rPr>
              <a:t>▸  </a:t>
            </a:r>
            <a:r>
              <a:rPr sz="1100" b="1">
                <a:solidFill>
                  <a:srgbClr val="323232"/>
                </a:solidFill>
                <a:latin typeface="Calibri"/>
              </a:rPr>
              <a:t>Payment leadership: </a:t>
            </a:r>
            <a:r>
              <a:rPr sz="1100">
                <a:solidFill>
                  <a:srgbClr val="323232"/>
                </a:solidFill>
                <a:latin typeface="Calibri"/>
              </a:rPr>
              <a:t>Elavon $500B+ volume underleveraged for real-time settlement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48640"/>
          </a:xfrm>
          <a:prstGeom prst="rect">
            <a:avLst/>
          </a:prstGeom>
          <a:noFill/>
        </p:spPr>
        <p:txBody>
          <a:bodyPr wrap="square">
            <a:spAutoFit/>
          </a:bodyPr>
          <a:lstStyle/>
          <a:p>
            <a:pPr algn="l">
              <a:defRPr sz="2800" b="1">
                <a:solidFill>
                  <a:srgbClr val="002952"/>
                </a:solidFill>
                <a:latin typeface="Calibri"/>
              </a:defRPr>
            </a:pPr>
            <a:r>
              <a:t>Case Study: Steps 2-3 — Value Streams, SWOT &amp; TOWS Actions</a:t>
            </a:r>
          </a:p>
        </p:txBody>
      </p:sp>
      <p:sp>
        <p:nvSpPr>
          <p:cNvPr id="4" name="TextBox 3"/>
          <p:cNvSpPr txBox="1"/>
          <p:nvPr/>
        </p:nvSpPr>
        <p:spPr>
          <a:xfrm>
            <a:off x="548640" y="777240"/>
            <a:ext cx="10972800" cy="411480"/>
          </a:xfrm>
          <a:prstGeom prst="rect">
            <a:avLst/>
          </a:prstGeom>
          <a:noFill/>
        </p:spPr>
        <p:txBody>
          <a:bodyPr wrap="square">
            <a:spAutoFit/>
          </a:bodyPr>
          <a:lstStyle/>
          <a:p>
            <a:pPr algn="l">
              <a:defRPr sz="1300" b="0">
                <a:solidFill>
                  <a:srgbClr val="787878"/>
                </a:solidFill>
                <a:latin typeface="Calibri"/>
              </a:defRPr>
            </a:pPr>
            <a:r>
              <a:t>AI mapped 4 value streams (17 steps), identified bottlenecks, then synthesized into 16 SWOT entries and 6 strategic actions</a:t>
            </a:r>
          </a:p>
        </p:txBody>
      </p:sp>
      <p:sp>
        <p:nvSpPr>
          <p:cNvPr id="5" name="TextBox 4"/>
          <p:cNvSpPr txBox="1"/>
          <p:nvPr/>
        </p:nvSpPr>
        <p:spPr>
          <a:xfrm>
            <a:off x="548640" y="1280160"/>
            <a:ext cx="5669280" cy="320040"/>
          </a:xfrm>
          <a:prstGeom prst="rect">
            <a:avLst/>
          </a:prstGeom>
          <a:noFill/>
        </p:spPr>
        <p:txBody>
          <a:bodyPr wrap="square">
            <a:spAutoFit/>
          </a:bodyPr>
          <a:lstStyle/>
          <a:p>
            <a:pPr algn="l">
              <a:defRPr sz="1400" b="1">
                <a:solidFill>
                  <a:srgbClr val="002952"/>
                </a:solidFill>
                <a:latin typeface="Calibri"/>
              </a:defRPr>
            </a:pPr>
            <a:r>
              <a:t>Step 2: Value Stream Mapping (3 minutes)</a:t>
            </a:r>
          </a:p>
        </p:txBody>
      </p:sp>
      <p:sp>
        <p:nvSpPr>
          <p:cNvPr id="6" name="TextBox 5"/>
          <p:cNvSpPr txBox="1"/>
          <p:nvPr/>
        </p:nvSpPr>
        <p:spPr>
          <a:xfrm>
            <a:off x="548640" y="1645920"/>
            <a:ext cx="5669280" cy="548640"/>
          </a:xfrm>
          <a:prstGeom prst="rect">
            <a:avLst/>
          </a:prstGeom>
          <a:noFill/>
        </p:spPr>
        <p:txBody>
          <a:bodyPr wrap="square">
            <a:spAutoFit/>
          </a:bodyPr>
          <a:lstStyle/>
          <a:p>
            <a:pPr algn="l">
              <a:defRPr sz="1100" b="0">
                <a:solidFill>
                  <a:srgbClr val="323232"/>
                </a:solidFill>
                <a:latin typeface="Calibri"/>
              </a:defRPr>
            </a:pPr>
            <a:r>
              <a:t>The platform mapped end-to-end processes, calculated flow efficiency, and identified bottlenecks with wait-to-process ratios — replacing 4-8 weeks of Lean workshops:</a:t>
            </a:r>
          </a:p>
        </p:txBody>
      </p:sp>
      <p:sp>
        <p:nvSpPr>
          <p:cNvPr id="7" name="Rectangle 6"/>
          <p:cNvSpPr/>
          <p:nvPr/>
        </p:nvSpPr>
        <p:spPr>
          <a:xfrm>
            <a:off x="548640" y="2286000"/>
            <a:ext cx="188976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286000"/>
            <a:ext cx="1889760" cy="256032"/>
          </a:xfrm>
          <a:prstGeom prst="rect">
            <a:avLst/>
          </a:prstGeom>
          <a:noFill/>
        </p:spPr>
        <p:txBody>
          <a:bodyPr wrap="square">
            <a:spAutoFit/>
          </a:bodyPr>
          <a:lstStyle/>
          <a:p>
            <a:pPr algn="ctr">
              <a:defRPr sz="1000" b="1">
                <a:solidFill>
                  <a:srgbClr val="FFFFFF"/>
                </a:solidFill>
                <a:latin typeface="Calibri"/>
              </a:defRPr>
            </a:pPr>
            <a:r>
              <a:t>Value Stream</a:t>
            </a:r>
          </a:p>
        </p:txBody>
      </p:sp>
      <p:sp>
        <p:nvSpPr>
          <p:cNvPr id="9" name="Rectangle 8"/>
          <p:cNvSpPr/>
          <p:nvPr/>
        </p:nvSpPr>
        <p:spPr>
          <a:xfrm>
            <a:off x="2438400" y="2286000"/>
            <a:ext cx="188976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38400" y="2286000"/>
            <a:ext cx="1889760" cy="256032"/>
          </a:xfrm>
          <a:prstGeom prst="rect">
            <a:avLst/>
          </a:prstGeom>
          <a:noFill/>
        </p:spPr>
        <p:txBody>
          <a:bodyPr wrap="square">
            <a:spAutoFit/>
          </a:bodyPr>
          <a:lstStyle/>
          <a:p>
            <a:pPr algn="ctr">
              <a:defRPr sz="1000" b="1">
                <a:solidFill>
                  <a:srgbClr val="FFFFFF"/>
                </a:solidFill>
                <a:latin typeface="Calibri"/>
              </a:defRPr>
            </a:pPr>
            <a:r>
              <a:t>Steps</a:t>
            </a:r>
          </a:p>
        </p:txBody>
      </p:sp>
      <p:sp>
        <p:nvSpPr>
          <p:cNvPr id="11" name="Rectangle 10"/>
          <p:cNvSpPr/>
          <p:nvPr/>
        </p:nvSpPr>
        <p:spPr>
          <a:xfrm>
            <a:off x="4328160" y="2286000"/>
            <a:ext cx="188976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8160" y="2286000"/>
            <a:ext cx="1889760" cy="256032"/>
          </a:xfrm>
          <a:prstGeom prst="rect">
            <a:avLst/>
          </a:prstGeom>
          <a:noFill/>
        </p:spPr>
        <p:txBody>
          <a:bodyPr wrap="square">
            <a:spAutoFit/>
          </a:bodyPr>
          <a:lstStyle/>
          <a:p>
            <a:pPr algn="ctr">
              <a:defRPr sz="1000" b="1">
                <a:solidFill>
                  <a:srgbClr val="FFFFFF"/>
                </a:solidFill>
                <a:latin typeface="Calibri"/>
              </a:defRPr>
            </a:pPr>
            <a:r>
              <a:t>Bottleneck Identified</a:t>
            </a:r>
          </a:p>
        </p:txBody>
      </p:sp>
      <p:sp>
        <p:nvSpPr>
          <p:cNvPr id="13" name="Rectangle 12"/>
          <p:cNvSpPr/>
          <p:nvPr/>
        </p:nvSpPr>
        <p:spPr>
          <a:xfrm>
            <a:off x="548640" y="2542032"/>
            <a:ext cx="188976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542032"/>
            <a:ext cx="1889760" cy="256032"/>
          </a:xfrm>
          <a:prstGeom prst="rect">
            <a:avLst/>
          </a:prstGeom>
          <a:noFill/>
        </p:spPr>
        <p:txBody>
          <a:bodyPr wrap="square">
            <a:spAutoFit/>
          </a:bodyPr>
          <a:lstStyle/>
          <a:p>
            <a:pPr algn="ctr">
              <a:defRPr sz="1000" b="0">
                <a:solidFill>
                  <a:srgbClr val="323232"/>
                </a:solidFill>
                <a:latin typeface="Calibri"/>
              </a:defRPr>
            </a:pPr>
            <a:r>
              <a:t>Digital Mortgage Origination</a:t>
            </a:r>
          </a:p>
        </p:txBody>
      </p:sp>
      <p:sp>
        <p:nvSpPr>
          <p:cNvPr id="15" name="Rectangle 14"/>
          <p:cNvSpPr/>
          <p:nvPr/>
        </p:nvSpPr>
        <p:spPr>
          <a:xfrm>
            <a:off x="2438400" y="2542032"/>
            <a:ext cx="188976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38400" y="2542032"/>
            <a:ext cx="1889760" cy="256032"/>
          </a:xfrm>
          <a:prstGeom prst="rect">
            <a:avLst/>
          </a:prstGeom>
          <a:noFill/>
        </p:spPr>
        <p:txBody>
          <a:bodyPr wrap="square">
            <a:spAutoFit/>
          </a:bodyPr>
          <a:lstStyle/>
          <a:p>
            <a:pPr algn="ctr">
              <a:defRPr sz="1000" b="0">
                <a:solidFill>
                  <a:srgbClr val="323232"/>
                </a:solidFill>
                <a:latin typeface="Calibri"/>
              </a:defRPr>
            </a:pPr>
            <a:r>
              <a:t>7</a:t>
            </a:r>
          </a:p>
        </p:txBody>
      </p:sp>
      <p:sp>
        <p:nvSpPr>
          <p:cNvPr id="17" name="Rectangle 16"/>
          <p:cNvSpPr/>
          <p:nvPr/>
        </p:nvSpPr>
        <p:spPr>
          <a:xfrm>
            <a:off x="4328160" y="2542032"/>
            <a:ext cx="188976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8160" y="2542032"/>
            <a:ext cx="1889760" cy="256032"/>
          </a:xfrm>
          <a:prstGeom prst="rect">
            <a:avLst/>
          </a:prstGeom>
          <a:noFill/>
        </p:spPr>
        <p:txBody>
          <a:bodyPr wrap="square">
            <a:spAutoFit/>
          </a:bodyPr>
          <a:lstStyle/>
          <a:p>
            <a:pPr algn="ctr">
              <a:defRPr sz="1000" b="0">
                <a:solidFill>
                  <a:srgbClr val="323232"/>
                </a:solidFill>
                <a:latin typeface="Calibri"/>
              </a:defRPr>
            </a:pPr>
            <a:r>
              <a:t>Manual underwriter review (48hr wait)</a:t>
            </a:r>
          </a:p>
        </p:txBody>
      </p:sp>
      <p:sp>
        <p:nvSpPr>
          <p:cNvPr id="19" name="Rectangle 18"/>
          <p:cNvSpPr/>
          <p:nvPr/>
        </p:nvSpPr>
        <p:spPr>
          <a:xfrm>
            <a:off x="548640" y="2798064"/>
            <a:ext cx="18897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2798064"/>
            <a:ext cx="1889760" cy="256032"/>
          </a:xfrm>
          <a:prstGeom prst="rect">
            <a:avLst/>
          </a:prstGeom>
          <a:noFill/>
        </p:spPr>
        <p:txBody>
          <a:bodyPr wrap="square">
            <a:spAutoFit/>
          </a:bodyPr>
          <a:lstStyle/>
          <a:p>
            <a:pPr algn="ctr">
              <a:defRPr sz="1000" b="0">
                <a:solidFill>
                  <a:srgbClr val="323232"/>
                </a:solidFill>
                <a:latin typeface="Calibri"/>
              </a:defRPr>
            </a:pPr>
            <a:r>
              <a:t>Merchant Payment Processing</a:t>
            </a:r>
          </a:p>
        </p:txBody>
      </p:sp>
      <p:sp>
        <p:nvSpPr>
          <p:cNvPr id="21" name="Rectangle 20"/>
          <p:cNvSpPr/>
          <p:nvPr/>
        </p:nvSpPr>
        <p:spPr>
          <a:xfrm>
            <a:off x="2438400" y="2798064"/>
            <a:ext cx="18897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38400" y="2798064"/>
            <a:ext cx="1889760" cy="256032"/>
          </a:xfrm>
          <a:prstGeom prst="rect">
            <a:avLst/>
          </a:prstGeom>
          <a:noFill/>
        </p:spPr>
        <p:txBody>
          <a:bodyPr wrap="square">
            <a:spAutoFit/>
          </a:bodyPr>
          <a:lstStyle/>
          <a:p>
            <a:pPr algn="ctr">
              <a:defRPr sz="1000" b="0">
                <a:solidFill>
                  <a:srgbClr val="323232"/>
                </a:solidFill>
                <a:latin typeface="Calibri"/>
              </a:defRPr>
            </a:pPr>
            <a:r>
              <a:t>5</a:t>
            </a:r>
          </a:p>
        </p:txBody>
      </p:sp>
      <p:sp>
        <p:nvSpPr>
          <p:cNvPr id="23" name="Rectangle 22"/>
          <p:cNvSpPr/>
          <p:nvPr/>
        </p:nvSpPr>
        <p:spPr>
          <a:xfrm>
            <a:off x="4328160" y="2798064"/>
            <a:ext cx="18897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28160" y="2798064"/>
            <a:ext cx="1889760" cy="256032"/>
          </a:xfrm>
          <a:prstGeom prst="rect">
            <a:avLst/>
          </a:prstGeom>
          <a:noFill/>
        </p:spPr>
        <p:txBody>
          <a:bodyPr wrap="square">
            <a:spAutoFit/>
          </a:bodyPr>
          <a:lstStyle/>
          <a:p>
            <a:pPr algn="ctr">
              <a:defRPr sz="1000" b="0">
                <a:solidFill>
                  <a:srgbClr val="323232"/>
                </a:solidFill>
                <a:latin typeface="Calibri"/>
              </a:defRPr>
            </a:pPr>
            <a:r>
              <a:t>T+1 batch settlement (12-24hr delay)</a:t>
            </a:r>
          </a:p>
        </p:txBody>
      </p:sp>
      <p:sp>
        <p:nvSpPr>
          <p:cNvPr id="25" name="Rectangle 24"/>
          <p:cNvSpPr/>
          <p:nvPr/>
        </p:nvSpPr>
        <p:spPr>
          <a:xfrm>
            <a:off x="548640" y="3054096"/>
            <a:ext cx="188976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054096"/>
            <a:ext cx="1889760" cy="256032"/>
          </a:xfrm>
          <a:prstGeom prst="rect">
            <a:avLst/>
          </a:prstGeom>
          <a:noFill/>
        </p:spPr>
        <p:txBody>
          <a:bodyPr wrap="square">
            <a:spAutoFit/>
          </a:bodyPr>
          <a:lstStyle/>
          <a:p>
            <a:pPr algn="ctr">
              <a:defRPr sz="1000" b="0">
                <a:solidFill>
                  <a:srgbClr val="323232"/>
                </a:solidFill>
                <a:latin typeface="Calibri"/>
              </a:defRPr>
            </a:pPr>
            <a:r>
              <a:t>Digital Account Opening</a:t>
            </a:r>
          </a:p>
        </p:txBody>
      </p:sp>
      <p:sp>
        <p:nvSpPr>
          <p:cNvPr id="27" name="Rectangle 26"/>
          <p:cNvSpPr/>
          <p:nvPr/>
        </p:nvSpPr>
        <p:spPr>
          <a:xfrm>
            <a:off x="2438400" y="3054096"/>
            <a:ext cx="188976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438400" y="3054096"/>
            <a:ext cx="1889760" cy="256032"/>
          </a:xfrm>
          <a:prstGeom prst="rect">
            <a:avLst/>
          </a:prstGeom>
          <a:noFill/>
        </p:spPr>
        <p:txBody>
          <a:bodyPr wrap="square">
            <a:spAutoFit/>
          </a:bodyPr>
          <a:lstStyle/>
          <a:p>
            <a:pPr algn="ctr">
              <a:defRPr sz="1000" b="0">
                <a:solidFill>
                  <a:srgbClr val="323232"/>
                </a:solidFill>
                <a:latin typeface="Calibri"/>
              </a:defRPr>
            </a:pPr>
            <a:r>
              <a:t>5</a:t>
            </a:r>
          </a:p>
        </p:txBody>
      </p:sp>
      <p:sp>
        <p:nvSpPr>
          <p:cNvPr id="29" name="Rectangle 28"/>
          <p:cNvSpPr/>
          <p:nvPr/>
        </p:nvSpPr>
        <p:spPr>
          <a:xfrm>
            <a:off x="4328160" y="3054096"/>
            <a:ext cx="188976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28160" y="3054096"/>
            <a:ext cx="1889760" cy="256032"/>
          </a:xfrm>
          <a:prstGeom prst="rect">
            <a:avLst/>
          </a:prstGeom>
          <a:noFill/>
        </p:spPr>
        <p:txBody>
          <a:bodyPr wrap="square">
            <a:spAutoFit/>
          </a:bodyPr>
          <a:lstStyle/>
          <a:p>
            <a:pPr algn="ctr">
              <a:defRPr sz="1000" b="0">
                <a:solidFill>
                  <a:srgbClr val="323232"/>
                </a:solidFill>
                <a:latin typeface="Calibri"/>
              </a:defRPr>
            </a:pPr>
            <a:r>
              <a:t>8-min avg vs 60-sec target</a:t>
            </a:r>
          </a:p>
        </p:txBody>
      </p:sp>
      <p:sp>
        <p:nvSpPr>
          <p:cNvPr id="31" name="Rectangle 30"/>
          <p:cNvSpPr/>
          <p:nvPr/>
        </p:nvSpPr>
        <p:spPr>
          <a:xfrm>
            <a:off x="548640" y="3310128"/>
            <a:ext cx="18897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3310128"/>
            <a:ext cx="1889760" cy="256032"/>
          </a:xfrm>
          <a:prstGeom prst="rect">
            <a:avLst/>
          </a:prstGeom>
          <a:noFill/>
        </p:spPr>
        <p:txBody>
          <a:bodyPr wrap="square">
            <a:spAutoFit/>
          </a:bodyPr>
          <a:lstStyle/>
          <a:p>
            <a:pPr algn="ctr">
              <a:defRPr sz="1000" b="1">
                <a:solidFill>
                  <a:srgbClr val="323232"/>
                </a:solidFill>
                <a:latin typeface="Calibri"/>
              </a:defRPr>
            </a:pPr>
            <a:r>
              <a:t>Wealth Advisory Onboarding</a:t>
            </a:r>
          </a:p>
        </p:txBody>
      </p:sp>
      <p:sp>
        <p:nvSpPr>
          <p:cNvPr id="33" name="Rectangle 32"/>
          <p:cNvSpPr/>
          <p:nvPr/>
        </p:nvSpPr>
        <p:spPr>
          <a:xfrm>
            <a:off x="2438400" y="3310128"/>
            <a:ext cx="18897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438400" y="3310128"/>
            <a:ext cx="1889760" cy="256032"/>
          </a:xfrm>
          <a:prstGeom prst="rect">
            <a:avLst/>
          </a:prstGeom>
          <a:noFill/>
        </p:spPr>
        <p:txBody>
          <a:bodyPr wrap="square">
            <a:spAutoFit/>
          </a:bodyPr>
          <a:lstStyle/>
          <a:p>
            <a:pPr algn="ctr">
              <a:defRPr sz="1000" b="1">
                <a:solidFill>
                  <a:srgbClr val="323232"/>
                </a:solidFill>
                <a:latin typeface="Calibri"/>
              </a:defRPr>
            </a:pPr>
            <a:r>
              <a:t>4</a:t>
            </a:r>
          </a:p>
        </p:txBody>
      </p:sp>
      <p:sp>
        <p:nvSpPr>
          <p:cNvPr id="35" name="Rectangle 34"/>
          <p:cNvSpPr/>
          <p:nvPr/>
        </p:nvSpPr>
        <p:spPr>
          <a:xfrm>
            <a:off x="4328160" y="3310128"/>
            <a:ext cx="18897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28160" y="3310128"/>
            <a:ext cx="1889760" cy="256032"/>
          </a:xfrm>
          <a:prstGeom prst="rect">
            <a:avLst/>
          </a:prstGeom>
          <a:noFill/>
        </p:spPr>
        <p:txBody>
          <a:bodyPr wrap="square">
            <a:spAutoFit/>
          </a:bodyPr>
          <a:lstStyle/>
          <a:p>
            <a:pPr algn="ctr">
              <a:defRPr sz="1000" b="1">
                <a:solidFill>
                  <a:srgbClr val="323232"/>
                </a:solidFill>
                <a:latin typeface="Calibri"/>
              </a:defRPr>
            </a:pPr>
            <a:r>
              <a:t>Compliance review wait time</a:t>
            </a:r>
          </a:p>
        </p:txBody>
      </p:sp>
      <p:sp>
        <p:nvSpPr>
          <p:cNvPr id="37" name="TextBox 36"/>
          <p:cNvSpPr txBox="1"/>
          <p:nvPr/>
        </p:nvSpPr>
        <p:spPr>
          <a:xfrm>
            <a:off x="548640" y="3657600"/>
            <a:ext cx="5669280" cy="320040"/>
          </a:xfrm>
          <a:prstGeom prst="rect">
            <a:avLst/>
          </a:prstGeom>
          <a:noFill/>
        </p:spPr>
        <p:txBody>
          <a:bodyPr wrap="square">
            <a:spAutoFit/>
          </a:bodyPr>
          <a:lstStyle/>
          <a:p>
            <a:pPr algn="l">
              <a:defRPr sz="1200" b="1">
                <a:solidFill>
                  <a:srgbClr val="002952"/>
                </a:solidFill>
                <a:latin typeface="Calibri"/>
              </a:defRPr>
            </a:pPr>
            <a:r>
              <a:t>AI-Generated Improvement Levers:</a:t>
            </a:r>
          </a:p>
        </p:txBody>
      </p:sp>
      <p:sp>
        <p:nvSpPr>
          <p:cNvPr id="38" name="TextBox 37"/>
          <p:cNvSpPr txBox="1"/>
          <p:nvPr/>
        </p:nvSpPr>
        <p:spPr>
          <a:xfrm>
            <a:off x="640080" y="4023360"/>
            <a:ext cx="5486400" cy="365760"/>
          </a:xfrm>
          <a:prstGeom prst="rect">
            <a:avLst/>
          </a:prstGeom>
          <a:noFill/>
        </p:spPr>
        <p:txBody>
          <a:bodyPr wrap="square">
            <a:spAutoFit/>
          </a:bodyPr>
          <a:lstStyle/>
          <a:p>
            <a:pPr algn="l">
              <a:defRPr sz="1100" b="0">
                <a:solidFill>
                  <a:srgbClr val="323232"/>
                </a:solidFill>
                <a:latin typeface="Calibri"/>
              </a:defRPr>
            </a:pPr>
            <a:r>
              <a:rPr sz="1100">
                <a:solidFill>
                  <a:srgbClr val="2E7D32"/>
                </a:solidFill>
                <a:latin typeface="Calibri"/>
              </a:rPr>
              <a:t>▸  </a:t>
            </a:r>
            <a:r>
              <a:rPr sz="1100" b="1">
                <a:solidFill>
                  <a:srgbClr val="323232"/>
                </a:solidFill>
                <a:latin typeface="Calibri"/>
              </a:rPr>
              <a:t>AI underwriting: </a:t>
            </a:r>
            <a:r>
              <a:rPr sz="1100">
                <a:solidFill>
                  <a:srgbClr val="323232"/>
                </a:solidFill>
                <a:latin typeface="Calibri"/>
              </a:rPr>
              <a:t>Automate 80% of conforming loans (60% manual today)</a:t>
            </a:r>
          </a:p>
        </p:txBody>
      </p:sp>
      <p:sp>
        <p:nvSpPr>
          <p:cNvPr id="39" name="TextBox 38"/>
          <p:cNvSpPr txBox="1"/>
          <p:nvPr/>
        </p:nvSpPr>
        <p:spPr>
          <a:xfrm>
            <a:off x="640080" y="4407408"/>
            <a:ext cx="5486400" cy="365760"/>
          </a:xfrm>
          <a:prstGeom prst="rect">
            <a:avLst/>
          </a:prstGeom>
          <a:noFill/>
        </p:spPr>
        <p:txBody>
          <a:bodyPr wrap="square">
            <a:spAutoFit/>
          </a:bodyPr>
          <a:lstStyle/>
          <a:p>
            <a:pPr algn="l">
              <a:defRPr sz="1100" b="0">
                <a:solidFill>
                  <a:srgbClr val="323232"/>
                </a:solidFill>
                <a:latin typeface="Calibri"/>
              </a:defRPr>
            </a:pPr>
            <a:r>
              <a:rPr sz="1100">
                <a:solidFill>
                  <a:srgbClr val="2E7D32"/>
                </a:solidFill>
                <a:latin typeface="Calibri"/>
              </a:rPr>
              <a:t>▸  </a:t>
            </a:r>
            <a:r>
              <a:rPr sz="1100" b="1">
                <a:solidFill>
                  <a:srgbClr val="323232"/>
                </a:solidFill>
                <a:latin typeface="Calibri"/>
              </a:rPr>
              <a:t>Real-time settlement: </a:t>
            </a:r>
            <a:r>
              <a:rPr sz="1100">
                <a:solidFill>
                  <a:srgbClr val="323232"/>
                </a:solidFill>
                <a:latin typeface="Calibri"/>
              </a:rPr>
              <a:t>FedNow/RTP to replace T+1 batch processing</a:t>
            </a:r>
          </a:p>
        </p:txBody>
      </p:sp>
      <p:sp>
        <p:nvSpPr>
          <p:cNvPr id="40" name="TextBox 39"/>
          <p:cNvSpPr txBox="1"/>
          <p:nvPr/>
        </p:nvSpPr>
        <p:spPr>
          <a:xfrm>
            <a:off x="640080" y="4791456"/>
            <a:ext cx="5486400" cy="365760"/>
          </a:xfrm>
          <a:prstGeom prst="rect">
            <a:avLst/>
          </a:prstGeom>
          <a:noFill/>
        </p:spPr>
        <p:txBody>
          <a:bodyPr wrap="square">
            <a:spAutoFit/>
          </a:bodyPr>
          <a:lstStyle/>
          <a:p>
            <a:pPr algn="l">
              <a:defRPr sz="1100" b="0">
                <a:solidFill>
                  <a:srgbClr val="323232"/>
                </a:solidFill>
                <a:latin typeface="Calibri"/>
              </a:defRPr>
            </a:pPr>
            <a:r>
              <a:rPr sz="1100">
                <a:solidFill>
                  <a:srgbClr val="2E7D32"/>
                </a:solidFill>
                <a:latin typeface="Calibri"/>
              </a:rPr>
              <a:t>▸  </a:t>
            </a:r>
            <a:r>
              <a:rPr sz="1100" b="1">
                <a:solidFill>
                  <a:srgbClr val="323232"/>
                </a:solidFill>
                <a:latin typeface="Calibri"/>
              </a:rPr>
              <a:t>Instant account opening: </a:t>
            </a:r>
            <a:r>
              <a:rPr sz="1100">
                <a:solidFill>
                  <a:srgbClr val="323232"/>
                </a:solidFill>
                <a:latin typeface="Calibri"/>
              </a:rPr>
              <a:t>Sub-60s with virtual debit card provisioning</a:t>
            </a:r>
          </a:p>
        </p:txBody>
      </p:sp>
      <p:sp>
        <p:nvSpPr>
          <p:cNvPr id="41" name="TextBox 40"/>
          <p:cNvSpPr txBox="1"/>
          <p:nvPr/>
        </p:nvSpPr>
        <p:spPr>
          <a:xfrm>
            <a:off x="6583680" y="1280160"/>
            <a:ext cx="5029200" cy="320040"/>
          </a:xfrm>
          <a:prstGeom prst="rect">
            <a:avLst/>
          </a:prstGeom>
          <a:noFill/>
        </p:spPr>
        <p:txBody>
          <a:bodyPr wrap="square">
            <a:spAutoFit/>
          </a:bodyPr>
          <a:lstStyle/>
          <a:p>
            <a:pPr algn="l">
              <a:defRPr sz="1400" b="1">
                <a:solidFill>
                  <a:srgbClr val="002952"/>
                </a:solidFill>
                <a:latin typeface="Calibri"/>
              </a:defRPr>
            </a:pPr>
            <a:r>
              <a:t>Step 3: SWOT → TOWS Engine (90 seconds)</a:t>
            </a:r>
          </a:p>
        </p:txBody>
      </p:sp>
      <p:sp>
        <p:nvSpPr>
          <p:cNvPr id="42" name="TextBox 41"/>
          <p:cNvSpPr txBox="1"/>
          <p:nvPr/>
        </p:nvSpPr>
        <p:spPr>
          <a:xfrm>
            <a:off x="6583680" y="1645920"/>
            <a:ext cx="5029200" cy="548640"/>
          </a:xfrm>
          <a:prstGeom prst="rect">
            <a:avLst/>
          </a:prstGeom>
          <a:noFill/>
        </p:spPr>
        <p:txBody>
          <a:bodyPr wrap="square">
            <a:spAutoFit/>
          </a:bodyPr>
          <a:lstStyle/>
          <a:p>
            <a:pPr algn="l">
              <a:defRPr sz="1100" b="0">
                <a:solidFill>
                  <a:srgbClr val="323232"/>
                </a:solidFill>
                <a:latin typeface="Calibri"/>
              </a:defRPr>
            </a:pPr>
            <a:r>
              <a:t>Every entry cites its data source. Severity and confidence scored. No workshop groupthink — data-weighted analysis:</a:t>
            </a:r>
          </a:p>
        </p:txBody>
      </p:sp>
      <p:sp>
        <p:nvSpPr>
          <p:cNvPr id="43" name="Rounded Rectangle 42"/>
          <p:cNvSpPr/>
          <p:nvPr/>
        </p:nvSpPr>
        <p:spPr>
          <a:xfrm>
            <a:off x="6583680" y="2286000"/>
            <a:ext cx="2377440" cy="1417320"/>
          </a:xfrm>
          <a:prstGeom prst="roundRect">
            <a:avLst/>
          </a:prstGeom>
          <a:solidFill>
            <a:srgbClr val="F0F4F8"/>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75120" y="2331720"/>
            <a:ext cx="2194560" cy="256032"/>
          </a:xfrm>
          <a:prstGeom prst="rect">
            <a:avLst/>
          </a:prstGeom>
          <a:noFill/>
        </p:spPr>
        <p:txBody>
          <a:bodyPr wrap="square">
            <a:spAutoFit/>
          </a:bodyPr>
          <a:lstStyle/>
          <a:p>
            <a:pPr algn="l">
              <a:defRPr sz="1100" b="1">
                <a:solidFill>
                  <a:srgbClr val="2E7D32"/>
                </a:solidFill>
                <a:latin typeface="Calibri"/>
              </a:defRPr>
            </a:pPr>
            <a:r>
              <a:t>Strengths</a:t>
            </a:r>
          </a:p>
        </p:txBody>
      </p:sp>
      <p:sp>
        <p:nvSpPr>
          <p:cNvPr id="45" name="TextBox 44"/>
          <p:cNvSpPr txBox="1"/>
          <p:nvPr/>
        </p:nvSpPr>
        <p:spPr>
          <a:xfrm>
            <a:off x="6720840" y="2606040"/>
            <a:ext cx="2103120" cy="228600"/>
          </a:xfrm>
          <a:prstGeom prst="rect">
            <a:avLst/>
          </a:prstGeom>
          <a:noFill/>
        </p:spPr>
        <p:txBody>
          <a:bodyPr wrap="square">
            <a:spAutoFit/>
          </a:bodyPr>
          <a:lstStyle/>
          <a:p>
            <a:pPr algn="l">
              <a:defRPr sz="850" b="0">
                <a:solidFill>
                  <a:srgbClr val="323232"/>
                </a:solidFill>
                <a:latin typeface="Calibri"/>
              </a:defRPr>
            </a:pPr>
            <a:r>
              <a:t>• #1 corporate payments ($500B+ Elavon)</a:t>
            </a:r>
          </a:p>
        </p:txBody>
      </p:sp>
      <p:sp>
        <p:nvSpPr>
          <p:cNvPr id="46" name="TextBox 45"/>
          <p:cNvSpPr txBox="1"/>
          <p:nvPr/>
        </p:nvSpPr>
        <p:spPr>
          <a:xfrm>
            <a:off x="6720840" y="2852928"/>
            <a:ext cx="2103120" cy="228600"/>
          </a:xfrm>
          <a:prstGeom prst="rect">
            <a:avLst/>
          </a:prstGeom>
          <a:noFill/>
        </p:spPr>
        <p:txBody>
          <a:bodyPr wrap="square">
            <a:spAutoFit/>
          </a:bodyPr>
          <a:lstStyle/>
          <a:p>
            <a:pPr algn="l">
              <a:defRPr sz="850" b="0">
                <a:solidFill>
                  <a:srgbClr val="323232"/>
                </a:solidFill>
                <a:latin typeface="Calibri"/>
              </a:defRPr>
            </a:pPr>
            <a:r>
              <a:t>• Top 5 by assets ($675B), diversified</a:t>
            </a:r>
          </a:p>
        </p:txBody>
      </p:sp>
      <p:sp>
        <p:nvSpPr>
          <p:cNvPr id="47" name="TextBox 46"/>
          <p:cNvSpPr txBox="1"/>
          <p:nvPr/>
        </p:nvSpPr>
        <p:spPr>
          <a:xfrm>
            <a:off x="6720840" y="3099816"/>
            <a:ext cx="2103120" cy="228600"/>
          </a:xfrm>
          <a:prstGeom prst="rect">
            <a:avLst/>
          </a:prstGeom>
          <a:noFill/>
        </p:spPr>
        <p:txBody>
          <a:bodyPr wrap="square">
            <a:spAutoFit/>
          </a:bodyPr>
          <a:lstStyle/>
          <a:p>
            <a:pPr algn="l">
              <a:defRPr sz="850" b="0">
                <a:solidFill>
                  <a:srgbClr val="323232"/>
                </a:solidFill>
                <a:latin typeface="Calibri"/>
              </a:defRPr>
            </a:pPr>
            <a:r>
              <a:t>• 75% digital transactions</a:t>
            </a:r>
          </a:p>
        </p:txBody>
      </p:sp>
      <p:sp>
        <p:nvSpPr>
          <p:cNvPr id="48" name="TextBox 47"/>
          <p:cNvSpPr txBox="1"/>
          <p:nvPr/>
        </p:nvSpPr>
        <p:spPr>
          <a:xfrm>
            <a:off x="6720840" y="3346704"/>
            <a:ext cx="2103120" cy="228600"/>
          </a:xfrm>
          <a:prstGeom prst="rect">
            <a:avLst/>
          </a:prstGeom>
          <a:noFill/>
        </p:spPr>
        <p:txBody>
          <a:bodyPr wrap="square">
            <a:spAutoFit/>
          </a:bodyPr>
          <a:lstStyle/>
          <a:p>
            <a:pPr algn="l">
              <a:defRPr sz="850" b="0">
                <a:solidFill>
                  <a:srgbClr val="323232"/>
                </a:solidFill>
                <a:latin typeface="Calibri"/>
              </a:defRPr>
            </a:pPr>
            <a:r>
              <a:t>• 0.42% charge-off (peer: 0.58%)</a:t>
            </a:r>
          </a:p>
        </p:txBody>
      </p:sp>
      <p:sp>
        <p:nvSpPr>
          <p:cNvPr id="49" name="Rounded Rectangle 48"/>
          <p:cNvSpPr/>
          <p:nvPr/>
        </p:nvSpPr>
        <p:spPr>
          <a:xfrm>
            <a:off x="9144000" y="2286000"/>
            <a:ext cx="2377440" cy="1417320"/>
          </a:xfrm>
          <a:prstGeom prst="roundRect">
            <a:avLst/>
          </a:prstGeom>
          <a:solidFill>
            <a:srgbClr val="F0F4F8"/>
          </a:solidFill>
          <a:ln w="12700">
            <a:solidFill>
              <a:srgbClr val="D35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35440" y="2331720"/>
            <a:ext cx="2194560" cy="256032"/>
          </a:xfrm>
          <a:prstGeom prst="rect">
            <a:avLst/>
          </a:prstGeom>
          <a:noFill/>
        </p:spPr>
        <p:txBody>
          <a:bodyPr wrap="square">
            <a:spAutoFit/>
          </a:bodyPr>
          <a:lstStyle/>
          <a:p>
            <a:pPr algn="l">
              <a:defRPr sz="1100" b="1">
                <a:solidFill>
                  <a:srgbClr val="D35400"/>
                </a:solidFill>
                <a:latin typeface="Calibri"/>
              </a:defRPr>
            </a:pPr>
            <a:r>
              <a:t>Weaknesses</a:t>
            </a:r>
          </a:p>
        </p:txBody>
      </p:sp>
      <p:sp>
        <p:nvSpPr>
          <p:cNvPr id="51" name="TextBox 50"/>
          <p:cNvSpPr txBox="1"/>
          <p:nvPr/>
        </p:nvSpPr>
        <p:spPr>
          <a:xfrm>
            <a:off x="9281160" y="2606040"/>
            <a:ext cx="2103120" cy="228600"/>
          </a:xfrm>
          <a:prstGeom prst="rect">
            <a:avLst/>
          </a:prstGeom>
          <a:noFill/>
        </p:spPr>
        <p:txBody>
          <a:bodyPr wrap="square">
            <a:spAutoFit/>
          </a:bodyPr>
          <a:lstStyle/>
          <a:p>
            <a:pPr algn="l">
              <a:defRPr sz="850" b="0">
                <a:solidFill>
                  <a:srgbClr val="323232"/>
                </a:solidFill>
                <a:latin typeface="Calibri"/>
              </a:defRPr>
            </a:pPr>
            <a:r>
              <a:t>• Efficiency ratio 61.2% (JPM: 55%)</a:t>
            </a:r>
          </a:p>
        </p:txBody>
      </p:sp>
      <p:sp>
        <p:nvSpPr>
          <p:cNvPr id="52" name="TextBox 51"/>
          <p:cNvSpPr txBox="1"/>
          <p:nvPr/>
        </p:nvSpPr>
        <p:spPr>
          <a:xfrm>
            <a:off x="9281160" y="2852928"/>
            <a:ext cx="2103120" cy="228600"/>
          </a:xfrm>
          <a:prstGeom prst="rect">
            <a:avLst/>
          </a:prstGeom>
          <a:noFill/>
        </p:spPr>
        <p:txBody>
          <a:bodyPr wrap="square">
            <a:spAutoFit/>
          </a:bodyPr>
          <a:lstStyle/>
          <a:p>
            <a:pPr algn="l">
              <a:defRPr sz="850" b="0">
                <a:solidFill>
                  <a:srgbClr val="323232"/>
                </a:solidFill>
                <a:latin typeface="Calibri"/>
              </a:defRPr>
            </a:pPr>
            <a:r>
              <a:t>• CRE exposure 18% of loans</a:t>
            </a:r>
          </a:p>
        </p:txBody>
      </p:sp>
      <p:sp>
        <p:nvSpPr>
          <p:cNvPr id="53" name="TextBox 52"/>
          <p:cNvSpPr txBox="1"/>
          <p:nvPr/>
        </p:nvSpPr>
        <p:spPr>
          <a:xfrm>
            <a:off x="9281160" y="3099816"/>
            <a:ext cx="2103120" cy="228600"/>
          </a:xfrm>
          <a:prstGeom prst="rect">
            <a:avLst/>
          </a:prstGeom>
          <a:noFill/>
        </p:spPr>
        <p:txBody>
          <a:bodyPr wrap="square">
            <a:spAutoFit/>
          </a:bodyPr>
          <a:lstStyle/>
          <a:p>
            <a:pPr algn="l">
              <a:defRPr sz="850" b="0">
                <a:solidFill>
                  <a:srgbClr val="323232"/>
                </a:solidFill>
                <a:latin typeface="Calibri"/>
              </a:defRPr>
            </a:pPr>
            <a:r>
              <a:t>• Tech spend 25% of JPM</a:t>
            </a:r>
          </a:p>
        </p:txBody>
      </p:sp>
      <p:sp>
        <p:nvSpPr>
          <p:cNvPr id="54" name="TextBox 53"/>
          <p:cNvSpPr txBox="1"/>
          <p:nvPr/>
        </p:nvSpPr>
        <p:spPr>
          <a:xfrm>
            <a:off x="9281160" y="3346704"/>
            <a:ext cx="2103120" cy="228600"/>
          </a:xfrm>
          <a:prstGeom prst="rect">
            <a:avLst/>
          </a:prstGeom>
          <a:noFill/>
        </p:spPr>
        <p:txBody>
          <a:bodyPr wrap="square">
            <a:spAutoFit/>
          </a:bodyPr>
          <a:lstStyle/>
          <a:p>
            <a:pPr algn="l">
              <a:defRPr sz="850" b="0">
                <a:solidFill>
                  <a:srgbClr val="323232"/>
                </a:solidFill>
                <a:latin typeface="Calibri"/>
              </a:defRPr>
            </a:pPr>
            <a:r>
              <a:t>• Limited international</a:t>
            </a:r>
          </a:p>
        </p:txBody>
      </p:sp>
      <p:sp>
        <p:nvSpPr>
          <p:cNvPr id="55" name="Rounded Rectangle 54"/>
          <p:cNvSpPr/>
          <p:nvPr/>
        </p:nvSpPr>
        <p:spPr>
          <a:xfrm>
            <a:off x="6583680" y="3840480"/>
            <a:ext cx="2377440" cy="1417320"/>
          </a:xfrm>
          <a:prstGeom prst="roundRect">
            <a:avLst/>
          </a:prstGeom>
          <a:solidFill>
            <a:srgbClr val="F0F4F8"/>
          </a:solidFill>
          <a:ln w="12700">
            <a:solidFill>
              <a:srgbClr val="0066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675120" y="3886200"/>
            <a:ext cx="2194560" cy="256032"/>
          </a:xfrm>
          <a:prstGeom prst="rect">
            <a:avLst/>
          </a:prstGeom>
          <a:noFill/>
        </p:spPr>
        <p:txBody>
          <a:bodyPr wrap="square">
            <a:spAutoFit/>
          </a:bodyPr>
          <a:lstStyle/>
          <a:p>
            <a:pPr algn="l">
              <a:defRPr sz="1100" b="1">
                <a:solidFill>
                  <a:srgbClr val="0066B2"/>
                </a:solidFill>
                <a:latin typeface="Calibri"/>
              </a:defRPr>
            </a:pPr>
            <a:r>
              <a:t>Opportunities</a:t>
            </a:r>
          </a:p>
        </p:txBody>
      </p:sp>
      <p:sp>
        <p:nvSpPr>
          <p:cNvPr id="57" name="TextBox 56"/>
          <p:cNvSpPr txBox="1"/>
          <p:nvPr/>
        </p:nvSpPr>
        <p:spPr>
          <a:xfrm>
            <a:off x="6720840" y="4160520"/>
            <a:ext cx="2103120" cy="228600"/>
          </a:xfrm>
          <a:prstGeom prst="rect">
            <a:avLst/>
          </a:prstGeom>
          <a:noFill/>
        </p:spPr>
        <p:txBody>
          <a:bodyPr wrap="square">
            <a:spAutoFit/>
          </a:bodyPr>
          <a:lstStyle/>
          <a:p>
            <a:pPr algn="l">
              <a:defRPr sz="850" b="0">
                <a:solidFill>
                  <a:srgbClr val="323232"/>
                </a:solidFill>
                <a:latin typeface="Calibri"/>
              </a:defRPr>
            </a:pPr>
            <a:r>
              <a:t>• Embedded finance &amp; BaaS</a:t>
            </a:r>
          </a:p>
        </p:txBody>
      </p:sp>
      <p:sp>
        <p:nvSpPr>
          <p:cNvPr id="58" name="TextBox 57"/>
          <p:cNvSpPr txBox="1"/>
          <p:nvPr/>
        </p:nvSpPr>
        <p:spPr>
          <a:xfrm>
            <a:off x="6720840" y="4407408"/>
            <a:ext cx="2103120" cy="228600"/>
          </a:xfrm>
          <a:prstGeom prst="rect">
            <a:avLst/>
          </a:prstGeom>
          <a:noFill/>
        </p:spPr>
        <p:txBody>
          <a:bodyPr wrap="square">
            <a:spAutoFit/>
          </a:bodyPr>
          <a:lstStyle/>
          <a:p>
            <a:pPr algn="l">
              <a:defRPr sz="850" b="0">
                <a:solidFill>
                  <a:srgbClr val="323232"/>
                </a:solidFill>
                <a:latin typeface="Calibri"/>
              </a:defRPr>
            </a:pPr>
            <a:r>
              <a:t>• FedNow real-time payments</a:t>
            </a:r>
          </a:p>
        </p:txBody>
      </p:sp>
      <p:sp>
        <p:nvSpPr>
          <p:cNvPr id="59" name="TextBox 58"/>
          <p:cNvSpPr txBox="1"/>
          <p:nvPr/>
        </p:nvSpPr>
        <p:spPr>
          <a:xfrm>
            <a:off x="6720840" y="4654296"/>
            <a:ext cx="2103120" cy="228600"/>
          </a:xfrm>
          <a:prstGeom prst="rect">
            <a:avLst/>
          </a:prstGeom>
          <a:noFill/>
        </p:spPr>
        <p:txBody>
          <a:bodyPr wrap="square">
            <a:spAutoFit/>
          </a:bodyPr>
          <a:lstStyle/>
          <a:p>
            <a:pPr algn="l">
              <a:defRPr sz="850" b="0">
                <a:solidFill>
                  <a:srgbClr val="323232"/>
                </a:solidFill>
                <a:latin typeface="Calibri"/>
              </a:defRPr>
            </a:pPr>
            <a:r>
              <a:t>• Gen AI: est. $800M savings</a:t>
            </a:r>
          </a:p>
        </p:txBody>
      </p:sp>
      <p:sp>
        <p:nvSpPr>
          <p:cNvPr id="60" name="TextBox 59"/>
          <p:cNvSpPr txBox="1"/>
          <p:nvPr/>
        </p:nvSpPr>
        <p:spPr>
          <a:xfrm>
            <a:off x="6720840" y="4901184"/>
            <a:ext cx="2103120" cy="228600"/>
          </a:xfrm>
          <a:prstGeom prst="rect">
            <a:avLst/>
          </a:prstGeom>
          <a:noFill/>
        </p:spPr>
        <p:txBody>
          <a:bodyPr wrap="square">
            <a:spAutoFit/>
          </a:bodyPr>
          <a:lstStyle/>
          <a:p>
            <a:pPr algn="l">
              <a:defRPr sz="850" b="0">
                <a:solidFill>
                  <a:srgbClr val="323232"/>
                </a:solidFill>
                <a:latin typeface="Calibri"/>
              </a:defRPr>
            </a:pPr>
            <a:r>
              <a:t>• Open banking APIs</a:t>
            </a:r>
          </a:p>
        </p:txBody>
      </p:sp>
      <p:sp>
        <p:nvSpPr>
          <p:cNvPr id="61" name="Rounded Rectangle 60"/>
          <p:cNvSpPr/>
          <p:nvPr/>
        </p:nvSpPr>
        <p:spPr>
          <a:xfrm>
            <a:off x="9144000" y="3840480"/>
            <a:ext cx="2377440" cy="1417320"/>
          </a:xfrm>
          <a:prstGeom prst="roundRect">
            <a:avLst/>
          </a:prstGeom>
          <a:solidFill>
            <a:srgbClr val="F0F4F8"/>
          </a:solidFill>
          <a:ln w="12700">
            <a:solidFill>
              <a:srgbClr val="B7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235440" y="3886200"/>
            <a:ext cx="2194560" cy="256032"/>
          </a:xfrm>
          <a:prstGeom prst="rect">
            <a:avLst/>
          </a:prstGeom>
          <a:noFill/>
        </p:spPr>
        <p:txBody>
          <a:bodyPr wrap="square">
            <a:spAutoFit/>
          </a:bodyPr>
          <a:lstStyle/>
          <a:p>
            <a:pPr algn="l">
              <a:defRPr sz="1100" b="1">
                <a:solidFill>
                  <a:srgbClr val="B71C1C"/>
                </a:solidFill>
                <a:latin typeface="Calibri"/>
              </a:defRPr>
            </a:pPr>
            <a:r>
              <a:t>Threats</a:t>
            </a:r>
          </a:p>
        </p:txBody>
      </p:sp>
      <p:sp>
        <p:nvSpPr>
          <p:cNvPr id="63" name="TextBox 62"/>
          <p:cNvSpPr txBox="1"/>
          <p:nvPr/>
        </p:nvSpPr>
        <p:spPr>
          <a:xfrm>
            <a:off x="9281160" y="4160520"/>
            <a:ext cx="2103120" cy="228600"/>
          </a:xfrm>
          <a:prstGeom prst="rect">
            <a:avLst/>
          </a:prstGeom>
          <a:noFill/>
        </p:spPr>
        <p:txBody>
          <a:bodyPr wrap="square">
            <a:spAutoFit/>
          </a:bodyPr>
          <a:lstStyle/>
          <a:p>
            <a:pPr algn="l">
              <a:defRPr sz="850" b="0">
                <a:solidFill>
                  <a:srgbClr val="323232"/>
                </a:solidFill>
                <a:latin typeface="Calibri"/>
              </a:defRPr>
            </a:pPr>
            <a:r>
              <a:t>• Fintech disruption (Chime, SoFi)</a:t>
            </a:r>
          </a:p>
        </p:txBody>
      </p:sp>
      <p:sp>
        <p:nvSpPr>
          <p:cNvPr id="64" name="TextBox 63"/>
          <p:cNvSpPr txBox="1"/>
          <p:nvPr/>
        </p:nvSpPr>
        <p:spPr>
          <a:xfrm>
            <a:off x="9281160" y="4407408"/>
            <a:ext cx="2103120" cy="228600"/>
          </a:xfrm>
          <a:prstGeom prst="rect">
            <a:avLst/>
          </a:prstGeom>
          <a:noFill/>
        </p:spPr>
        <p:txBody>
          <a:bodyPr wrap="square">
            <a:spAutoFit/>
          </a:bodyPr>
          <a:lstStyle/>
          <a:p>
            <a:pPr algn="l">
              <a:defRPr sz="850" b="0">
                <a:solidFill>
                  <a:srgbClr val="323232"/>
                </a:solidFill>
                <a:latin typeface="Calibri"/>
              </a:defRPr>
            </a:pPr>
            <a:r>
              <a:t>• Rate compression on margins</a:t>
            </a:r>
          </a:p>
        </p:txBody>
      </p:sp>
      <p:sp>
        <p:nvSpPr>
          <p:cNvPr id="65" name="TextBox 64"/>
          <p:cNvSpPr txBox="1"/>
          <p:nvPr/>
        </p:nvSpPr>
        <p:spPr>
          <a:xfrm>
            <a:off x="9281160" y="4654296"/>
            <a:ext cx="2103120" cy="228600"/>
          </a:xfrm>
          <a:prstGeom prst="rect">
            <a:avLst/>
          </a:prstGeom>
          <a:noFill/>
        </p:spPr>
        <p:txBody>
          <a:bodyPr wrap="square">
            <a:spAutoFit/>
          </a:bodyPr>
          <a:lstStyle/>
          <a:p>
            <a:pPr algn="l">
              <a:defRPr sz="850" b="0">
                <a:solidFill>
                  <a:srgbClr val="323232"/>
                </a:solidFill>
                <a:latin typeface="Calibri"/>
              </a:defRPr>
            </a:pPr>
            <a:r>
              <a:t>• Basel III capital requirements</a:t>
            </a:r>
          </a:p>
        </p:txBody>
      </p:sp>
      <p:sp>
        <p:nvSpPr>
          <p:cNvPr id="66" name="TextBox 65"/>
          <p:cNvSpPr txBox="1"/>
          <p:nvPr/>
        </p:nvSpPr>
        <p:spPr>
          <a:xfrm>
            <a:off x="9281160" y="4901184"/>
            <a:ext cx="2103120" cy="228600"/>
          </a:xfrm>
          <a:prstGeom prst="rect">
            <a:avLst/>
          </a:prstGeom>
          <a:noFill/>
        </p:spPr>
        <p:txBody>
          <a:bodyPr wrap="square">
            <a:spAutoFit/>
          </a:bodyPr>
          <a:lstStyle/>
          <a:p>
            <a:pPr algn="l">
              <a:defRPr sz="850" b="0">
                <a:solidFill>
                  <a:srgbClr val="323232"/>
                </a:solidFill>
                <a:latin typeface="Calibri"/>
              </a:defRPr>
            </a:pPr>
            <a:r>
              <a:t>• Cybersecurity risk</a:t>
            </a:r>
          </a:p>
        </p:txBody>
      </p:sp>
      <p:sp>
        <p:nvSpPr>
          <p:cNvPr id="67" name="TextBox 66"/>
          <p:cNvSpPr txBox="1"/>
          <p:nvPr/>
        </p:nvSpPr>
        <p:spPr>
          <a:xfrm>
            <a:off x="6583680" y="5440680"/>
            <a:ext cx="5029200" cy="274320"/>
          </a:xfrm>
          <a:prstGeom prst="rect">
            <a:avLst/>
          </a:prstGeom>
          <a:noFill/>
        </p:spPr>
        <p:txBody>
          <a:bodyPr wrap="square">
            <a:spAutoFit/>
          </a:bodyPr>
          <a:lstStyle/>
          <a:p>
            <a:pPr algn="l">
              <a:defRPr sz="1100" b="1">
                <a:solidFill>
                  <a:srgbClr val="002952"/>
                </a:solidFill>
                <a:latin typeface="Calibri"/>
              </a:defRPr>
            </a:pPr>
            <a:r>
              <a:t>Top TOWS Strategic Actions (Impact Score):</a:t>
            </a:r>
          </a:p>
        </p:txBody>
      </p:sp>
      <p:sp>
        <p:nvSpPr>
          <p:cNvPr id="68" name="TextBox 67"/>
          <p:cNvSpPr txBox="1"/>
          <p:nvPr/>
        </p:nvSpPr>
        <p:spPr>
          <a:xfrm>
            <a:off x="6675120" y="5760720"/>
            <a:ext cx="4846320" cy="365760"/>
          </a:xfrm>
          <a:prstGeom prst="rect">
            <a:avLst/>
          </a:prstGeom>
          <a:noFill/>
        </p:spPr>
        <p:txBody>
          <a:bodyPr wrap="square">
            <a:spAutoFit/>
          </a:bodyPr>
          <a:lstStyle/>
          <a:p>
            <a:pPr algn="l">
              <a:defRPr sz="1050" b="0">
                <a:solidFill>
                  <a:srgbClr val="323232"/>
                </a:solidFill>
                <a:latin typeface="Calibri"/>
              </a:defRPr>
            </a:pPr>
            <a:r>
              <a:rPr sz="1050">
                <a:solidFill>
                  <a:srgbClr val="2E7D32"/>
                </a:solidFill>
                <a:latin typeface="Calibri"/>
              </a:rPr>
              <a:t>▸  </a:t>
            </a:r>
            <a:r>
              <a:rPr sz="1050" b="1">
                <a:solidFill>
                  <a:srgbClr val="323232"/>
                </a:solidFill>
                <a:latin typeface="Calibri"/>
              </a:rPr>
              <a:t>10/10 WO:</a:t>
            </a:r>
            <a:r>
              <a:rPr sz="1050">
                <a:solidFill>
                  <a:srgbClr val="323232"/>
                </a:solidFill>
                <a:latin typeface="Calibri"/>
              </a:rPr>
              <a:t> Deploy Gen AI to cut efficiency ratio 61%→55%</a:t>
            </a:r>
          </a:p>
        </p:txBody>
      </p:sp>
      <p:sp>
        <p:nvSpPr>
          <p:cNvPr id="69" name="TextBox 68"/>
          <p:cNvSpPr txBox="1"/>
          <p:nvPr/>
        </p:nvSpPr>
        <p:spPr>
          <a:xfrm>
            <a:off x="6675120" y="6144768"/>
            <a:ext cx="4846320" cy="365760"/>
          </a:xfrm>
          <a:prstGeom prst="rect">
            <a:avLst/>
          </a:prstGeom>
          <a:noFill/>
        </p:spPr>
        <p:txBody>
          <a:bodyPr wrap="square">
            <a:spAutoFit/>
          </a:bodyPr>
          <a:lstStyle/>
          <a:p>
            <a:pPr algn="l">
              <a:defRPr sz="1050" b="0">
                <a:solidFill>
                  <a:srgbClr val="323232"/>
                </a:solidFill>
                <a:latin typeface="Calibri"/>
              </a:defRPr>
            </a:pPr>
            <a:r>
              <a:rPr sz="1050">
                <a:solidFill>
                  <a:srgbClr val="2E7D32"/>
                </a:solidFill>
                <a:latin typeface="Calibri"/>
              </a:rPr>
              <a:t>▸  </a:t>
            </a:r>
            <a:r>
              <a:rPr sz="1050" b="1">
                <a:solidFill>
                  <a:srgbClr val="323232"/>
                </a:solidFill>
                <a:latin typeface="Calibri"/>
              </a:rPr>
              <a:t>9/10 SO:</a:t>
            </a:r>
            <a:r>
              <a:rPr sz="1050">
                <a:solidFill>
                  <a:srgbClr val="323232"/>
                </a:solidFill>
                <a:latin typeface="Calibri"/>
              </a:rPr>
              <a:t> Leverage Elavon for real-time merchant settlement</a:t>
            </a:r>
          </a:p>
        </p:txBody>
      </p:sp>
      <p:sp>
        <p:nvSpPr>
          <p:cNvPr id="70" name="TextBox 69"/>
          <p:cNvSpPr txBox="1"/>
          <p:nvPr/>
        </p:nvSpPr>
        <p:spPr>
          <a:xfrm>
            <a:off x="6675120" y="6528816"/>
            <a:ext cx="4846320" cy="365760"/>
          </a:xfrm>
          <a:prstGeom prst="rect">
            <a:avLst/>
          </a:prstGeom>
          <a:noFill/>
        </p:spPr>
        <p:txBody>
          <a:bodyPr wrap="square">
            <a:spAutoFit/>
          </a:bodyPr>
          <a:lstStyle/>
          <a:p>
            <a:pPr algn="l">
              <a:defRPr sz="1050" b="0">
                <a:solidFill>
                  <a:srgbClr val="323232"/>
                </a:solidFill>
                <a:latin typeface="Calibri"/>
              </a:defRPr>
            </a:pPr>
            <a:r>
              <a:rPr sz="1050">
                <a:solidFill>
                  <a:srgbClr val="2E7D32"/>
                </a:solidFill>
                <a:latin typeface="Calibri"/>
              </a:rPr>
              <a:t>▸  </a:t>
            </a:r>
            <a:r>
              <a:rPr sz="1050" b="1">
                <a:solidFill>
                  <a:srgbClr val="323232"/>
                </a:solidFill>
                <a:latin typeface="Calibri"/>
              </a:rPr>
              <a:t>8/10 SO:</a:t>
            </a:r>
            <a:r>
              <a:rPr sz="1050">
                <a:solidFill>
                  <a:srgbClr val="323232"/>
                </a:solidFill>
                <a:latin typeface="Calibri"/>
              </a:rPr>
              <a:t> Build embedded finance platform from digital strengths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48640"/>
          </a:xfrm>
          <a:prstGeom prst="rect">
            <a:avLst/>
          </a:prstGeom>
          <a:noFill/>
        </p:spPr>
        <p:txBody>
          <a:bodyPr wrap="square">
            <a:spAutoFit/>
          </a:bodyPr>
          <a:lstStyle/>
          <a:p>
            <a:pPr algn="l">
              <a:defRPr sz="2800" b="1">
                <a:solidFill>
                  <a:srgbClr val="002952"/>
                </a:solidFill>
                <a:latin typeface="Calibri"/>
              </a:defRPr>
            </a:pPr>
            <a:r>
              <a:t>Case Study: Step 4 — 4-Layer Strategy &amp; Strategic OKRs</a:t>
            </a:r>
          </a:p>
        </p:txBody>
      </p:sp>
      <p:sp>
        <p:nvSpPr>
          <p:cNvPr id="4" name="TextBox 3"/>
          <p:cNvSpPr txBox="1"/>
          <p:nvPr/>
        </p:nvSpPr>
        <p:spPr>
          <a:xfrm>
            <a:off x="548640" y="777240"/>
            <a:ext cx="10972800" cy="411480"/>
          </a:xfrm>
          <a:prstGeom prst="rect">
            <a:avLst/>
          </a:prstGeom>
          <a:noFill/>
        </p:spPr>
        <p:txBody>
          <a:bodyPr wrap="square">
            <a:spAutoFit/>
          </a:bodyPr>
          <a:lstStyle/>
          <a:p>
            <a:pPr algn="l">
              <a:defRPr sz="1300" b="0">
                <a:solidFill>
                  <a:srgbClr val="787878"/>
                </a:solidFill>
                <a:latin typeface="Calibri"/>
              </a:defRPr>
            </a:pPr>
            <a:r>
              <a:t>AI formulated 6 strategies across Business + Digital + Data + Gen AI with data-anchored OKRs</a:t>
            </a:r>
          </a:p>
        </p:txBody>
      </p:sp>
      <p:sp>
        <p:nvSpPr>
          <p:cNvPr id="5" name="TextBox 4"/>
          <p:cNvSpPr txBox="1"/>
          <p:nvPr/>
        </p:nvSpPr>
        <p:spPr>
          <a:xfrm>
            <a:off x="548640" y="1234440"/>
            <a:ext cx="10972800" cy="640080"/>
          </a:xfrm>
          <a:prstGeom prst="rect">
            <a:avLst/>
          </a:prstGeom>
          <a:noFill/>
        </p:spPr>
        <p:txBody>
          <a:bodyPr wrap="square">
            <a:spAutoFit/>
          </a:bodyPr>
          <a:lstStyle/>
          <a:p>
            <a:pPr algn="l">
              <a:defRPr sz="1300" b="0">
                <a:solidFill>
                  <a:srgbClr val="323232"/>
                </a:solidFill>
                <a:latin typeface="Calibri"/>
              </a:defRPr>
            </a:pPr>
            <a:r>
              <a:t>Traditional consulting addresses 1-2 strategy layers. BTA always generates across all four, with cross-layer alignment showing how each reinforces the others. Every OKR target is computed from current baselines (Step 1 data) to industry benchmarks — not arbitrary "improve by 20%" goals.</a:t>
            </a:r>
          </a:p>
        </p:txBody>
      </p:sp>
      <p:sp>
        <p:nvSpPr>
          <p:cNvPr id="6" name="Rectangle 5"/>
          <p:cNvSpPr/>
          <p:nvPr/>
        </p:nvSpPr>
        <p:spPr>
          <a:xfrm>
            <a:off x="548640" y="2011680"/>
            <a:ext cx="276606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011680"/>
            <a:ext cx="2766060" cy="256032"/>
          </a:xfrm>
          <a:prstGeom prst="rect">
            <a:avLst/>
          </a:prstGeom>
          <a:noFill/>
        </p:spPr>
        <p:txBody>
          <a:bodyPr wrap="square">
            <a:spAutoFit/>
          </a:bodyPr>
          <a:lstStyle/>
          <a:p>
            <a:pPr algn="ctr">
              <a:defRPr sz="950" b="1">
                <a:solidFill>
                  <a:srgbClr val="FFFFFF"/>
                </a:solidFill>
                <a:latin typeface="Calibri"/>
              </a:defRPr>
            </a:pPr>
            <a:r>
              <a:t>Layer</a:t>
            </a:r>
          </a:p>
        </p:txBody>
      </p:sp>
      <p:sp>
        <p:nvSpPr>
          <p:cNvPr id="8" name="Rectangle 7"/>
          <p:cNvSpPr/>
          <p:nvPr/>
        </p:nvSpPr>
        <p:spPr>
          <a:xfrm>
            <a:off x="3314700" y="2011680"/>
            <a:ext cx="276606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14700" y="2011680"/>
            <a:ext cx="2766060" cy="256032"/>
          </a:xfrm>
          <a:prstGeom prst="rect">
            <a:avLst/>
          </a:prstGeom>
          <a:noFill/>
        </p:spPr>
        <p:txBody>
          <a:bodyPr wrap="square">
            <a:spAutoFit/>
          </a:bodyPr>
          <a:lstStyle/>
          <a:p>
            <a:pPr algn="ctr">
              <a:defRPr sz="950" b="1">
                <a:solidFill>
                  <a:srgbClr val="FFFFFF"/>
                </a:solidFill>
                <a:latin typeface="Calibri"/>
              </a:defRPr>
            </a:pPr>
            <a:r>
              <a:t>Strategy</a:t>
            </a:r>
          </a:p>
        </p:txBody>
      </p:sp>
      <p:sp>
        <p:nvSpPr>
          <p:cNvPr id="10" name="Rectangle 9"/>
          <p:cNvSpPr/>
          <p:nvPr/>
        </p:nvSpPr>
        <p:spPr>
          <a:xfrm>
            <a:off x="6080760" y="2011680"/>
            <a:ext cx="276606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2011680"/>
            <a:ext cx="2766060" cy="256032"/>
          </a:xfrm>
          <a:prstGeom prst="rect">
            <a:avLst/>
          </a:prstGeom>
          <a:noFill/>
        </p:spPr>
        <p:txBody>
          <a:bodyPr wrap="square">
            <a:spAutoFit/>
          </a:bodyPr>
          <a:lstStyle/>
          <a:p>
            <a:pPr algn="ctr">
              <a:defRPr sz="950" b="1">
                <a:solidFill>
                  <a:srgbClr val="FFFFFF"/>
                </a:solidFill>
                <a:latin typeface="Calibri"/>
              </a:defRPr>
            </a:pPr>
            <a:r>
              <a:t>Top OKR</a:t>
            </a:r>
          </a:p>
        </p:txBody>
      </p:sp>
      <p:sp>
        <p:nvSpPr>
          <p:cNvPr id="12" name="Rectangle 11"/>
          <p:cNvSpPr/>
          <p:nvPr/>
        </p:nvSpPr>
        <p:spPr>
          <a:xfrm>
            <a:off x="8846820" y="2011680"/>
            <a:ext cx="276606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46820" y="2011680"/>
            <a:ext cx="2766060" cy="256032"/>
          </a:xfrm>
          <a:prstGeom prst="rect">
            <a:avLst/>
          </a:prstGeom>
          <a:noFill/>
        </p:spPr>
        <p:txBody>
          <a:bodyPr wrap="square">
            <a:spAutoFit/>
          </a:bodyPr>
          <a:lstStyle/>
          <a:p>
            <a:pPr algn="ctr">
              <a:defRPr sz="950" b="1">
                <a:solidFill>
                  <a:srgbClr val="FFFFFF"/>
                </a:solidFill>
                <a:latin typeface="Calibri"/>
              </a:defRPr>
            </a:pPr>
            <a:r>
              <a:t>Key Result (Data-Anchored)</a:t>
            </a:r>
          </a:p>
        </p:txBody>
      </p:sp>
      <p:sp>
        <p:nvSpPr>
          <p:cNvPr id="14" name="Rectangle 13"/>
          <p:cNvSpPr/>
          <p:nvPr/>
        </p:nvSpPr>
        <p:spPr>
          <a:xfrm>
            <a:off x="548640" y="2267712"/>
            <a:ext cx="276606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267712"/>
            <a:ext cx="2766060" cy="256032"/>
          </a:xfrm>
          <a:prstGeom prst="rect">
            <a:avLst/>
          </a:prstGeom>
          <a:noFill/>
        </p:spPr>
        <p:txBody>
          <a:bodyPr wrap="square">
            <a:spAutoFit/>
          </a:bodyPr>
          <a:lstStyle/>
          <a:p>
            <a:pPr algn="ctr">
              <a:defRPr sz="950" b="0">
                <a:solidFill>
                  <a:srgbClr val="323232"/>
                </a:solidFill>
                <a:latin typeface="Calibri"/>
              </a:defRPr>
            </a:pPr>
            <a:r>
              <a:t>Business</a:t>
            </a:r>
          </a:p>
        </p:txBody>
      </p:sp>
      <p:sp>
        <p:nvSpPr>
          <p:cNvPr id="16" name="Rectangle 15"/>
          <p:cNvSpPr/>
          <p:nvPr/>
        </p:nvSpPr>
        <p:spPr>
          <a:xfrm>
            <a:off x="3314700" y="2267712"/>
            <a:ext cx="276606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14700" y="2267712"/>
            <a:ext cx="2766060" cy="256032"/>
          </a:xfrm>
          <a:prstGeom prst="rect">
            <a:avLst/>
          </a:prstGeom>
          <a:noFill/>
        </p:spPr>
        <p:txBody>
          <a:bodyPr wrap="square">
            <a:spAutoFit/>
          </a:bodyPr>
          <a:lstStyle/>
          <a:p>
            <a:pPr algn="ctr">
              <a:defRPr sz="950" b="0">
                <a:solidFill>
                  <a:srgbClr val="323232"/>
                </a:solidFill>
                <a:latin typeface="Calibri"/>
              </a:defRPr>
            </a:pPr>
            <a:r>
              <a:t>Real-Time Payment Leadership</a:t>
            </a:r>
          </a:p>
        </p:txBody>
      </p:sp>
      <p:sp>
        <p:nvSpPr>
          <p:cNvPr id="18" name="Rectangle 17"/>
          <p:cNvSpPr/>
          <p:nvPr/>
        </p:nvSpPr>
        <p:spPr>
          <a:xfrm>
            <a:off x="6080760" y="2267712"/>
            <a:ext cx="276606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80760" y="2267712"/>
            <a:ext cx="2766060" cy="256032"/>
          </a:xfrm>
          <a:prstGeom prst="rect">
            <a:avLst/>
          </a:prstGeom>
          <a:noFill/>
        </p:spPr>
        <p:txBody>
          <a:bodyPr wrap="square">
            <a:spAutoFit/>
          </a:bodyPr>
          <a:lstStyle/>
          <a:p>
            <a:pPr algn="ctr">
              <a:defRPr sz="950" b="0">
                <a:solidFill>
                  <a:srgbClr val="323232"/>
                </a:solidFill>
                <a:latin typeface="Calibri"/>
              </a:defRPr>
            </a:pPr>
            <a:r>
              <a:t>25% Elavon settlements real-time by Q4 2026</a:t>
            </a:r>
          </a:p>
        </p:txBody>
      </p:sp>
      <p:sp>
        <p:nvSpPr>
          <p:cNvPr id="20" name="Rectangle 19"/>
          <p:cNvSpPr/>
          <p:nvPr/>
        </p:nvSpPr>
        <p:spPr>
          <a:xfrm>
            <a:off x="8846820" y="2267712"/>
            <a:ext cx="276606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46820" y="2267712"/>
            <a:ext cx="2766060" cy="256032"/>
          </a:xfrm>
          <a:prstGeom prst="rect">
            <a:avLst/>
          </a:prstGeom>
          <a:noFill/>
        </p:spPr>
        <p:txBody>
          <a:bodyPr wrap="square">
            <a:spAutoFit/>
          </a:bodyPr>
          <a:lstStyle/>
          <a:p>
            <a:pPr algn="ctr">
              <a:defRPr sz="950" b="0">
                <a:solidFill>
                  <a:srgbClr val="2E7D32"/>
                </a:solidFill>
                <a:latin typeface="Calibri"/>
              </a:defRPr>
            </a:pPr>
            <a:r>
              <a:t>Baseline: 5% → Target: 100% merchants RTP-enabled</a:t>
            </a:r>
          </a:p>
        </p:txBody>
      </p:sp>
      <p:sp>
        <p:nvSpPr>
          <p:cNvPr id="22" name="Rectangle 21"/>
          <p:cNvSpPr/>
          <p:nvPr/>
        </p:nvSpPr>
        <p:spPr>
          <a:xfrm>
            <a:off x="548640" y="2523744"/>
            <a:ext cx="27660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2523744"/>
            <a:ext cx="2766060" cy="256032"/>
          </a:xfrm>
          <a:prstGeom prst="rect">
            <a:avLst/>
          </a:prstGeom>
          <a:noFill/>
        </p:spPr>
        <p:txBody>
          <a:bodyPr wrap="square">
            <a:spAutoFit/>
          </a:bodyPr>
          <a:lstStyle/>
          <a:p>
            <a:pPr algn="ctr">
              <a:defRPr sz="950" b="0">
                <a:solidFill>
                  <a:srgbClr val="323232"/>
                </a:solidFill>
                <a:latin typeface="Calibri"/>
              </a:defRPr>
            </a:pPr>
            <a:r>
              <a:t>Business</a:t>
            </a:r>
          </a:p>
        </p:txBody>
      </p:sp>
      <p:sp>
        <p:nvSpPr>
          <p:cNvPr id="24" name="Rectangle 23"/>
          <p:cNvSpPr/>
          <p:nvPr/>
        </p:nvSpPr>
        <p:spPr>
          <a:xfrm>
            <a:off x="3314700" y="2523744"/>
            <a:ext cx="27660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14700" y="2523744"/>
            <a:ext cx="2766060" cy="256032"/>
          </a:xfrm>
          <a:prstGeom prst="rect">
            <a:avLst/>
          </a:prstGeom>
          <a:noFill/>
        </p:spPr>
        <p:txBody>
          <a:bodyPr wrap="square">
            <a:spAutoFit/>
          </a:bodyPr>
          <a:lstStyle/>
          <a:p>
            <a:pPr algn="ctr">
              <a:defRPr sz="950" b="0">
                <a:solidFill>
                  <a:srgbClr val="323232"/>
                </a:solidFill>
                <a:latin typeface="Calibri"/>
              </a:defRPr>
            </a:pPr>
            <a:r>
              <a:t>Embedded Finance &amp; BaaS</a:t>
            </a:r>
          </a:p>
        </p:txBody>
      </p:sp>
      <p:sp>
        <p:nvSpPr>
          <p:cNvPr id="26" name="Rectangle 25"/>
          <p:cNvSpPr/>
          <p:nvPr/>
        </p:nvSpPr>
        <p:spPr>
          <a:xfrm>
            <a:off x="6080760" y="2523744"/>
            <a:ext cx="27660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80760" y="2523744"/>
            <a:ext cx="2766060" cy="256032"/>
          </a:xfrm>
          <a:prstGeom prst="rect">
            <a:avLst/>
          </a:prstGeom>
          <a:noFill/>
        </p:spPr>
        <p:txBody>
          <a:bodyPr wrap="square">
            <a:spAutoFit/>
          </a:bodyPr>
          <a:lstStyle/>
          <a:p>
            <a:pPr algn="ctr">
              <a:defRPr sz="950" b="0">
                <a:solidFill>
                  <a:srgbClr val="323232"/>
                </a:solidFill>
                <a:latin typeface="Calibri"/>
              </a:defRPr>
            </a:pPr>
            <a:r>
              <a:t>$500M BaaS revenue, 20 partners by 2027</a:t>
            </a:r>
          </a:p>
        </p:txBody>
      </p:sp>
      <p:sp>
        <p:nvSpPr>
          <p:cNvPr id="28" name="Rectangle 27"/>
          <p:cNvSpPr/>
          <p:nvPr/>
        </p:nvSpPr>
        <p:spPr>
          <a:xfrm>
            <a:off x="8846820" y="2523744"/>
            <a:ext cx="27660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46820" y="2523744"/>
            <a:ext cx="2766060" cy="256032"/>
          </a:xfrm>
          <a:prstGeom prst="rect">
            <a:avLst/>
          </a:prstGeom>
          <a:noFill/>
        </p:spPr>
        <p:txBody>
          <a:bodyPr wrap="square">
            <a:spAutoFit/>
          </a:bodyPr>
          <a:lstStyle/>
          <a:p>
            <a:pPr algn="ctr">
              <a:defRPr sz="950" b="0">
                <a:solidFill>
                  <a:srgbClr val="323232"/>
                </a:solidFill>
                <a:latin typeface="Calibri"/>
              </a:defRPr>
            </a:pPr>
            <a:r>
              <a:t>Baseline: 2 pilots, 12 APIs → Target: 20 partners, 50 APIs</a:t>
            </a:r>
          </a:p>
        </p:txBody>
      </p:sp>
      <p:sp>
        <p:nvSpPr>
          <p:cNvPr id="30" name="Rectangle 29"/>
          <p:cNvSpPr/>
          <p:nvPr/>
        </p:nvSpPr>
        <p:spPr>
          <a:xfrm>
            <a:off x="548640" y="2779776"/>
            <a:ext cx="276606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779776"/>
            <a:ext cx="2766060" cy="256032"/>
          </a:xfrm>
          <a:prstGeom prst="rect">
            <a:avLst/>
          </a:prstGeom>
          <a:noFill/>
        </p:spPr>
        <p:txBody>
          <a:bodyPr wrap="square">
            <a:spAutoFit/>
          </a:bodyPr>
          <a:lstStyle/>
          <a:p>
            <a:pPr algn="ctr">
              <a:defRPr sz="950" b="0">
                <a:solidFill>
                  <a:srgbClr val="323232"/>
                </a:solidFill>
                <a:latin typeface="Calibri"/>
              </a:defRPr>
            </a:pPr>
            <a:r>
              <a:t>Digital</a:t>
            </a:r>
          </a:p>
        </p:txBody>
      </p:sp>
      <p:sp>
        <p:nvSpPr>
          <p:cNvPr id="32" name="Rectangle 31"/>
          <p:cNvSpPr/>
          <p:nvPr/>
        </p:nvSpPr>
        <p:spPr>
          <a:xfrm>
            <a:off x="3314700" y="2779776"/>
            <a:ext cx="276606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14700" y="2779776"/>
            <a:ext cx="2766060" cy="256032"/>
          </a:xfrm>
          <a:prstGeom prst="rect">
            <a:avLst/>
          </a:prstGeom>
          <a:noFill/>
        </p:spPr>
        <p:txBody>
          <a:bodyPr wrap="square">
            <a:spAutoFit/>
          </a:bodyPr>
          <a:lstStyle/>
          <a:p>
            <a:pPr algn="ctr">
              <a:defRPr sz="950" b="0">
                <a:solidFill>
                  <a:srgbClr val="323232"/>
                </a:solidFill>
                <a:latin typeface="Calibri"/>
              </a:defRPr>
            </a:pPr>
            <a:r>
              <a:t>AI-First Operations</a:t>
            </a:r>
          </a:p>
        </p:txBody>
      </p:sp>
      <p:sp>
        <p:nvSpPr>
          <p:cNvPr id="34" name="Rectangle 33"/>
          <p:cNvSpPr/>
          <p:nvPr/>
        </p:nvSpPr>
        <p:spPr>
          <a:xfrm>
            <a:off x="6080760" y="2779776"/>
            <a:ext cx="276606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80760" y="2779776"/>
            <a:ext cx="2766060" cy="256032"/>
          </a:xfrm>
          <a:prstGeom prst="rect">
            <a:avLst/>
          </a:prstGeom>
          <a:noFill/>
        </p:spPr>
        <p:txBody>
          <a:bodyPr wrap="square">
            <a:spAutoFit/>
          </a:bodyPr>
          <a:lstStyle/>
          <a:p>
            <a:pPr algn="ctr">
              <a:defRPr sz="950" b="0">
                <a:solidFill>
                  <a:srgbClr val="323232"/>
                </a:solidFill>
                <a:latin typeface="Calibri"/>
              </a:defRPr>
            </a:pPr>
            <a:r>
              <a:t>Efficiency ratio 61.2% → 55%</a:t>
            </a:r>
          </a:p>
        </p:txBody>
      </p:sp>
      <p:sp>
        <p:nvSpPr>
          <p:cNvPr id="36" name="Rectangle 35"/>
          <p:cNvSpPr/>
          <p:nvPr/>
        </p:nvSpPr>
        <p:spPr>
          <a:xfrm>
            <a:off x="8846820" y="2779776"/>
            <a:ext cx="276606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46820" y="2779776"/>
            <a:ext cx="2766060" cy="256032"/>
          </a:xfrm>
          <a:prstGeom prst="rect">
            <a:avLst/>
          </a:prstGeom>
          <a:noFill/>
        </p:spPr>
        <p:txBody>
          <a:bodyPr wrap="square">
            <a:spAutoFit/>
          </a:bodyPr>
          <a:lstStyle/>
          <a:p>
            <a:pPr algn="ctr">
              <a:defRPr sz="950" b="0">
                <a:solidFill>
                  <a:srgbClr val="2E7D32"/>
                </a:solidFill>
                <a:latin typeface="Calibri"/>
              </a:defRPr>
            </a:pPr>
            <a:r>
              <a:t>Baseline: 40% auto-underwriting → Target: 70%; $25M → $400M savings</a:t>
            </a:r>
          </a:p>
        </p:txBody>
      </p:sp>
      <p:sp>
        <p:nvSpPr>
          <p:cNvPr id="38" name="Rectangle 37"/>
          <p:cNvSpPr/>
          <p:nvPr/>
        </p:nvSpPr>
        <p:spPr>
          <a:xfrm>
            <a:off x="548640" y="3035808"/>
            <a:ext cx="27660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3035808"/>
            <a:ext cx="2766060" cy="256032"/>
          </a:xfrm>
          <a:prstGeom prst="rect">
            <a:avLst/>
          </a:prstGeom>
          <a:noFill/>
        </p:spPr>
        <p:txBody>
          <a:bodyPr wrap="square">
            <a:spAutoFit/>
          </a:bodyPr>
          <a:lstStyle/>
          <a:p>
            <a:pPr algn="ctr">
              <a:defRPr sz="950" b="0">
                <a:solidFill>
                  <a:srgbClr val="323232"/>
                </a:solidFill>
                <a:latin typeface="Calibri"/>
              </a:defRPr>
            </a:pPr>
            <a:r>
              <a:t>Digital</a:t>
            </a:r>
          </a:p>
        </p:txBody>
      </p:sp>
      <p:sp>
        <p:nvSpPr>
          <p:cNvPr id="40" name="Rectangle 39"/>
          <p:cNvSpPr/>
          <p:nvPr/>
        </p:nvSpPr>
        <p:spPr>
          <a:xfrm>
            <a:off x="3314700" y="3035808"/>
            <a:ext cx="27660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314700" y="3035808"/>
            <a:ext cx="2766060" cy="256032"/>
          </a:xfrm>
          <a:prstGeom prst="rect">
            <a:avLst/>
          </a:prstGeom>
          <a:noFill/>
        </p:spPr>
        <p:txBody>
          <a:bodyPr wrap="square">
            <a:spAutoFit/>
          </a:bodyPr>
          <a:lstStyle/>
          <a:p>
            <a:pPr algn="ctr">
              <a:defRPr sz="950" b="0">
                <a:solidFill>
                  <a:srgbClr val="323232"/>
                </a:solidFill>
                <a:latin typeface="Calibri"/>
              </a:defRPr>
            </a:pPr>
            <a:r>
              <a:t>Next-Gen Digital Banking</a:t>
            </a:r>
          </a:p>
        </p:txBody>
      </p:sp>
      <p:sp>
        <p:nvSpPr>
          <p:cNvPr id="42" name="Rectangle 41"/>
          <p:cNvSpPr/>
          <p:nvPr/>
        </p:nvSpPr>
        <p:spPr>
          <a:xfrm>
            <a:off x="6080760" y="3035808"/>
            <a:ext cx="27660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80760" y="3035808"/>
            <a:ext cx="2766060" cy="256032"/>
          </a:xfrm>
          <a:prstGeom prst="rect">
            <a:avLst/>
          </a:prstGeom>
          <a:noFill/>
        </p:spPr>
        <p:txBody>
          <a:bodyPr wrap="square">
            <a:spAutoFit/>
          </a:bodyPr>
          <a:lstStyle/>
          <a:p>
            <a:pPr algn="ctr">
              <a:defRPr sz="950" b="0">
                <a:solidFill>
                  <a:srgbClr val="323232"/>
                </a:solidFill>
                <a:latin typeface="Calibri"/>
              </a:defRPr>
            </a:pPr>
            <a:r>
              <a:t>#1 consumer banking app rating</a:t>
            </a:r>
          </a:p>
        </p:txBody>
      </p:sp>
      <p:sp>
        <p:nvSpPr>
          <p:cNvPr id="44" name="Rectangle 43"/>
          <p:cNvSpPr/>
          <p:nvPr/>
        </p:nvSpPr>
        <p:spPr>
          <a:xfrm>
            <a:off x="8846820" y="3035808"/>
            <a:ext cx="27660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46820" y="3035808"/>
            <a:ext cx="2766060" cy="256032"/>
          </a:xfrm>
          <a:prstGeom prst="rect">
            <a:avLst/>
          </a:prstGeom>
          <a:noFill/>
        </p:spPr>
        <p:txBody>
          <a:bodyPr wrap="square">
            <a:spAutoFit/>
          </a:bodyPr>
          <a:lstStyle/>
          <a:p>
            <a:pPr algn="ctr">
              <a:defRPr sz="950" b="0">
                <a:solidFill>
                  <a:srgbClr val="2E7D32"/>
                </a:solidFill>
                <a:latin typeface="Calibri"/>
              </a:defRPr>
            </a:pPr>
            <a:r>
              <a:t>Baseline: 4.5 stars, 48% digital opens → Target: 4.8 stars, 70%</a:t>
            </a:r>
          </a:p>
        </p:txBody>
      </p:sp>
      <p:sp>
        <p:nvSpPr>
          <p:cNvPr id="46" name="Rectangle 45"/>
          <p:cNvSpPr/>
          <p:nvPr/>
        </p:nvSpPr>
        <p:spPr>
          <a:xfrm>
            <a:off x="548640" y="3291840"/>
            <a:ext cx="276606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3291840"/>
            <a:ext cx="2766060" cy="256032"/>
          </a:xfrm>
          <a:prstGeom prst="rect">
            <a:avLst/>
          </a:prstGeom>
          <a:noFill/>
        </p:spPr>
        <p:txBody>
          <a:bodyPr wrap="square">
            <a:spAutoFit/>
          </a:bodyPr>
          <a:lstStyle/>
          <a:p>
            <a:pPr algn="ctr">
              <a:defRPr sz="950" b="0">
                <a:solidFill>
                  <a:srgbClr val="323232"/>
                </a:solidFill>
                <a:latin typeface="Calibri"/>
              </a:defRPr>
            </a:pPr>
            <a:r>
              <a:t>Data</a:t>
            </a:r>
          </a:p>
        </p:txBody>
      </p:sp>
      <p:sp>
        <p:nvSpPr>
          <p:cNvPr id="48" name="Rectangle 47"/>
          <p:cNvSpPr/>
          <p:nvPr/>
        </p:nvSpPr>
        <p:spPr>
          <a:xfrm>
            <a:off x="3314700" y="3291840"/>
            <a:ext cx="276606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14700" y="3291840"/>
            <a:ext cx="2766060" cy="256032"/>
          </a:xfrm>
          <a:prstGeom prst="rect">
            <a:avLst/>
          </a:prstGeom>
          <a:noFill/>
        </p:spPr>
        <p:txBody>
          <a:bodyPr wrap="square">
            <a:spAutoFit/>
          </a:bodyPr>
          <a:lstStyle/>
          <a:p>
            <a:pPr algn="ctr">
              <a:defRPr sz="950" b="0">
                <a:solidFill>
                  <a:srgbClr val="323232"/>
                </a:solidFill>
                <a:latin typeface="Calibri"/>
              </a:defRPr>
            </a:pPr>
            <a:r>
              <a:t>Unified Customer Intelligence</a:t>
            </a:r>
          </a:p>
        </p:txBody>
      </p:sp>
      <p:sp>
        <p:nvSpPr>
          <p:cNvPr id="50" name="Rectangle 49"/>
          <p:cNvSpPr/>
          <p:nvPr/>
        </p:nvSpPr>
        <p:spPr>
          <a:xfrm>
            <a:off x="6080760" y="3291840"/>
            <a:ext cx="276606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080760" y="3291840"/>
            <a:ext cx="2766060" cy="256032"/>
          </a:xfrm>
          <a:prstGeom prst="rect">
            <a:avLst/>
          </a:prstGeom>
          <a:noFill/>
        </p:spPr>
        <p:txBody>
          <a:bodyPr wrap="square">
            <a:spAutoFit/>
          </a:bodyPr>
          <a:lstStyle/>
          <a:p>
            <a:pPr algn="ctr">
              <a:defRPr sz="950" b="0">
                <a:solidFill>
                  <a:srgbClr val="323232"/>
                </a:solidFill>
                <a:latin typeface="Calibri"/>
              </a:defRPr>
            </a:pPr>
            <a:r>
              <a:t>95% unified profiles across 4 BUs</a:t>
            </a:r>
          </a:p>
        </p:txBody>
      </p:sp>
      <p:sp>
        <p:nvSpPr>
          <p:cNvPr id="52" name="Rectangle 51"/>
          <p:cNvSpPr/>
          <p:nvPr/>
        </p:nvSpPr>
        <p:spPr>
          <a:xfrm>
            <a:off x="8846820" y="3291840"/>
            <a:ext cx="276606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46820" y="3291840"/>
            <a:ext cx="2766060" cy="256032"/>
          </a:xfrm>
          <a:prstGeom prst="rect">
            <a:avLst/>
          </a:prstGeom>
          <a:noFill/>
        </p:spPr>
        <p:txBody>
          <a:bodyPr wrap="square">
            <a:spAutoFit/>
          </a:bodyPr>
          <a:lstStyle/>
          <a:p>
            <a:pPr algn="ctr">
              <a:defRPr sz="950" b="0">
                <a:solidFill>
                  <a:srgbClr val="2E7D32"/>
                </a:solidFill>
                <a:latin typeface="Calibri"/>
              </a:defRPr>
            </a:pPr>
            <a:r>
              <a:t>Baseline: 35% cross-BU profiles → Target: 95%</a:t>
            </a:r>
          </a:p>
        </p:txBody>
      </p:sp>
      <p:sp>
        <p:nvSpPr>
          <p:cNvPr id="54" name="Rectangle 53"/>
          <p:cNvSpPr/>
          <p:nvPr/>
        </p:nvSpPr>
        <p:spPr>
          <a:xfrm>
            <a:off x="548640" y="3547872"/>
            <a:ext cx="27660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48640" y="3547872"/>
            <a:ext cx="2766060" cy="256032"/>
          </a:xfrm>
          <a:prstGeom prst="rect">
            <a:avLst/>
          </a:prstGeom>
          <a:noFill/>
        </p:spPr>
        <p:txBody>
          <a:bodyPr wrap="square">
            <a:spAutoFit/>
          </a:bodyPr>
          <a:lstStyle/>
          <a:p>
            <a:pPr algn="ctr">
              <a:defRPr sz="950" b="1">
                <a:solidFill>
                  <a:srgbClr val="323232"/>
                </a:solidFill>
                <a:latin typeface="Calibri"/>
              </a:defRPr>
            </a:pPr>
            <a:r>
              <a:t>Gen AI</a:t>
            </a:r>
          </a:p>
        </p:txBody>
      </p:sp>
      <p:sp>
        <p:nvSpPr>
          <p:cNvPr id="56" name="Rectangle 55"/>
          <p:cNvSpPr/>
          <p:nvPr/>
        </p:nvSpPr>
        <p:spPr>
          <a:xfrm>
            <a:off x="3314700" y="3547872"/>
            <a:ext cx="27660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314700" y="3547872"/>
            <a:ext cx="2766060" cy="256032"/>
          </a:xfrm>
          <a:prstGeom prst="rect">
            <a:avLst/>
          </a:prstGeom>
          <a:noFill/>
        </p:spPr>
        <p:txBody>
          <a:bodyPr wrap="square">
            <a:spAutoFit/>
          </a:bodyPr>
          <a:lstStyle/>
          <a:p>
            <a:pPr algn="ctr">
              <a:defRPr sz="950" b="1">
                <a:solidFill>
                  <a:srgbClr val="323232"/>
                </a:solidFill>
                <a:latin typeface="Calibri"/>
              </a:defRPr>
            </a:pPr>
            <a:r>
              <a:t>Banking Operations Copilot</a:t>
            </a:r>
          </a:p>
        </p:txBody>
      </p:sp>
      <p:sp>
        <p:nvSpPr>
          <p:cNvPr id="58" name="Rectangle 57"/>
          <p:cNvSpPr/>
          <p:nvPr/>
        </p:nvSpPr>
        <p:spPr>
          <a:xfrm>
            <a:off x="6080760" y="3547872"/>
            <a:ext cx="27660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080760" y="3547872"/>
            <a:ext cx="2766060" cy="256032"/>
          </a:xfrm>
          <a:prstGeom prst="rect">
            <a:avLst/>
          </a:prstGeom>
          <a:noFill/>
        </p:spPr>
        <p:txBody>
          <a:bodyPr wrap="square">
            <a:spAutoFit/>
          </a:bodyPr>
          <a:lstStyle/>
          <a:p>
            <a:pPr algn="ctr">
              <a:defRPr sz="950" b="1">
                <a:solidFill>
                  <a:srgbClr val="323232"/>
                </a:solidFill>
                <a:latin typeface="Calibri"/>
              </a:defRPr>
            </a:pPr>
            <a:r>
              <a:t>5,000 daily copilot users</a:t>
            </a:r>
          </a:p>
        </p:txBody>
      </p:sp>
      <p:sp>
        <p:nvSpPr>
          <p:cNvPr id="60" name="Rectangle 59"/>
          <p:cNvSpPr/>
          <p:nvPr/>
        </p:nvSpPr>
        <p:spPr>
          <a:xfrm>
            <a:off x="8846820" y="3547872"/>
            <a:ext cx="27660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846820" y="3547872"/>
            <a:ext cx="2766060" cy="256032"/>
          </a:xfrm>
          <a:prstGeom prst="rect">
            <a:avLst/>
          </a:prstGeom>
          <a:noFill/>
        </p:spPr>
        <p:txBody>
          <a:bodyPr wrap="square">
            <a:spAutoFit/>
          </a:bodyPr>
          <a:lstStyle/>
          <a:p>
            <a:pPr algn="ctr">
              <a:defRPr sz="950" b="1">
                <a:solidFill>
                  <a:srgbClr val="2E7D32"/>
                </a:solidFill>
                <a:latin typeface="Calibri"/>
              </a:defRPr>
            </a:pPr>
            <a:r>
              <a:t>Baseline: 200 pilot users → Target: 5,000; 5% → 30% faster processing</a:t>
            </a:r>
          </a:p>
        </p:txBody>
      </p:sp>
      <p:sp>
        <p:nvSpPr>
          <p:cNvPr id="62" name="TextBox 61"/>
          <p:cNvSpPr txBox="1"/>
          <p:nvPr/>
        </p:nvSpPr>
        <p:spPr>
          <a:xfrm>
            <a:off x="548640" y="4846320"/>
            <a:ext cx="10972800" cy="365760"/>
          </a:xfrm>
          <a:prstGeom prst="rect">
            <a:avLst/>
          </a:prstGeom>
          <a:noFill/>
        </p:spPr>
        <p:txBody>
          <a:bodyPr wrap="square">
            <a:spAutoFit/>
          </a:bodyPr>
          <a:lstStyle/>
          <a:p>
            <a:pPr algn="l">
              <a:defRPr sz="1300" b="1">
                <a:solidFill>
                  <a:srgbClr val="002952"/>
                </a:solidFill>
                <a:latin typeface="Calibri"/>
              </a:defRPr>
            </a:pPr>
            <a:r>
              <a:t>Cross-Layer Alignment Example:</a:t>
            </a:r>
          </a:p>
        </p:txBody>
      </p:sp>
      <p:sp>
        <p:nvSpPr>
          <p:cNvPr id="63" name="TextBox 62"/>
          <p:cNvSpPr txBox="1"/>
          <p:nvPr/>
        </p:nvSpPr>
        <p:spPr>
          <a:xfrm>
            <a:off x="548640" y="5257800"/>
            <a:ext cx="10972800" cy="731520"/>
          </a:xfrm>
          <a:prstGeom prst="rect">
            <a:avLst/>
          </a:prstGeom>
          <a:noFill/>
        </p:spPr>
        <p:txBody>
          <a:bodyPr wrap="square">
            <a:spAutoFit/>
          </a:bodyPr>
          <a:lstStyle/>
          <a:p>
            <a:pPr algn="l">
              <a:defRPr sz="1200" b="0">
                <a:solidFill>
                  <a:srgbClr val="323232"/>
                </a:solidFill>
                <a:latin typeface="Calibri"/>
              </a:defRPr>
            </a:pPr>
            <a:r>
              <a:t>Data layer (Unified Customer Intelligence) enables Gen AI layer (Banking Copilot needs unified customer context) which drives Digital layer (AI-First Operations reduces efficiency ratio) which delivers Business layer outcomes (cost savings fund Real-Time Payment investment). Each layer reinforces the others.</a:t>
            </a:r>
          </a:p>
        </p:txBody>
      </p:sp>
      <p:sp>
        <p:nvSpPr>
          <p:cNvPr id="64" name="TextBox 63"/>
          <p:cNvSpPr txBox="1"/>
          <p:nvPr/>
        </p:nvSpPr>
        <p:spPr>
          <a:xfrm>
            <a:off x="548640" y="6035040"/>
            <a:ext cx="10972800" cy="365760"/>
          </a:xfrm>
          <a:prstGeom prst="rect">
            <a:avLst/>
          </a:prstGeom>
          <a:noFill/>
        </p:spPr>
        <p:txBody>
          <a:bodyPr wrap="square">
            <a:spAutoFit/>
          </a:bodyPr>
          <a:lstStyle/>
          <a:p>
            <a:pPr algn="ctr">
              <a:defRPr sz="1200" b="1">
                <a:solidFill>
                  <a:srgbClr val="0066B2"/>
                </a:solidFill>
                <a:latin typeface="Calibri"/>
              </a:defRPr>
            </a:pPr>
            <a:r>
              <a:t>Total: 6 strategies  |  6 strategic OKRs  |  13 measurable key results  |  All traced to TOWS actions from Step 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48640"/>
          </a:xfrm>
          <a:prstGeom prst="rect">
            <a:avLst/>
          </a:prstGeom>
          <a:noFill/>
        </p:spPr>
        <p:txBody>
          <a:bodyPr wrap="square">
            <a:spAutoFit/>
          </a:bodyPr>
          <a:lstStyle/>
          <a:p>
            <a:pPr algn="l">
              <a:defRPr sz="2800" b="1">
                <a:solidFill>
                  <a:srgbClr val="002952"/>
                </a:solidFill>
                <a:latin typeface="Calibri"/>
              </a:defRPr>
            </a:pPr>
            <a:r>
              <a:t>Case Study: Step 5 — Initiative Prioritization &amp; Digital Products</a:t>
            </a:r>
          </a:p>
        </p:txBody>
      </p:sp>
      <p:sp>
        <p:nvSpPr>
          <p:cNvPr id="4" name="TextBox 3"/>
          <p:cNvSpPr txBox="1"/>
          <p:nvPr/>
        </p:nvSpPr>
        <p:spPr>
          <a:xfrm>
            <a:off x="548640" y="777240"/>
            <a:ext cx="10972800" cy="411480"/>
          </a:xfrm>
          <a:prstGeom prst="rect">
            <a:avLst/>
          </a:prstGeom>
          <a:noFill/>
        </p:spPr>
        <p:txBody>
          <a:bodyPr wrap="square">
            <a:spAutoFit/>
          </a:bodyPr>
          <a:lstStyle/>
          <a:p>
            <a:pPr algn="l">
              <a:defRPr sz="1300" b="0">
                <a:solidFill>
                  <a:srgbClr val="787878"/>
                </a:solidFill>
                <a:latin typeface="Calibri"/>
              </a:defRPr>
            </a:pPr>
            <a:r>
              <a:t>RICE quantitative scoring replaces politics. Formula determines roadmap phasing.</a:t>
            </a:r>
          </a:p>
        </p:txBody>
      </p:sp>
      <p:sp>
        <p:nvSpPr>
          <p:cNvPr id="5" name="TextBox 4"/>
          <p:cNvSpPr txBox="1"/>
          <p:nvPr/>
        </p:nvSpPr>
        <p:spPr>
          <a:xfrm>
            <a:off x="548640" y="1234440"/>
            <a:ext cx="10972800" cy="640080"/>
          </a:xfrm>
          <a:prstGeom prst="rect">
            <a:avLst/>
          </a:prstGeom>
          <a:noFill/>
        </p:spPr>
        <p:txBody>
          <a:bodyPr wrap="square">
            <a:spAutoFit/>
          </a:bodyPr>
          <a:lstStyle/>
          <a:p>
            <a:pPr algn="l">
              <a:defRPr sz="1300" b="0">
                <a:solidFill>
                  <a:srgbClr val="323232"/>
                </a:solidFill>
                <a:latin typeface="Calibri"/>
              </a:defRPr>
            </a:pPr>
            <a:r>
              <a:t>Traditional prioritization uses MoSCoW, dot voting, or executive preference. BTA applies standardized RICE scoring where Reach is measured in affected users, Impact is scored against strategic alignment, Confidence reflects data availability, and Effort is estimated from scope. The formula drives phasing: Quick Win (RICE&gt;5, Effort&lt;3) → Strategic → Long Term.</a:t>
            </a:r>
          </a:p>
        </p:txBody>
      </p:sp>
      <p:sp>
        <p:nvSpPr>
          <p:cNvPr id="6" name="Rectangle 5"/>
          <p:cNvSpPr/>
          <p:nvPr/>
        </p:nvSpPr>
        <p:spPr>
          <a:xfrm>
            <a:off x="548640" y="2011680"/>
            <a:ext cx="1580605"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011680"/>
            <a:ext cx="1580605" cy="256032"/>
          </a:xfrm>
          <a:prstGeom prst="rect">
            <a:avLst/>
          </a:prstGeom>
          <a:noFill/>
        </p:spPr>
        <p:txBody>
          <a:bodyPr wrap="square">
            <a:spAutoFit/>
          </a:bodyPr>
          <a:lstStyle/>
          <a:p>
            <a:pPr algn="ctr">
              <a:defRPr sz="950" b="1">
                <a:solidFill>
                  <a:srgbClr val="FFFFFF"/>
                </a:solidFill>
                <a:latin typeface="Calibri"/>
              </a:defRPr>
            </a:pPr>
            <a:r>
              <a:t>Initiative</a:t>
            </a:r>
          </a:p>
        </p:txBody>
      </p:sp>
      <p:sp>
        <p:nvSpPr>
          <p:cNvPr id="8" name="Rectangle 7"/>
          <p:cNvSpPr/>
          <p:nvPr/>
        </p:nvSpPr>
        <p:spPr>
          <a:xfrm>
            <a:off x="2129245" y="2011680"/>
            <a:ext cx="1580605"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29245" y="2011680"/>
            <a:ext cx="1580605" cy="256032"/>
          </a:xfrm>
          <a:prstGeom prst="rect">
            <a:avLst/>
          </a:prstGeom>
          <a:noFill/>
        </p:spPr>
        <p:txBody>
          <a:bodyPr wrap="square">
            <a:spAutoFit/>
          </a:bodyPr>
          <a:lstStyle/>
          <a:p>
            <a:pPr algn="ctr">
              <a:defRPr sz="950" b="1">
                <a:solidFill>
                  <a:srgbClr val="FFFFFF"/>
                </a:solidFill>
                <a:latin typeface="Calibri"/>
              </a:defRPr>
            </a:pPr>
            <a:r>
              <a:t>Strategy Link</a:t>
            </a:r>
          </a:p>
        </p:txBody>
      </p:sp>
      <p:sp>
        <p:nvSpPr>
          <p:cNvPr id="10" name="Rectangle 9"/>
          <p:cNvSpPr/>
          <p:nvPr/>
        </p:nvSpPr>
        <p:spPr>
          <a:xfrm>
            <a:off x="3709851" y="2011680"/>
            <a:ext cx="1580605"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9851" y="2011680"/>
            <a:ext cx="1580605" cy="256032"/>
          </a:xfrm>
          <a:prstGeom prst="rect">
            <a:avLst/>
          </a:prstGeom>
          <a:noFill/>
        </p:spPr>
        <p:txBody>
          <a:bodyPr wrap="square">
            <a:spAutoFit/>
          </a:bodyPr>
          <a:lstStyle/>
          <a:p>
            <a:pPr algn="ctr">
              <a:defRPr sz="950" b="1">
                <a:solidFill>
                  <a:srgbClr val="FFFFFF"/>
                </a:solidFill>
                <a:latin typeface="Calibri"/>
              </a:defRPr>
            </a:pPr>
            <a:r>
              <a:t>Reach</a:t>
            </a:r>
          </a:p>
        </p:txBody>
      </p:sp>
      <p:sp>
        <p:nvSpPr>
          <p:cNvPr id="12" name="Rectangle 11"/>
          <p:cNvSpPr/>
          <p:nvPr/>
        </p:nvSpPr>
        <p:spPr>
          <a:xfrm>
            <a:off x="5290457" y="2011680"/>
            <a:ext cx="1580605"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90457" y="2011680"/>
            <a:ext cx="1580605" cy="256032"/>
          </a:xfrm>
          <a:prstGeom prst="rect">
            <a:avLst/>
          </a:prstGeom>
          <a:noFill/>
        </p:spPr>
        <p:txBody>
          <a:bodyPr wrap="square">
            <a:spAutoFit/>
          </a:bodyPr>
          <a:lstStyle/>
          <a:p>
            <a:pPr algn="ctr">
              <a:defRPr sz="950" b="1">
                <a:solidFill>
                  <a:srgbClr val="FFFFFF"/>
                </a:solidFill>
                <a:latin typeface="Calibri"/>
              </a:defRPr>
            </a:pPr>
            <a:r>
              <a:t>Impact</a:t>
            </a:r>
          </a:p>
        </p:txBody>
      </p:sp>
      <p:sp>
        <p:nvSpPr>
          <p:cNvPr id="14" name="Rectangle 13"/>
          <p:cNvSpPr/>
          <p:nvPr/>
        </p:nvSpPr>
        <p:spPr>
          <a:xfrm>
            <a:off x="6871062" y="2011680"/>
            <a:ext cx="1580605"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71062" y="2011680"/>
            <a:ext cx="1580605" cy="256032"/>
          </a:xfrm>
          <a:prstGeom prst="rect">
            <a:avLst/>
          </a:prstGeom>
          <a:noFill/>
        </p:spPr>
        <p:txBody>
          <a:bodyPr wrap="square">
            <a:spAutoFit/>
          </a:bodyPr>
          <a:lstStyle/>
          <a:p>
            <a:pPr algn="ctr">
              <a:defRPr sz="950" b="1">
                <a:solidFill>
                  <a:srgbClr val="FFFFFF"/>
                </a:solidFill>
                <a:latin typeface="Calibri"/>
              </a:defRPr>
            </a:pPr>
            <a:r>
              <a:t>Conf.</a:t>
            </a:r>
          </a:p>
        </p:txBody>
      </p:sp>
      <p:sp>
        <p:nvSpPr>
          <p:cNvPr id="16" name="Rectangle 15"/>
          <p:cNvSpPr/>
          <p:nvPr/>
        </p:nvSpPr>
        <p:spPr>
          <a:xfrm>
            <a:off x="8451668" y="2011680"/>
            <a:ext cx="1580605"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1668" y="2011680"/>
            <a:ext cx="1580605" cy="256032"/>
          </a:xfrm>
          <a:prstGeom prst="rect">
            <a:avLst/>
          </a:prstGeom>
          <a:noFill/>
        </p:spPr>
        <p:txBody>
          <a:bodyPr wrap="square">
            <a:spAutoFit/>
          </a:bodyPr>
          <a:lstStyle/>
          <a:p>
            <a:pPr algn="ctr">
              <a:defRPr sz="950" b="1">
                <a:solidFill>
                  <a:srgbClr val="FFFFFF"/>
                </a:solidFill>
                <a:latin typeface="Calibri"/>
              </a:defRPr>
            </a:pPr>
            <a:r>
              <a:t>Effort</a:t>
            </a:r>
          </a:p>
        </p:txBody>
      </p:sp>
      <p:sp>
        <p:nvSpPr>
          <p:cNvPr id="18" name="Rectangle 17"/>
          <p:cNvSpPr/>
          <p:nvPr/>
        </p:nvSpPr>
        <p:spPr>
          <a:xfrm>
            <a:off x="10032274" y="2011680"/>
            <a:ext cx="1580605"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32274" y="2011680"/>
            <a:ext cx="1580605" cy="256032"/>
          </a:xfrm>
          <a:prstGeom prst="rect">
            <a:avLst/>
          </a:prstGeom>
          <a:noFill/>
        </p:spPr>
        <p:txBody>
          <a:bodyPr wrap="square">
            <a:spAutoFit/>
          </a:bodyPr>
          <a:lstStyle/>
          <a:p>
            <a:pPr algn="ctr">
              <a:defRPr sz="950" b="1">
                <a:solidFill>
                  <a:srgbClr val="FFFFFF"/>
                </a:solidFill>
                <a:latin typeface="Calibri"/>
              </a:defRPr>
            </a:pPr>
            <a:r>
              <a:t>Phase</a:t>
            </a:r>
          </a:p>
        </p:txBody>
      </p:sp>
      <p:sp>
        <p:nvSpPr>
          <p:cNvPr id="20" name="Rectangle 19"/>
          <p:cNvSpPr/>
          <p:nvPr/>
        </p:nvSpPr>
        <p:spPr>
          <a:xfrm>
            <a:off x="548640" y="2267712"/>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2267712"/>
            <a:ext cx="1580605" cy="256032"/>
          </a:xfrm>
          <a:prstGeom prst="rect">
            <a:avLst/>
          </a:prstGeom>
          <a:noFill/>
        </p:spPr>
        <p:txBody>
          <a:bodyPr wrap="square">
            <a:spAutoFit/>
          </a:bodyPr>
          <a:lstStyle/>
          <a:p>
            <a:pPr algn="ctr">
              <a:defRPr sz="950" b="0">
                <a:solidFill>
                  <a:srgbClr val="323232"/>
                </a:solidFill>
                <a:latin typeface="Calibri"/>
              </a:defRPr>
            </a:pPr>
            <a:r>
              <a:t>FedNow Merchant Settlement</a:t>
            </a:r>
          </a:p>
        </p:txBody>
      </p:sp>
      <p:sp>
        <p:nvSpPr>
          <p:cNvPr id="22" name="Rectangle 21"/>
          <p:cNvSpPr/>
          <p:nvPr/>
        </p:nvSpPr>
        <p:spPr>
          <a:xfrm>
            <a:off x="2129245" y="2267712"/>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29245" y="2267712"/>
            <a:ext cx="1580605" cy="256032"/>
          </a:xfrm>
          <a:prstGeom prst="rect">
            <a:avLst/>
          </a:prstGeom>
          <a:noFill/>
        </p:spPr>
        <p:txBody>
          <a:bodyPr wrap="square">
            <a:spAutoFit/>
          </a:bodyPr>
          <a:lstStyle/>
          <a:p>
            <a:pPr algn="ctr">
              <a:defRPr sz="950" b="0">
                <a:solidFill>
                  <a:srgbClr val="323232"/>
                </a:solidFill>
                <a:latin typeface="Calibri"/>
              </a:defRPr>
            </a:pPr>
            <a:r>
              <a:t>RT Payment Leadership</a:t>
            </a:r>
          </a:p>
        </p:txBody>
      </p:sp>
      <p:sp>
        <p:nvSpPr>
          <p:cNvPr id="24" name="Rectangle 23"/>
          <p:cNvSpPr/>
          <p:nvPr/>
        </p:nvSpPr>
        <p:spPr>
          <a:xfrm>
            <a:off x="3709851" y="2267712"/>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09851" y="2267712"/>
            <a:ext cx="1580605" cy="256032"/>
          </a:xfrm>
          <a:prstGeom prst="rect">
            <a:avLst/>
          </a:prstGeom>
          <a:noFill/>
        </p:spPr>
        <p:txBody>
          <a:bodyPr wrap="square">
            <a:spAutoFit/>
          </a:bodyPr>
          <a:lstStyle/>
          <a:p>
            <a:pPr algn="ctr">
              <a:defRPr sz="950" b="0">
                <a:solidFill>
                  <a:srgbClr val="323232"/>
                </a:solidFill>
                <a:latin typeface="Calibri"/>
              </a:defRPr>
            </a:pPr>
            <a:r>
              <a:t>50K merchants</a:t>
            </a:r>
          </a:p>
        </p:txBody>
      </p:sp>
      <p:sp>
        <p:nvSpPr>
          <p:cNvPr id="26" name="Rectangle 25"/>
          <p:cNvSpPr/>
          <p:nvPr/>
        </p:nvSpPr>
        <p:spPr>
          <a:xfrm>
            <a:off x="5290457" y="2267712"/>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90457" y="2267712"/>
            <a:ext cx="1580605" cy="256032"/>
          </a:xfrm>
          <a:prstGeom prst="rect">
            <a:avLst/>
          </a:prstGeom>
          <a:noFill/>
        </p:spPr>
        <p:txBody>
          <a:bodyPr wrap="square">
            <a:spAutoFit/>
          </a:bodyPr>
          <a:lstStyle/>
          <a:p>
            <a:pPr algn="ctr">
              <a:defRPr sz="950" b="0">
                <a:solidFill>
                  <a:srgbClr val="323232"/>
                </a:solidFill>
                <a:latin typeface="Calibri"/>
              </a:defRPr>
            </a:pPr>
            <a:r>
              <a:t>3</a:t>
            </a:r>
          </a:p>
        </p:txBody>
      </p:sp>
      <p:sp>
        <p:nvSpPr>
          <p:cNvPr id="28" name="Rectangle 27"/>
          <p:cNvSpPr/>
          <p:nvPr/>
        </p:nvSpPr>
        <p:spPr>
          <a:xfrm>
            <a:off x="6871062" y="2267712"/>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71062" y="2267712"/>
            <a:ext cx="1580605" cy="256032"/>
          </a:xfrm>
          <a:prstGeom prst="rect">
            <a:avLst/>
          </a:prstGeom>
          <a:noFill/>
        </p:spPr>
        <p:txBody>
          <a:bodyPr wrap="square">
            <a:spAutoFit/>
          </a:bodyPr>
          <a:lstStyle/>
          <a:p>
            <a:pPr algn="ctr">
              <a:defRPr sz="950" b="0">
                <a:solidFill>
                  <a:srgbClr val="323232"/>
                </a:solidFill>
                <a:latin typeface="Calibri"/>
              </a:defRPr>
            </a:pPr>
            <a:r>
              <a:t>0.8</a:t>
            </a:r>
          </a:p>
        </p:txBody>
      </p:sp>
      <p:sp>
        <p:nvSpPr>
          <p:cNvPr id="30" name="Rectangle 29"/>
          <p:cNvSpPr/>
          <p:nvPr/>
        </p:nvSpPr>
        <p:spPr>
          <a:xfrm>
            <a:off x="8451668" y="2267712"/>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1668" y="2267712"/>
            <a:ext cx="1580605" cy="256032"/>
          </a:xfrm>
          <a:prstGeom prst="rect">
            <a:avLst/>
          </a:prstGeom>
          <a:noFill/>
        </p:spPr>
        <p:txBody>
          <a:bodyPr wrap="square">
            <a:spAutoFit/>
          </a:bodyPr>
          <a:lstStyle/>
          <a:p>
            <a:pPr algn="ctr">
              <a:defRPr sz="950" b="0">
                <a:solidFill>
                  <a:srgbClr val="323232"/>
                </a:solidFill>
                <a:latin typeface="Calibri"/>
              </a:defRPr>
            </a:pPr>
            <a:r>
              <a:t>10</a:t>
            </a:r>
          </a:p>
        </p:txBody>
      </p:sp>
      <p:sp>
        <p:nvSpPr>
          <p:cNvPr id="32" name="Rectangle 31"/>
          <p:cNvSpPr/>
          <p:nvPr/>
        </p:nvSpPr>
        <p:spPr>
          <a:xfrm>
            <a:off x="10032274" y="2267712"/>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32274" y="2267712"/>
            <a:ext cx="1580605" cy="256032"/>
          </a:xfrm>
          <a:prstGeom prst="rect">
            <a:avLst/>
          </a:prstGeom>
          <a:noFill/>
        </p:spPr>
        <p:txBody>
          <a:bodyPr wrap="square">
            <a:spAutoFit/>
          </a:bodyPr>
          <a:lstStyle/>
          <a:p>
            <a:pPr algn="ctr">
              <a:defRPr sz="950" b="0">
                <a:solidFill>
                  <a:srgbClr val="323232"/>
                </a:solidFill>
                <a:latin typeface="Calibri"/>
              </a:defRPr>
            </a:pPr>
            <a:r>
              <a:t>Phase 1</a:t>
            </a:r>
          </a:p>
        </p:txBody>
      </p:sp>
      <p:sp>
        <p:nvSpPr>
          <p:cNvPr id="34" name="Rectangle 33"/>
          <p:cNvSpPr/>
          <p:nvPr/>
        </p:nvSpPr>
        <p:spPr>
          <a:xfrm>
            <a:off x="548640" y="2523744"/>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2523744"/>
            <a:ext cx="1580605" cy="256032"/>
          </a:xfrm>
          <a:prstGeom prst="rect">
            <a:avLst/>
          </a:prstGeom>
          <a:noFill/>
        </p:spPr>
        <p:txBody>
          <a:bodyPr wrap="square">
            <a:spAutoFit/>
          </a:bodyPr>
          <a:lstStyle/>
          <a:p>
            <a:pPr algn="ctr">
              <a:defRPr sz="950" b="0">
                <a:solidFill>
                  <a:srgbClr val="323232"/>
                </a:solidFill>
                <a:latin typeface="Calibri"/>
              </a:defRPr>
            </a:pPr>
            <a:r>
              <a:t>Loan Officer AI Assistant</a:t>
            </a:r>
          </a:p>
        </p:txBody>
      </p:sp>
      <p:sp>
        <p:nvSpPr>
          <p:cNvPr id="36" name="Rectangle 35"/>
          <p:cNvSpPr/>
          <p:nvPr/>
        </p:nvSpPr>
        <p:spPr>
          <a:xfrm>
            <a:off x="2129245" y="2523744"/>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129245" y="2523744"/>
            <a:ext cx="1580605" cy="256032"/>
          </a:xfrm>
          <a:prstGeom prst="rect">
            <a:avLst/>
          </a:prstGeom>
          <a:noFill/>
        </p:spPr>
        <p:txBody>
          <a:bodyPr wrap="square">
            <a:spAutoFit/>
          </a:bodyPr>
          <a:lstStyle/>
          <a:p>
            <a:pPr algn="ctr">
              <a:defRPr sz="950" b="0">
                <a:solidFill>
                  <a:srgbClr val="323232"/>
                </a:solidFill>
                <a:latin typeface="Calibri"/>
              </a:defRPr>
            </a:pPr>
            <a:r>
              <a:t>Gen AI Copilot</a:t>
            </a:r>
          </a:p>
        </p:txBody>
      </p:sp>
      <p:sp>
        <p:nvSpPr>
          <p:cNvPr id="38" name="Rectangle 37"/>
          <p:cNvSpPr/>
          <p:nvPr/>
        </p:nvSpPr>
        <p:spPr>
          <a:xfrm>
            <a:off x="3709851" y="2523744"/>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09851" y="2523744"/>
            <a:ext cx="1580605" cy="256032"/>
          </a:xfrm>
          <a:prstGeom prst="rect">
            <a:avLst/>
          </a:prstGeom>
          <a:noFill/>
        </p:spPr>
        <p:txBody>
          <a:bodyPr wrap="square">
            <a:spAutoFit/>
          </a:bodyPr>
          <a:lstStyle/>
          <a:p>
            <a:pPr algn="ctr">
              <a:defRPr sz="950" b="0">
                <a:solidFill>
                  <a:srgbClr val="323232"/>
                </a:solidFill>
                <a:latin typeface="Calibri"/>
              </a:defRPr>
            </a:pPr>
            <a:r>
              <a:t>3K officers</a:t>
            </a:r>
          </a:p>
        </p:txBody>
      </p:sp>
      <p:sp>
        <p:nvSpPr>
          <p:cNvPr id="40" name="Rectangle 39"/>
          <p:cNvSpPr/>
          <p:nvPr/>
        </p:nvSpPr>
        <p:spPr>
          <a:xfrm>
            <a:off x="5290457" y="2523744"/>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290457" y="2523744"/>
            <a:ext cx="1580605" cy="256032"/>
          </a:xfrm>
          <a:prstGeom prst="rect">
            <a:avLst/>
          </a:prstGeom>
          <a:noFill/>
        </p:spPr>
        <p:txBody>
          <a:bodyPr wrap="square">
            <a:spAutoFit/>
          </a:bodyPr>
          <a:lstStyle/>
          <a:p>
            <a:pPr algn="ctr">
              <a:defRPr sz="950" b="0">
                <a:solidFill>
                  <a:srgbClr val="323232"/>
                </a:solidFill>
                <a:latin typeface="Calibri"/>
              </a:defRPr>
            </a:pPr>
            <a:r>
              <a:t>3</a:t>
            </a:r>
          </a:p>
        </p:txBody>
      </p:sp>
      <p:sp>
        <p:nvSpPr>
          <p:cNvPr id="42" name="Rectangle 41"/>
          <p:cNvSpPr/>
          <p:nvPr/>
        </p:nvSpPr>
        <p:spPr>
          <a:xfrm>
            <a:off x="6871062" y="2523744"/>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71062" y="2523744"/>
            <a:ext cx="1580605" cy="256032"/>
          </a:xfrm>
          <a:prstGeom prst="rect">
            <a:avLst/>
          </a:prstGeom>
          <a:noFill/>
        </p:spPr>
        <p:txBody>
          <a:bodyPr wrap="square">
            <a:spAutoFit/>
          </a:bodyPr>
          <a:lstStyle/>
          <a:p>
            <a:pPr algn="ctr">
              <a:defRPr sz="950" b="0">
                <a:solidFill>
                  <a:srgbClr val="323232"/>
                </a:solidFill>
                <a:latin typeface="Calibri"/>
              </a:defRPr>
            </a:pPr>
            <a:r>
              <a:t>0.8</a:t>
            </a:r>
          </a:p>
        </p:txBody>
      </p:sp>
      <p:sp>
        <p:nvSpPr>
          <p:cNvPr id="44" name="Rectangle 43"/>
          <p:cNvSpPr/>
          <p:nvPr/>
        </p:nvSpPr>
        <p:spPr>
          <a:xfrm>
            <a:off x="8451668" y="2523744"/>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51668" y="2523744"/>
            <a:ext cx="1580605" cy="256032"/>
          </a:xfrm>
          <a:prstGeom prst="rect">
            <a:avLst/>
          </a:prstGeom>
          <a:noFill/>
        </p:spPr>
        <p:txBody>
          <a:bodyPr wrap="square">
            <a:spAutoFit/>
          </a:bodyPr>
          <a:lstStyle/>
          <a:p>
            <a:pPr algn="ctr">
              <a:defRPr sz="950" b="0">
                <a:solidFill>
                  <a:srgbClr val="323232"/>
                </a:solidFill>
                <a:latin typeface="Calibri"/>
              </a:defRPr>
            </a:pPr>
            <a:r>
              <a:t>8</a:t>
            </a:r>
          </a:p>
        </p:txBody>
      </p:sp>
      <p:sp>
        <p:nvSpPr>
          <p:cNvPr id="46" name="Rectangle 45"/>
          <p:cNvSpPr/>
          <p:nvPr/>
        </p:nvSpPr>
        <p:spPr>
          <a:xfrm>
            <a:off x="10032274" y="2523744"/>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032274" y="2523744"/>
            <a:ext cx="1580605" cy="256032"/>
          </a:xfrm>
          <a:prstGeom prst="rect">
            <a:avLst/>
          </a:prstGeom>
          <a:noFill/>
        </p:spPr>
        <p:txBody>
          <a:bodyPr wrap="square">
            <a:spAutoFit/>
          </a:bodyPr>
          <a:lstStyle/>
          <a:p>
            <a:pPr algn="ctr">
              <a:defRPr sz="950" b="0">
                <a:solidFill>
                  <a:srgbClr val="323232"/>
                </a:solidFill>
                <a:latin typeface="Calibri"/>
              </a:defRPr>
            </a:pPr>
            <a:r>
              <a:t>Phase 1</a:t>
            </a:r>
          </a:p>
        </p:txBody>
      </p:sp>
      <p:sp>
        <p:nvSpPr>
          <p:cNvPr id="48" name="Rectangle 47"/>
          <p:cNvSpPr/>
          <p:nvPr/>
        </p:nvSpPr>
        <p:spPr>
          <a:xfrm>
            <a:off x="548640" y="2779776"/>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 y="2779776"/>
            <a:ext cx="1580605" cy="256032"/>
          </a:xfrm>
          <a:prstGeom prst="rect">
            <a:avLst/>
          </a:prstGeom>
          <a:noFill/>
        </p:spPr>
        <p:txBody>
          <a:bodyPr wrap="square">
            <a:spAutoFit/>
          </a:bodyPr>
          <a:lstStyle/>
          <a:p>
            <a:pPr algn="ctr">
              <a:defRPr sz="950" b="0">
                <a:solidFill>
                  <a:srgbClr val="323232"/>
                </a:solidFill>
                <a:latin typeface="Calibri"/>
              </a:defRPr>
            </a:pPr>
            <a:r>
              <a:t>AI Mortgage Auto-Decisioning</a:t>
            </a:r>
          </a:p>
        </p:txBody>
      </p:sp>
      <p:sp>
        <p:nvSpPr>
          <p:cNvPr id="50" name="Rectangle 49"/>
          <p:cNvSpPr/>
          <p:nvPr/>
        </p:nvSpPr>
        <p:spPr>
          <a:xfrm>
            <a:off x="2129245" y="2779776"/>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129245" y="2779776"/>
            <a:ext cx="1580605" cy="256032"/>
          </a:xfrm>
          <a:prstGeom prst="rect">
            <a:avLst/>
          </a:prstGeom>
          <a:noFill/>
        </p:spPr>
        <p:txBody>
          <a:bodyPr wrap="square">
            <a:spAutoFit/>
          </a:bodyPr>
          <a:lstStyle/>
          <a:p>
            <a:pPr algn="ctr">
              <a:defRPr sz="950" b="0">
                <a:solidFill>
                  <a:srgbClr val="323232"/>
                </a:solidFill>
                <a:latin typeface="Calibri"/>
              </a:defRPr>
            </a:pPr>
            <a:r>
              <a:t>AI-First Ops</a:t>
            </a:r>
          </a:p>
        </p:txBody>
      </p:sp>
      <p:sp>
        <p:nvSpPr>
          <p:cNvPr id="52" name="Rectangle 51"/>
          <p:cNvSpPr/>
          <p:nvPr/>
        </p:nvSpPr>
        <p:spPr>
          <a:xfrm>
            <a:off x="3709851" y="2779776"/>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709851" y="2779776"/>
            <a:ext cx="1580605" cy="256032"/>
          </a:xfrm>
          <a:prstGeom prst="rect">
            <a:avLst/>
          </a:prstGeom>
          <a:noFill/>
        </p:spPr>
        <p:txBody>
          <a:bodyPr wrap="square">
            <a:spAutoFit/>
          </a:bodyPr>
          <a:lstStyle/>
          <a:p>
            <a:pPr algn="ctr">
              <a:defRPr sz="950" b="0">
                <a:solidFill>
                  <a:srgbClr val="323232"/>
                </a:solidFill>
                <a:latin typeface="Calibri"/>
              </a:defRPr>
            </a:pPr>
            <a:r>
              <a:t>100K applications</a:t>
            </a:r>
          </a:p>
        </p:txBody>
      </p:sp>
      <p:sp>
        <p:nvSpPr>
          <p:cNvPr id="54" name="Rectangle 53"/>
          <p:cNvSpPr/>
          <p:nvPr/>
        </p:nvSpPr>
        <p:spPr>
          <a:xfrm>
            <a:off x="5290457" y="2779776"/>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290457" y="2779776"/>
            <a:ext cx="1580605" cy="256032"/>
          </a:xfrm>
          <a:prstGeom prst="rect">
            <a:avLst/>
          </a:prstGeom>
          <a:noFill/>
        </p:spPr>
        <p:txBody>
          <a:bodyPr wrap="square">
            <a:spAutoFit/>
          </a:bodyPr>
          <a:lstStyle/>
          <a:p>
            <a:pPr algn="ctr">
              <a:defRPr sz="950" b="0">
                <a:solidFill>
                  <a:srgbClr val="323232"/>
                </a:solidFill>
                <a:latin typeface="Calibri"/>
              </a:defRPr>
            </a:pPr>
            <a:r>
              <a:t>3</a:t>
            </a:r>
          </a:p>
        </p:txBody>
      </p:sp>
      <p:sp>
        <p:nvSpPr>
          <p:cNvPr id="56" name="Rectangle 55"/>
          <p:cNvSpPr/>
          <p:nvPr/>
        </p:nvSpPr>
        <p:spPr>
          <a:xfrm>
            <a:off x="6871062" y="2779776"/>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871062" y="2779776"/>
            <a:ext cx="1580605" cy="256032"/>
          </a:xfrm>
          <a:prstGeom prst="rect">
            <a:avLst/>
          </a:prstGeom>
          <a:noFill/>
        </p:spPr>
        <p:txBody>
          <a:bodyPr wrap="square">
            <a:spAutoFit/>
          </a:bodyPr>
          <a:lstStyle/>
          <a:p>
            <a:pPr algn="ctr">
              <a:defRPr sz="950" b="0">
                <a:solidFill>
                  <a:srgbClr val="323232"/>
                </a:solidFill>
                <a:latin typeface="Calibri"/>
              </a:defRPr>
            </a:pPr>
            <a:r>
              <a:t>0.8</a:t>
            </a:r>
          </a:p>
        </p:txBody>
      </p:sp>
      <p:sp>
        <p:nvSpPr>
          <p:cNvPr id="58" name="Rectangle 57"/>
          <p:cNvSpPr/>
          <p:nvPr/>
        </p:nvSpPr>
        <p:spPr>
          <a:xfrm>
            <a:off x="8451668" y="2779776"/>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51668" y="2779776"/>
            <a:ext cx="1580605" cy="256032"/>
          </a:xfrm>
          <a:prstGeom prst="rect">
            <a:avLst/>
          </a:prstGeom>
          <a:noFill/>
        </p:spPr>
        <p:txBody>
          <a:bodyPr wrap="square">
            <a:spAutoFit/>
          </a:bodyPr>
          <a:lstStyle/>
          <a:p>
            <a:pPr algn="ctr">
              <a:defRPr sz="950" b="0">
                <a:solidFill>
                  <a:srgbClr val="323232"/>
                </a:solidFill>
                <a:latin typeface="Calibri"/>
              </a:defRPr>
            </a:pPr>
            <a:r>
              <a:t>14</a:t>
            </a:r>
          </a:p>
        </p:txBody>
      </p:sp>
      <p:sp>
        <p:nvSpPr>
          <p:cNvPr id="60" name="Rectangle 59"/>
          <p:cNvSpPr/>
          <p:nvPr/>
        </p:nvSpPr>
        <p:spPr>
          <a:xfrm>
            <a:off x="10032274" y="2779776"/>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032274" y="2779776"/>
            <a:ext cx="1580605" cy="256032"/>
          </a:xfrm>
          <a:prstGeom prst="rect">
            <a:avLst/>
          </a:prstGeom>
          <a:noFill/>
        </p:spPr>
        <p:txBody>
          <a:bodyPr wrap="square">
            <a:spAutoFit/>
          </a:bodyPr>
          <a:lstStyle/>
          <a:p>
            <a:pPr algn="ctr">
              <a:defRPr sz="950" b="0">
                <a:solidFill>
                  <a:srgbClr val="323232"/>
                </a:solidFill>
                <a:latin typeface="Calibri"/>
              </a:defRPr>
            </a:pPr>
            <a:r>
              <a:t>Phase 1</a:t>
            </a:r>
          </a:p>
        </p:txBody>
      </p:sp>
      <p:sp>
        <p:nvSpPr>
          <p:cNvPr id="62" name="Rectangle 61"/>
          <p:cNvSpPr/>
          <p:nvPr/>
        </p:nvSpPr>
        <p:spPr>
          <a:xfrm>
            <a:off x="548640" y="3035808"/>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48640" y="3035808"/>
            <a:ext cx="1580605" cy="256032"/>
          </a:xfrm>
          <a:prstGeom prst="rect">
            <a:avLst/>
          </a:prstGeom>
          <a:noFill/>
        </p:spPr>
        <p:txBody>
          <a:bodyPr wrap="square">
            <a:spAutoFit/>
          </a:bodyPr>
          <a:lstStyle/>
          <a:p>
            <a:pPr algn="ctr">
              <a:defRPr sz="950" b="0">
                <a:solidFill>
                  <a:srgbClr val="323232"/>
                </a:solidFill>
                <a:latin typeface="Calibri"/>
              </a:defRPr>
            </a:pPr>
            <a:r>
              <a:t>Instant Account Opening</a:t>
            </a:r>
          </a:p>
        </p:txBody>
      </p:sp>
      <p:sp>
        <p:nvSpPr>
          <p:cNvPr id="64" name="Rectangle 63"/>
          <p:cNvSpPr/>
          <p:nvPr/>
        </p:nvSpPr>
        <p:spPr>
          <a:xfrm>
            <a:off x="2129245" y="3035808"/>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129245" y="3035808"/>
            <a:ext cx="1580605" cy="256032"/>
          </a:xfrm>
          <a:prstGeom prst="rect">
            <a:avLst/>
          </a:prstGeom>
          <a:noFill/>
        </p:spPr>
        <p:txBody>
          <a:bodyPr wrap="square">
            <a:spAutoFit/>
          </a:bodyPr>
          <a:lstStyle/>
          <a:p>
            <a:pPr algn="ctr">
              <a:defRPr sz="950" b="0">
                <a:solidFill>
                  <a:srgbClr val="323232"/>
                </a:solidFill>
                <a:latin typeface="Calibri"/>
              </a:defRPr>
            </a:pPr>
            <a:r>
              <a:t>Next-Gen Digital</a:t>
            </a:r>
          </a:p>
        </p:txBody>
      </p:sp>
      <p:sp>
        <p:nvSpPr>
          <p:cNvPr id="66" name="Rectangle 65"/>
          <p:cNvSpPr/>
          <p:nvPr/>
        </p:nvSpPr>
        <p:spPr>
          <a:xfrm>
            <a:off x="3709851" y="3035808"/>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709851" y="3035808"/>
            <a:ext cx="1580605" cy="256032"/>
          </a:xfrm>
          <a:prstGeom prst="rect">
            <a:avLst/>
          </a:prstGeom>
          <a:noFill/>
        </p:spPr>
        <p:txBody>
          <a:bodyPr wrap="square">
            <a:spAutoFit/>
          </a:bodyPr>
          <a:lstStyle/>
          <a:p>
            <a:pPr algn="ctr">
              <a:defRPr sz="950" b="0">
                <a:solidFill>
                  <a:srgbClr val="323232"/>
                </a:solidFill>
                <a:latin typeface="Calibri"/>
              </a:defRPr>
            </a:pPr>
            <a:r>
              <a:t>500K customers</a:t>
            </a:r>
          </a:p>
        </p:txBody>
      </p:sp>
      <p:sp>
        <p:nvSpPr>
          <p:cNvPr id="68" name="Rectangle 67"/>
          <p:cNvSpPr/>
          <p:nvPr/>
        </p:nvSpPr>
        <p:spPr>
          <a:xfrm>
            <a:off x="5290457" y="3035808"/>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290457" y="3035808"/>
            <a:ext cx="1580605" cy="256032"/>
          </a:xfrm>
          <a:prstGeom prst="rect">
            <a:avLst/>
          </a:prstGeom>
          <a:noFill/>
        </p:spPr>
        <p:txBody>
          <a:bodyPr wrap="square">
            <a:spAutoFit/>
          </a:bodyPr>
          <a:lstStyle/>
          <a:p>
            <a:pPr algn="ctr">
              <a:defRPr sz="950" b="0">
                <a:solidFill>
                  <a:srgbClr val="323232"/>
                </a:solidFill>
                <a:latin typeface="Calibri"/>
              </a:defRPr>
            </a:pPr>
            <a:r>
              <a:t>2</a:t>
            </a:r>
          </a:p>
        </p:txBody>
      </p:sp>
      <p:sp>
        <p:nvSpPr>
          <p:cNvPr id="70" name="Rectangle 69"/>
          <p:cNvSpPr/>
          <p:nvPr/>
        </p:nvSpPr>
        <p:spPr>
          <a:xfrm>
            <a:off x="6871062" y="3035808"/>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871062" y="3035808"/>
            <a:ext cx="1580605" cy="256032"/>
          </a:xfrm>
          <a:prstGeom prst="rect">
            <a:avLst/>
          </a:prstGeom>
          <a:noFill/>
        </p:spPr>
        <p:txBody>
          <a:bodyPr wrap="square">
            <a:spAutoFit/>
          </a:bodyPr>
          <a:lstStyle/>
          <a:p>
            <a:pPr algn="ctr">
              <a:defRPr sz="950" b="0">
                <a:solidFill>
                  <a:srgbClr val="323232"/>
                </a:solidFill>
                <a:latin typeface="Calibri"/>
              </a:defRPr>
            </a:pPr>
            <a:r>
              <a:t>1.0</a:t>
            </a:r>
          </a:p>
        </p:txBody>
      </p:sp>
      <p:sp>
        <p:nvSpPr>
          <p:cNvPr id="72" name="Rectangle 71"/>
          <p:cNvSpPr/>
          <p:nvPr/>
        </p:nvSpPr>
        <p:spPr>
          <a:xfrm>
            <a:off x="8451668" y="3035808"/>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451668" y="3035808"/>
            <a:ext cx="1580605" cy="256032"/>
          </a:xfrm>
          <a:prstGeom prst="rect">
            <a:avLst/>
          </a:prstGeom>
          <a:noFill/>
        </p:spPr>
        <p:txBody>
          <a:bodyPr wrap="square">
            <a:spAutoFit/>
          </a:bodyPr>
          <a:lstStyle/>
          <a:p>
            <a:pPr algn="ctr">
              <a:defRPr sz="950" b="0">
                <a:solidFill>
                  <a:srgbClr val="323232"/>
                </a:solidFill>
                <a:latin typeface="Calibri"/>
              </a:defRPr>
            </a:pPr>
            <a:r>
              <a:t>6</a:t>
            </a:r>
          </a:p>
        </p:txBody>
      </p:sp>
      <p:sp>
        <p:nvSpPr>
          <p:cNvPr id="74" name="Rectangle 73"/>
          <p:cNvSpPr/>
          <p:nvPr/>
        </p:nvSpPr>
        <p:spPr>
          <a:xfrm>
            <a:off x="10032274" y="3035808"/>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032274" y="3035808"/>
            <a:ext cx="1580605" cy="256032"/>
          </a:xfrm>
          <a:prstGeom prst="rect">
            <a:avLst/>
          </a:prstGeom>
          <a:noFill/>
        </p:spPr>
        <p:txBody>
          <a:bodyPr wrap="square">
            <a:spAutoFit/>
          </a:bodyPr>
          <a:lstStyle/>
          <a:p>
            <a:pPr algn="ctr">
              <a:defRPr sz="950" b="0">
                <a:solidFill>
                  <a:srgbClr val="323232"/>
                </a:solidFill>
                <a:latin typeface="Calibri"/>
              </a:defRPr>
            </a:pPr>
            <a:r>
              <a:t>Phase 1</a:t>
            </a:r>
          </a:p>
        </p:txBody>
      </p:sp>
      <p:sp>
        <p:nvSpPr>
          <p:cNvPr id="76" name="Rectangle 75"/>
          <p:cNvSpPr/>
          <p:nvPr/>
        </p:nvSpPr>
        <p:spPr>
          <a:xfrm>
            <a:off x="548640" y="3291840"/>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48640" y="3291840"/>
            <a:ext cx="1580605" cy="256032"/>
          </a:xfrm>
          <a:prstGeom prst="rect">
            <a:avLst/>
          </a:prstGeom>
          <a:noFill/>
        </p:spPr>
        <p:txBody>
          <a:bodyPr wrap="square">
            <a:spAutoFit/>
          </a:bodyPr>
          <a:lstStyle/>
          <a:p>
            <a:pPr algn="ctr">
              <a:defRPr sz="950" b="0">
                <a:solidFill>
                  <a:srgbClr val="323232"/>
                </a:solidFill>
                <a:latin typeface="Calibri"/>
              </a:defRPr>
            </a:pPr>
            <a:r>
              <a:t>BaaS Developer Portal</a:t>
            </a:r>
          </a:p>
        </p:txBody>
      </p:sp>
      <p:sp>
        <p:nvSpPr>
          <p:cNvPr id="78" name="Rectangle 77"/>
          <p:cNvSpPr/>
          <p:nvPr/>
        </p:nvSpPr>
        <p:spPr>
          <a:xfrm>
            <a:off x="2129245" y="3291840"/>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129245" y="3291840"/>
            <a:ext cx="1580605" cy="256032"/>
          </a:xfrm>
          <a:prstGeom prst="rect">
            <a:avLst/>
          </a:prstGeom>
          <a:noFill/>
        </p:spPr>
        <p:txBody>
          <a:bodyPr wrap="square">
            <a:spAutoFit/>
          </a:bodyPr>
          <a:lstStyle/>
          <a:p>
            <a:pPr algn="ctr">
              <a:defRPr sz="950" b="0">
                <a:solidFill>
                  <a:srgbClr val="323232"/>
                </a:solidFill>
                <a:latin typeface="Calibri"/>
              </a:defRPr>
            </a:pPr>
            <a:r>
              <a:t>Embedded Finance</a:t>
            </a:r>
          </a:p>
        </p:txBody>
      </p:sp>
      <p:sp>
        <p:nvSpPr>
          <p:cNvPr id="80" name="Rectangle 79"/>
          <p:cNvSpPr/>
          <p:nvPr/>
        </p:nvSpPr>
        <p:spPr>
          <a:xfrm>
            <a:off x="3709851" y="3291840"/>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709851" y="3291840"/>
            <a:ext cx="1580605" cy="256032"/>
          </a:xfrm>
          <a:prstGeom prst="rect">
            <a:avLst/>
          </a:prstGeom>
          <a:noFill/>
        </p:spPr>
        <p:txBody>
          <a:bodyPr wrap="square">
            <a:spAutoFit/>
          </a:bodyPr>
          <a:lstStyle/>
          <a:p>
            <a:pPr algn="ctr">
              <a:defRPr sz="950" b="0">
                <a:solidFill>
                  <a:srgbClr val="323232"/>
                </a:solidFill>
                <a:latin typeface="Calibri"/>
              </a:defRPr>
            </a:pPr>
            <a:r>
              <a:t>200 partners</a:t>
            </a:r>
          </a:p>
        </p:txBody>
      </p:sp>
      <p:sp>
        <p:nvSpPr>
          <p:cNvPr id="82" name="Rectangle 81"/>
          <p:cNvSpPr/>
          <p:nvPr/>
        </p:nvSpPr>
        <p:spPr>
          <a:xfrm>
            <a:off x="5290457" y="3291840"/>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290457" y="3291840"/>
            <a:ext cx="1580605" cy="256032"/>
          </a:xfrm>
          <a:prstGeom prst="rect">
            <a:avLst/>
          </a:prstGeom>
          <a:noFill/>
        </p:spPr>
        <p:txBody>
          <a:bodyPr wrap="square">
            <a:spAutoFit/>
          </a:bodyPr>
          <a:lstStyle/>
          <a:p>
            <a:pPr algn="ctr">
              <a:defRPr sz="950" b="0">
                <a:solidFill>
                  <a:srgbClr val="323232"/>
                </a:solidFill>
                <a:latin typeface="Calibri"/>
              </a:defRPr>
            </a:pPr>
            <a:r>
              <a:t>3</a:t>
            </a:r>
          </a:p>
        </p:txBody>
      </p:sp>
      <p:sp>
        <p:nvSpPr>
          <p:cNvPr id="84" name="Rectangle 83"/>
          <p:cNvSpPr/>
          <p:nvPr/>
        </p:nvSpPr>
        <p:spPr>
          <a:xfrm>
            <a:off x="6871062" y="3291840"/>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871062" y="3291840"/>
            <a:ext cx="1580605" cy="256032"/>
          </a:xfrm>
          <a:prstGeom prst="rect">
            <a:avLst/>
          </a:prstGeom>
          <a:noFill/>
        </p:spPr>
        <p:txBody>
          <a:bodyPr wrap="square">
            <a:spAutoFit/>
          </a:bodyPr>
          <a:lstStyle/>
          <a:p>
            <a:pPr algn="ctr">
              <a:defRPr sz="950" b="0">
                <a:solidFill>
                  <a:srgbClr val="323232"/>
                </a:solidFill>
                <a:latin typeface="Calibri"/>
              </a:defRPr>
            </a:pPr>
            <a:r>
              <a:t>0.8</a:t>
            </a:r>
          </a:p>
        </p:txBody>
      </p:sp>
      <p:sp>
        <p:nvSpPr>
          <p:cNvPr id="86" name="Rectangle 85"/>
          <p:cNvSpPr/>
          <p:nvPr/>
        </p:nvSpPr>
        <p:spPr>
          <a:xfrm>
            <a:off x="8451668" y="3291840"/>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451668" y="3291840"/>
            <a:ext cx="1580605" cy="256032"/>
          </a:xfrm>
          <a:prstGeom prst="rect">
            <a:avLst/>
          </a:prstGeom>
          <a:noFill/>
        </p:spPr>
        <p:txBody>
          <a:bodyPr wrap="square">
            <a:spAutoFit/>
          </a:bodyPr>
          <a:lstStyle/>
          <a:p>
            <a:pPr algn="ctr">
              <a:defRPr sz="950" b="0">
                <a:solidFill>
                  <a:srgbClr val="323232"/>
                </a:solidFill>
                <a:latin typeface="Calibri"/>
              </a:defRPr>
            </a:pPr>
            <a:r>
              <a:t>12</a:t>
            </a:r>
          </a:p>
        </p:txBody>
      </p:sp>
      <p:sp>
        <p:nvSpPr>
          <p:cNvPr id="88" name="Rectangle 87"/>
          <p:cNvSpPr/>
          <p:nvPr/>
        </p:nvSpPr>
        <p:spPr>
          <a:xfrm>
            <a:off x="10032274" y="3291840"/>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0032274" y="3291840"/>
            <a:ext cx="1580605" cy="256032"/>
          </a:xfrm>
          <a:prstGeom prst="rect">
            <a:avLst/>
          </a:prstGeom>
          <a:noFill/>
        </p:spPr>
        <p:txBody>
          <a:bodyPr wrap="square">
            <a:spAutoFit/>
          </a:bodyPr>
          <a:lstStyle/>
          <a:p>
            <a:pPr algn="ctr">
              <a:defRPr sz="950" b="0">
                <a:solidFill>
                  <a:srgbClr val="323232"/>
                </a:solidFill>
                <a:latin typeface="Calibri"/>
              </a:defRPr>
            </a:pPr>
            <a:r>
              <a:t>Phase 1</a:t>
            </a:r>
          </a:p>
        </p:txBody>
      </p:sp>
      <p:sp>
        <p:nvSpPr>
          <p:cNvPr id="90" name="Rectangle 89"/>
          <p:cNvSpPr/>
          <p:nvPr/>
        </p:nvSpPr>
        <p:spPr>
          <a:xfrm>
            <a:off x="548640" y="3547872"/>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48640" y="3547872"/>
            <a:ext cx="1580605" cy="256032"/>
          </a:xfrm>
          <a:prstGeom prst="rect">
            <a:avLst/>
          </a:prstGeom>
          <a:noFill/>
        </p:spPr>
        <p:txBody>
          <a:bodyPr wrap="square">
            <a:spAutoFit/>
          </a:bodyPr>
          <a:lstStyle/>
          <a:p>
            <a:pPr algn="ctr">
              <a:defRPr sz="950" b="0">
                <a:solidFill>
                  <a:srgbClr val="323232"/>
                </a:solidFill>
                <a:latin typeface="Calibri"/>
              </a:defRPr>
            </a:pPr>
            <a:r>
              <a:t>Real-Time Fraud ML</a:t>
            </a:r>
          </a:p>
        </p:txBody>
      </p:sp>
      <p:sp>
        <p:nvSpPr>
          <p:cNvPr id="92" name="Rectangle 91"/>
          <p:cNvSpPr/>
          <p:nvPr/>
        </p:nvSpPr>
        <p:spPr>
          <a:xfrm>
            <a:off x="2129245" y="3547872"/>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129245" y="3547872"/>
            <a:ext cx="1580605" cy="256032"/>
          </a:xfrm>
          <a:prstGeom prst="rect">
            <a:avLst/>
          </a:prstGeom>
          <a:noFill/>
        </p:spPr>
        <p:txBody>
          <a:bodyPr wrap="square">
            <a:spAutoFit/>
          </a:bodyPr>
          <a:lstStyle/>
          <a:p>
            <a:pPr algn="ctr">
              <a:defRPr sz="950" b="0">
                <a:solidFill>
                  <a:srgbClr val="323232"/>
                </a:solidFill>
                <a:latin typeface="Calibri"/>
              </a:defRPr>
            </a:pPr>
            <a:r>
              <a:t>AI-First Ops</a:t>
            </a:r>
          </a:p>
        </p:txBody>
      </p:sp>
      <p:sp>
        <p:nvSpPr>
          <p:cNvPr id="94" name="Rectangle 93"/>
          <p:cNvSpPr/>
          <p:nvPr/>
        </p:nvSpPr>
        <p:spPr>
          <a:xfrm>
            <a:off x="3709851" y="3547872"/>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3709851" y="3547872"/>
            <a:ext cx="1580605" cy="256032"/>
          </a:xfrm>
          <a:prstGeom prst="rect">
            <a:avLst/>
          </a:prstGeom>
          <a:noFill/>
        </p:spPr>
        <p:txBody>
          <a:bodyPr wrap="square">
            <a:spAutoFit/>
          </a:bodyPr>
          <a:lstStyle/>
          <a:p>
            <a:pPr algn="ctr">
              <a:defRPr sz="950" b="0">
                <a:solidFill>
                  <a:srgbClr val="323232"/>
                </a:solidFill>
                <a:latin typeface="Calibri"/>
              </a:defRPr>
            </a:pPr>
            <a:r>
              <a:t>1M transactions</a:t>
            </a:r>
          </a:p>
        </p:txBody>
      </p:sp>
      <p:sp>
        <p:nvSpPr>
          <p:cNvPr id="96" name="Rectangle 95"/>
          <p:cNvSpPr/>
          <p:nvPr/>
        </p:nvSpPr>
        <p:spPr>
          <a:xfrm>
            <a:off x="5290457" y="3547872"/>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290457" y="3547872"/>
            <a:ext cx="1580605" cy="256032"/>
          </a:xfrm>
          <a:prstGeom prst="rect">
            <a:avLst/>
          </a:prstGeom>
          <a:noFill/>
        </p:spPr>
        <p:txBody>
          <a:bodyPr wrap="square">
            <a:spAutoFit/>
          </a:bodyPr>
          <a:lstStyle/>
          <a:p>
            <a:pPr algn="ctr">
              <a:defRPr sz="950" b="0">
                <a:solidFill>
                  <a:srgbClr val="323232"/>
                </a:solidFill>
                <a:latin typeface="Calibri"/>
              </a:defRPr>
            </a:pPr>
            <a:r>
              <a:t>2</a:t>
            </a:r>
          </a:p>
        </p:txBody>
      </p:sp>
      <p:sp>
        <p:nvSpPr>
          <p:cNvPr id="98" name="Rectangle 97"/>
          <p:cNvSpPr/>
          <p:nvPr/>
        </p:nvSpPr>
        <p:spPr>
          <a:xfrm>
            <a:off x="6871062" y="3547872"/>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871062" y="3547872"/>
            <a:ext cx="1580605" cy="256032"/>
          </a:xfrm>
          <a:prstGeom prst="rect">
            <a:avLst/>
          </a:prstGeom>
          <a:noFill/>
        </p:spPr>
        <p:txBody>
          <a:bodyPr wrap="square">
            <a:spAutoFit/>
          </a:bodyPr>
          <a:lstStyle/>
          <a:p>
            <a:pPr algn="ctr">
              <a:defRPr sz="950" b="0">
                <a:solidFill>
                  <a:srgbClr val="323232"/>
                </a:solidFill>
                <a:latin typeface="Calibri"/>
              </a:defRPr>
            </a:pPr>
            <a:r>
              <a:t>0.8</a:t>
            </a:r>
          </a:p>
        </p:txBody>
      </p:sp>
      <p:sp>
        <p:nvSpPr>
          <p:cNvPr id="100" name="Rectangle 99"/>
          <p:cNvSpPr/>
          <p:nvPr/>
        </p:nvSpPr>
        <p:spPr>
          <a:xfrm>
            <a:off x="8451668" y="3547872"/>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451668" y="3547872"/>
            <a:ext cx="1580605" cy="256032"/>
          </a:xfrm>
          <a:prstGeom prst="rect">
            <a:avLst/>
          </a:prstGeom>
          <a:noFill/>
        </p:spPr>
        <p:txBody>
          <a:bodyPr wrap="square">
            <a:spAutoFit/>
          </a:bodyPr>
          <a:lstStyle/>
          <a:p>
            <a:pPr algn="ctr">
              <a:defRPr sz="950" b="0">
                <a:solidFill>
                  <a:srgbClr val="323232"/>
                </a:solidFill>
                <a:latin typeface="Calibri"/>
              </a:defRPr>
            </a:pPr>
            <a:r>
              <a:t>10</a:t>
            </a:r>
          </a:p>
        </p:txBody>
      </p:sp>
      <p:sp>
        <p:nvSpPr>
          <p:cNvPr id="102" name="Rectangle 101"/>
          <p:cNvSpPr/>
          <p:nvPr/>
        </p:nvSpPr>
        <p:spPr>
          <a:xfrm>
            <a:off x="10032274" y="3547872"/>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0032274" y="3547872"/>
            <a:ext cx="1580605" cy="256032"/>
          </a:xfrm>
          <a:prstGeom prst="rect">
            <a:avLst/>
          </a:prstGeom>
          <a:noFill/>
        </p:spPr>
        <p:txBody>
          <a:bodyPr wrap="square">
            <a:spAutoFit/>
          </a:bodyPr>
          <a:lstStyle/>
          <a:p>
            <a:pPr algn="ctr">
              <a:defRPr sz="950" b="0">
                <a:solidFill>
                  <a:srgbClr val="323232"/>
                </a:solidFill>
                <a:latin typeface="Calibri"/>
              </a:defRPr>
            </a:pPr>
            <a:r>
              <a:t>Phase 1</a:t>
            </a:r>
          </a:p>
        </p:txBody>
      </p:sp>
      <p:sp>
        <p:nvSpPr>
          <p:cNvPr id="104" name="Rectangle 103"/>
          <p:cNvSpPr/>
          <p:nvPr/>
        </p:nvSpPr>
        <p:spPr>
          <a:xfrm>
            <a:off x="548640" y="3803904"/>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48640" y="3803904"/>
            <a:ext cx="1580605" cy="256032"/>
          </a:xfrm>
          <a:prstGeom prst="rect">
            <a:avLst/>
          </a:prstGeom>
          <a:noFill/>
        </p:spPr>
        <p:txBody>
          <a:bodyPr wrap="square">
            <a:spAutoFit/>
          </a:bodyPr>
          <a:lstStyle/>
          <a:p>
            <a:pPr algn="ctr">
              <a:defRPr sz="950" b="0">
                <a:solidFill>
                  <a:srgbClr val="323232"/>
                </a:solidFill>
                <a:latin typeface="Calibri"/>
              </a:defRPr>
            </a:pPr>
            <a:r>
              <a:t>AI Financial Wellness Coach</a:t>
            </a:r>
          </a:p>
        </p:txBody>
      </p:sp>
      <p:sp>
        <p:nvSpPr>
          <p:cNvPr id="106" name="Rectangle 105"/>
          <p:cNvSpPr/>
          <p:nvPr/>
        </p:nvSpPr>
        <p:spPr>
          <a:xfrm>
            <a:off x="2129245" y="3803904"/>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129245" y="3803904"/>
            <a:ext cx="1580605" cy="256032"/>
          </a:xfrm>
          <a:prstGeom prst="rect">
            <a:avLst/>
          </a:prstGeom>
          <a:noFill/>
        </p:spPr>
        <p:txBody>
          <a:bodyPr wrap="square">
            <a:spAutoFit/>
          </a:bodyPr>
          <a:lstStyle/>
          <a:p>
            <a:pPr algn="ctr">
              <a:defRPr sz="950" b="0">
                <a:solidFill>
                  <a:srgbClr val="323232"/>
                </a:solidFill>
                <a:latin typeface="Calibri"/>
              </a:defRPr>
            </a:pPr>
            <a:r>
              <a:t>Next-Gen Digital</a:t>
            </a:r>
          </a:p>
        </p:txBody>
      </p:sp>
      <p:sp>
        <p:nvSpPr>
          <p:cNvPr id="108" name="Rectangle 107"/>
          <p:cNvSpPr/>
          <p:nvPr/>
        </p:nvSpPr>
        <p:spPr>
          <a:xfrm>
            <a:off x="3709851" y="3803904"/>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709851" y="3803904"/>
            <a:ext cx="1580605" cy="256032"/>
          </a:xfrm>
          <a:prstGeom prst="rect">
            <a:avLst/>
          </a:prstGeom>
          <a:noFill/>
        </p:spPr>
        <p:txBody>
          <a:bodyPr wrap="square">
            <a:spAutoFit/>
          </a:bodyPr>
          <a:lstStyle/>
          <a:p>
            <a:pPr algn="ctr">
              <a:defRPr sz="950" b="0">
                <a:solidFill>
                  <a:srgbClr val="323232"/>
                </a:solidFill>
                <a:latin typeface="Calibri"/>
              </a:defRPr>
            </a:pPr>
            <a:r>
              <a:t>800K users</a:t>
            </a:r>
          </a:p>
        </p:txBody>
      </p:sp>
      <p:sp>
        <p:nvSpPr>
          <p:cNvPr id="110" name="Rectangle 109"/>
          <p:cNvSpPr/>
          <p:nvPr/>
        </p:nvSpPr>
        <p:spPr>
          <a:xfrm>
            <a:off x="5290457" y="3803904"/>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5290457" y="3803904"/>
            <a:ext cx="1580605" cy="256032"/>
          </a:xfrm>
          <a:prstGeom prst="rect">
            <a:avLst/>
          </a:prstGeom>
          <a:noFill/>
        </p:spPr>
        <p:txBody>
          <a:bodyPr wrap="square">
            <a:spAutoFit/>
          </a:bodyPr>
          <a:lstStyle/>
          <a:p>
            <a:pPr algn="ctr">
              <a:defRPr sz="950" b="0">
                <a:solidFill>
                  <a:srgbClr val="323232"/>
                </a:solidFill>
                <a:latin typeface="Calibri"/>
              </a:defRPr>
            </a:pPr>
            <a:r>
              <a:t>2</a:t>
            </a:r>
          </a:p>
        </p:txBody>
      </p:sp>
      <p:sp>
        <p:nvSpPr>
          <p:cNvPr id="112" name="Rectangle 111"/>
          <p:cNvSpPr/>
          <p:nvPr/>
        </p:nvSpPr>
        <p:spPr>
          <a:xfrm>
            <a:off x="6871062" y="3803904"/>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6871062" y="3803904"/>
            <a:ext cx="1580605" cy="256032"/>
          </a:xfrm>
          <a:prstGeom prst="rect">
            <a:avLst/>
          </a:prstGeom>
          <a:noFill/>
        </p:spPr>
        <p:txBody>
          <a:bodyPr wrap="square">
            <a:spAutoFit/>
          </a:bodyPr>
          <a:lstStyle/>
          <a:p>
            <a:pPr algn="ctr">
              <a:defRPr sz="950" b="0">
                <a:solidFill>
                  <a:srgbClr val="323232"/>
                </a:solidFill>
                <a:latin typeface="Calibri"/>
              </a:defRPr>
            </a:pPr>
            <a:r>
              <a:t>0.5</a:t>
            </a:r>
          </a:p>
        </p:txBody>
      </p:sp>
      <p:sp>
        <p:nvSpPr>
          <p:cNvPr id="114" name="Rectangle 113"/>
          <p:cNvSpPr/>
          <p:nvPr/>
        </p:nvSpPr>
        <p:spPr>
          <a:xfrm>
            <a:off x="8451668" y="3803904"/>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451668" y="3803904"/>
            <a:ext cx="1580605" cy="256032"/>
          </a:xfrm>
          <a:prstGeom prst="rect">
            <a:avLst/>
          </a:prstGeom>
          <a:noFill/>
        </p:spPr>
        <p:txBody>
          <a:bodyPr wrap="square">
            <a:spAutoFit/>
          </a:bodyPr>
          <a:lstStyle/>
          <a:p>
            <a:pPr algn="ctr">
              <a:defRPr sz="950" b="0">
                <a:solidFill>
                  <a:srgbClr val="323232"/>
                </a:solidFill>
                <a:latin typeface="Calibri"/>
              </a:defRPr>
            </a:pPr>
            <a:r>
              <a:t>8</a:t>
            </a:r>
          </a:p>
        </p:txBody>
      </p:sp>
      <p:sp>
        <p:nvSpPr>
          <p:cNvPr id="116" name="Rectangle 115"/>
          <p:cNvSpPr/>
          <p:nvPr/>
        </p:nvSpPr>
        <p:spPr>
          <a:xfrm>
            <a:off x="10032274" y="3803904"/>
            <a:ext cx="1580605"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0032274" y="3803904"/>
            <a:ext cx="1580605" cy="256032"/>
          </a:xfrm>
          <a:prstGeom prst="rect">
            <a:avLst/>
          </a:prstGeom>
          <a:noFill/>
        </p:spPr>
        <p:txBody>
          <a:bodyPr wrap="square">
            <a:spAutoFit/>
          </a:bodyPr>
          <a:lstStyle/>
          <a:p>
            <a:pPr algn="ctr">
              <a:defRPr sz="950" b="0">
                <a:solidFill>
                  <a:srgbClr val="323232"/>
                </a:solidFill>
                <a:latin typeface="Calibri"/>
              </a:defRPr>
            </a:pPr>
            <a:r>
              <a:t>Phase 2</a:t>
            </a:r>
          </a:p>
        </p:txBody>
      </p:sp>
      <p:sp>
        <p:nvSpPr>
          <p:cNvPr id="118" name="Rectangle 117"/>
          <p:cNvSpPr/>
          <p:nvPr/>
        </p:nvSpPr>
        <p:spPr>
          <a:xfrm>
            <a:off x="548640" y="4059936"/>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548640" y="4059936"/>
            <a:ext cx="1580605" cy="256032"/>
          </a:xfrm>
          <a:prstGeom prst="rect">
            <a:avLst/>
          </a:prstGeom>
          <a:noFill/>
        </p:spPr>
        <p:txBody>
          <a:bodyPr wrap="square">
            <a:spAutoFit/>
          </a:bodyPr>
          <a:lstStyle/>
          <a:p>
            <a:pPr algn="ctr">
              <a:defRPr sz="950" b="1">
                <a:solidFill>
                  <a:srgbClr val="323232"/>
                </a:solidFill>
                <a:latin typeface="Calibri"/>
              </a:defRPr>
            </a:pPr>
            <a:r>
              <a:t>Compliance AI — SAR Auto-Gen</a:t>
            </a:r>
          </a:p>
        </p:txBody>
      </p:sp>
      <p:sp>
        <p:nvSpPr>
          <p:cNvPr id="120" name="Rectangle 119"/>
          <p:cNvSpPr/>
          <p:nvPr/>
        </p:nvSpPr>
        <p:spPr>
          <a:xfrm>
            <a:off x="2129245" y="4059936"/>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129245" y="4059936"/>
            <a:ext cx="1580605" cy="256032"/>
          </a:xfrm>
          <a:prstGeom prst="rect">
            <a:avLst/>
          </a:prstGeom>
          <a:noFill/>
        </p:spPr>
        <p:txBody>
          <a:bodyPr wrap="square">
            <a:spAutoFit/>
          </a:bodyPr>
          <a:lstStyle/>
          <a:p>
            <a:pPr algn="ctr">
              <a:defRPr sz="950" b="1">
                <a:solidFill>
                  <a:srgbClr val="323232"/>
                </a:solidFill>
                <a:latin typeface="Calibri"/>
              </a:defRPr>
            </a:pPr>
            <a:r>
              <a:t>Gen AI Copilot</a:t>
            </a:r>
          </a:p>
        </p:txBody>
      </p:sp>
      <p:sp>
        <p:nvSpPr>
          <p:cNvPr id="122" name="Rectangle 121"/>
          <p:cNvSpPr/>
          <p:nvPr/>
        </p:nvSpPr>
        <p:spPr>
          <a:xfrm>
            <a:off x="3709851" y="4059936"/>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3709851" y="4059936"/>
            <a:ext cx="1580605" cy="256032"/>
          </a:xfrm>
          <a:prstGeom prst="rect">
            <a:avLst/>
          </a:prstGeom>
          <a:noFill/>
        </p:spPr>
        <p:txBody>
          <a:bodyPr wrap="square">
            <a:spAutoFit/>
          </a:bodyPr>
          <a:lstStyle/>
          <a:p>
            <a:pPr algn="ctr">
              <a:defRPr sz="950" b="1">
                <a:solidFill>
                  <a:srgbClr val="323232"/>
                </a:solidFill>
                <a:latin typeface="Calibri"/>
              </a:defRPr>
            </a:pPr>
            <a:r>
              <a:t>500 analysts</a:t>
            </a:r>
          </a:p>
        </p:txBody>
      </p:sp>
      <p:sp>
        <p:nvSpPr>
          <p:cNvPr id="124" name="Rectangle 123"/>
          <p:cNvSpPr/>
          <p:nvPr/>
        </p:nvSpPr>
        <p:spPr>
          <a:xfrm>
            <a:off x="5290457" y="4059936"/>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5290457" y="4059936"/>
            <a:ext cx="1580605" cy="256032"/>
          </a:xfrm>
          <a:prstGeom prst="rect">
            <a:avLst/>
          </a:prstGeom>
          <a:noFill/>
        </p:spPr>
        <p:txBody>
          <a:bodyPr wrap="square">
            <a:spAutoFit/>
          </a:bodyPr>
          <a:lstStyle/>
          <a:p>
            <a:pPr algn="ctr">
              <a:defRPr sz="950" b="1">
                <a:solidFill>
                  <a:srgbClr val="323232"/>
                </a:solidFill>
                <a:latin typeface="Calibri"/>
              </a:defRPr>
            </a:pPr>
            <a:r>
              <a:t>3</a:t>
            </a:r>
          </a:p>
        </p:txBody>
      </p:sp>
      <p:sp>
        <p:nvSpPr>
          <p:cNvPr id="126" name="Rectangle 125"/>
          <p:cNvSpPr/>
          <p:nvPr/>
        </p:nvSpPr>
        <p:spPr>
          <a:xfrm>
            <a:off x="6871062" y="4059936"/>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6871062" y="4059936"/>
            <a:ext cx="1580605" cy="256032"/>
          </a:xfrm>
          <a:prstGeom prst="rect">
            <a:avLst/>
          </a:prstGeom>
          <a:noFill/>
        </p:spPr>
        <p:txBody>
          <a:bodyPr wrap="square">
            <a:spAutoFit/>
          </a:bodyPr>
          <a:lstStyle/>
          <a:p>
            <a:pPr algn="ctr">
              <a:defRPr sz="950" b="1">
                <a:solidFill>
                  <a:srgbClr val="323232"/>
                </a:solidFill>
                <a:latin typeface="Calibri"/>
              </a:defRPr>
            </a:pPr>
            <a:r>
              <a:t>0.5</a:t>
            </a:r>
          </a:p>
        </p:txBody>
      </p:sp>
      <p:sp>
        <p:nvSpPr>
          <p:cNvPr id="128" name="Rectangle 127"/>
          <p:cNvSpPr/>
          <p:nvPr/>
        </p:nvSpPr>
        <p:spPr>
          <a:xfrm>
            <a:off x="8451668" y="4059936"/>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8451668" y="4059936"/>
            <a:ext cx="1580605" cy="256032"/>
          </a:xfrm>
          <a:prstGeom prst="rect">
            <a:avLst/>
          </a:prstGeom>
          <a:noFill/>
        </p:spPr>
        <p:txBody>
          <a:bodyPr wrap="square">
            <a:spAutoFit/>
          </a:bodyPr>
          <a:lstStyle/>
          <a:p>
            <a:pPr algn="ctr">
              <a:defRPr sz="950" b="1">
                <a:solidFill>
                  <a:srgbClr val="323232"/>
                </a:solidFill>
                <a:latin typeface="Calibri"/>
              </a:defRPr>
            </a:pPr>
            <a:r>
              <a:t>12</a:t>
            </a:r>
          </a:p>
        </p:txBody>
      </p:sp>
      <p:sp>
        <p:nvSpPr>
          <p:cNvPr id="130" name="Rectangle 129"/>
          <p:cNvSpPr/>
          <p:nvPr/>
        </p:nvSpPr>
        <p:spPr>
          <a:xfrm>
            <a:off x="10032274" y="4059936"/>
            <a:ext cx="1580605"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0032274" y="4059936"/>
            <a:ext cx="1580605" cy="256032"/>
          </a:xfrm>
          <a:prstGeom prst="rect">
            <a:avLst/>
          </a:prstGeom>
          <a:noFill/>
        </p:spPr>
        <p:txBody>
          <a:bodyPr wrap="square">
            <a:spAutoFit/>
          </a:bodyPr>
          <a:lstStyle/>
          <a:p>
            <a:pPr algn="ctr">
              <a:defRPr sz="950" b="1">
                <a:solidFill>
                  <a:srgbClr val="323232"/>
                </a:solidFill>
                <a:latin typeface="Calibri"/>
              </a:defRPr>
            </a:pPr>
            <a:r>
              <a:t>Phase 2</a:t>
            </a:r>
          </a:p>
        </p:txBody>
      </p:sp>
      <p:sp>
        <p:nvSpPr>
          <p:cNvPr id="132" name="TextBox 131"/>
          <p:cNvSpPr txBox="1"/>
          <p:nvPr/>
        </p:nvSpPr>
        <p:spPr>
          <a:xfrm>
            <a:off x="548640" y="4754880"/>
            <a:ext cx="10972800" cy="320040"/>
          </a:xfrm>
          <a:prstGeom prst="rect">
            <a:avLst/>
          </a:prstGeom>
          <a:noFill/>
        </p:spPr>
        <p:txBody>
          <a:bodyPr wrap="square">
            <a:spAutoFit/>
          </a:bodyPr>
          <a:lstStyle/>
          <a:p>
            <a:pPr algn="l">
              <a:defRPr sz="1300" b="1">
                <a:solidFill>
                  <a:srgbClr val="002952"/>
                </a:solidFill>
                <a:latin typeface="Calibri"/>
              </a:defRPr>
            </a:pPr>
            <a:r>
              <a:t>Organized into 4 Product Groups and 6 Digital Products:</a:t>
            </a:r>
          </a:p>
        </p:txBody>
      </p:sp>
      <p:sp>
        <p:nvSpPr>
          <p:cNvPr id="133" name="Rounded Rectangle 132"/>
          <p:cNvSpPr/>
          <p:nvPr/>
        </p:nvSpPr>
        <p:spPr>
          <a:xfrm>
            <a:off x="548640" y="5212080"/>
            <a:ext cx="2606040" cy="1188720"/>
          </a:xfrm>
          <a:prstGeom prst="roundRect">
            <a:avLst/>
          </a:prstGeom>
          <a:solidFill>
            <a:srgbClr val="F0F4F8"/>
          </a:solidFill>
          <a:ln w="12700">
            <a:solidFill>
              <a:srgbClr val="0066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658368" y="5285232"/>
            <a:ext cx="2377440" cy="292608"/>
          </a:xfrm>
          <a:prstGeom prst="rect">
            <a:avLst/>
          </a:prstGeom>
          <a:noFill/>
        </p:spPr>
        <p:txBody>
          <a:bodyPr wrap="square">
            <a:spAutoFit/>
          </a:bodyPr>
          <a:lstStyle/>
          <a:p>
            <a:pPr algn="l">
              <a:defRPr sz="1200" b="1">
                <a:solidFill>
                  <a:srgbClr val="0066B2"/>
                </a:solidFill>
                <a:latin typeface="Calibri"/>
              </a:defRPr>
            </a:pPr>
            <a:r>
              <a:t>Payment Platform</a:t>
            </a:r>
          </a:p>
        </p:txBody>
      </p:sp>
      <p:sp>
        <p:nvSpPr>
          <p:cNvPr id="135" name="TextBox 134"/>
          <p:cNvSpPr txBox="1"/>
          <p:nvPr/>
        </p:nvSpPr>
        <p:spPr>
          <a:xfrm>
            <a:off x="658368" y="5596128"/>
            <a:ext cx="2377440" cy="685800"/>
          </a:xfrm>
          <a:prstGeom prst="rect">
            <a:avLst/>
          </a:prstGeom>
          <a:noFill/>
        </p:spPr>
        <p:txBody>
          <a:bodyPr wrap="square">
            <a:spAutoFit/>
          </a:bodyPr>
          <a:lstStyle/>
          <a:p>
            <a:pPr algn="l">
              <a:defRPr sz="1000" b="0">
                <a:solidFill>
                  <a:srgbClr val="323232"/>
                </a:solidFill>
                <a:latin typeface="Calibri"/>
              </a:defRPr>
            </a:pPr>
            <a:r>
              <a:t>Real-Time Settlement Engine</a:t>
            </a:r>
          </a:p>
        </p:txBody>
      </p:sp>
      <p:sp>
        <p:nvSpPr>
          <p:cNvPr id="136" name="Rounded Rectangle 135"/>
          <p:cNvSpPr/>
          <p:nvPr/>
        </p:nvSpPr>
        <p:spPr>
          <a:xfrm>
            <a:off x="3383280" y="5212080"/>
            <a:ext cx="2606040" cy="1188720"/>
          </a:xfrm>
          <a:prstGeom prst="roundRect">
            <a:avLst/>
          </a:prstGeom>
          <a:solidFill>
            <a:srgbClr val="F0F4F8"/>
          </a:solidFill>
          <a:ln w="12700">
            <a:solidFill>
              <a:srgbClr val="007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3493008" y="5285232"/>
            <a:ext cx="2377440" cy="292608"/>
          </a:xfrm>
          <a:prstGeom prst="rect">
            <a:avLst/>
          </a:prstGeom>
          <a:noFill/>
        </p:spPr>
        <p:txBody>
          <a:bodyPr wrap="square">
            <a:spAutoFit/>
          </a:bodyPr>
          <a:lstStyle/>
          <a:p>
            <a:pPr algn="l">
              <a:defRPr sz="1200" b="1">
                <a:solidFill>
                  <a:srgbClr val="00796B"/>
                </a:solidFill>
                <a:latin typeface="Calibri"/>
              </a:defRPr>
            </a:pPr>
            <a:r>
              <a:t>AI &amp; Automation</a:t>
            </a:r>
          </a:p>
        </p:txBody>
      </p:sp>
      <p:sp>
        <p:nvSpPr>
          <p:cNvPr id="138" name="TextBox 137"/>
          <p:cNvSpPr txBox="1"/>
          <p:nvPr/>
        </p:nvSpPr>
        <p:spPr>
          <a:xfrm>
            <a:off x="3493008" y="5596128"/>
            <a:ext cx="2377440" cy="685800"/>
          </a:xfrm>
          <a:prstGeom prst="rect">
            <a:avLst/>
          </a:prstGeom>
          <a:noFill/>
        </p:spPr>
        <p:txBody>
          <a:bodyPr wrap="square">
            <a:spAutoFit/>
          </a:bodyPr>
          <a:lstStyle/>
          <a:p>
            <a:pPr algn="l">
              <a:defRPr sz="1000" b="0">
                <a:solidFill>
                  <a:srgbClr val="323232"/>
                </a:solidFill>
                <a:latin typeface="Calibri"/>
              </a:defRPr>
            </a:pPr>
            <a:r>
              <a:t>Banking AI Copilot, AI Underwriting</a:t>
            </a:r>
            <a:br/>
            <a:r>
              <a:t>Engine, Fraud Detection ML</a:t>
            </a:r>
          </a:p>
        </p:txBody>
      </p:sp>
      <p:sp>
        <p:nvSpPr>
          <p:cNvPr id="139" name="Rounded Rectangle 138"/>
          <p:cNvSpPr/>
          <p:nvPr/>
        </p:nvSpPr>
        <p:spPr>
          <a:xfrm>
            <a:off x="6217920" y="5212080"/>
            <a:ext cx="2606040" cy="1188720"/>
          </a:xfrm>
          <a:prstGeom prst="roundRect">
            <a:avLst/>
          </a:prstGeom>
          <a:solidFill>
            <a:srgbClr val="F0F4F8"/>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6327648" y="5285232"/>
            <a:ext cx="2377440" cy="292608"/>
          </a:xfrm>
          <a:prstGeom prst="rect">
            <a:avLst/>
          </a:prstGeom>
          <a:noFill/>
        </p:spPr>
        <p:txBody>
          <a:bodyPr wrap="square">
            <a:spAutoFit/>
          </a:bodyPr>
          <a:lstStyle/>
          <a:p>
            <a:pPr algn="l">
              <a:defRPr sz="1200" b="1">
                <a:solidFill>
                  <a:srgbClr val="2E7D32"/>
                </a:solidFill>
                <a:latin typeface="Calibri"/>
              </a:defRPr>
            </a:pPr>
            <a:r>
              <a:t>Digital Banking</a:t>
            </a:r>
          </a:p>
        </p:txBody>
      </p:sp>
      <p:sp>
        <p:nvSpPr>
          <p:cNvPr id="141" name="TextBox 140"/>
          <p:cNvSpPr txBox="1"/>
          <p:nvPr/>
        </p:nvSpPr>
        <p:spPr>
          <a:xfrm>
            <a:off x="6327648" y="5596128"/>
            <a:ext cx="2377440" cy="685800"/>
          </a:xfrm>
          <a:prstGeom prst="rect">
            <a:avLst/>
          </a:prstGeom>
          <a:noFill/>
        </p:spPr>
        <p:txBody>
          <a:bodyPr wrap="square">
            <a:spAutoFit/>
          </a:bodyPr>
          <a:lstStyle/>
          <a:p>
            <a:pPr algn="l">
              <a:defRPr sz="1000" b="0">
                <a:solidFill>
                  <a:srgbClr val="323232"/>
                </a:solidFill>
                <a:latin typeface="Calibri"/>
              </a:defRPr>
            </a:pPr>
            <a:r>
              <a:t>USB Mobile Banking 3.0</a:t>
            </a:r>
          </a:p>
        </p:txBody>
      </p:sp>
      <p:sp>
        <p:nvSpPr>
          <p:cNvPr id="142" name="Rounded Rectangle 141"/>
          <p:cNvSpPr/>
          <p:nvPr/>
        </p:nvSpPr>
        <p:spPr>
          <a:xfrm>
            <a:off x="9052560" y="5212080"/>
            <a:ext cx="2606040" cy="1188720"/>
          </a:xfrm>
          <a:prstGeom prst="roundRect">
            <a:avLst/>
          </a:prstGeom>
          <a:solidFill>
            <a:srgbClr val="F0F4F8"/>
          </a:solidFill>
          <a:ln w="12700">
            <a:solidFill>
              <a:srgbClr val="7B1F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162288" y="5285232"/>
            <a:ext cx="2377440" cy="292608"/>
          </a:xfrm>
          <a:prstGeom prst="rect">
            <a:avLst/>
          </a:prstGeom>
          <a:noFill/>
        </p:spPr>
        <p:txBody>
          <a:bodyPr wrap="square">
            <a:spAutoFit/>
          </a:bodyPr>
          <a:lstStyle/>
          <a:p>
            <a:pPr algn="l">
              <a:defRPr sz="1200" b="1">
                <a:solidFill>
                  <a:srgbClr val="7B1FA2"/>
                </a:solidFill>
                <a:latin typeface="Calibri"/>
              </a:defRPr>
            </a:pPr>
            <a:r>
              <a:t>Embedded Finance</a:t>
            </a:r>
          </a:p>
        </p:txBody>
      </p:sp>
      <p:sp>
        <p:nvSpPr>
          <p:cNvPr id="144" name="TextBox 143"/>
          <p:cNvSpPr txBox="1"/>
          <p:nvPr/>
        </p:nvSpPr>
        <p:spPr>
          <a:xfrm>
            <a:off x="9162288" y="5596128"/>
            <a:ext cx="2377440" cy="685800"/>
          </a:xfrm>
          <a:prstGeom prst="rect">
            <a:avLst/>
          </a:prstGeom>
          <a:noFill/>
        </p:spPr>
        <p:txBody>
          <a:bodyPr wrap="square">
            <a:spAutoFit/>
          </a:bodyPr>
          <a:lstStyle/>
          <a:p>
            <a:pPr algn="l">
              <a:defRPr sz="1000" b="0">
                <a:solidFill>
                  <a:srgbClr val="323232"/>
                </a:solidFill>
                <a:latin typeface="Calibri"/>
              </a:defRPr>
            </a:pPr>
            <a:r>
              <a:t>USB BaaS API Platform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48640"/>
          </a:xfrm>
          <a:prstGeom prst="rect">
            <a:avLst/>
          </a:prstGeom>
          <a:noFill/>
        </p:spPr>
        <p:txBody>
          <a:bodyPr wrap="square">
            <a:spAutoFit/>
          </a:bodyPr>
          <a:lstStyle/>
          <a:p>
            <a:pPr algn="l">
              <a:defRPr sz="2800" b="1">
                <a:solidFill>
                  <a:srgbClr val="002952"/>
                </a:solidFill>
                <a:latin typeface="Calibri"/>
              </a:defRPr>
            </a:pPr>
            <a:r>
              <a:t>Case Study: Steps 6-7 — Epics, Teams &amp; Sprint-Ready Features</a:t>
            </a:r>
          </a:p>
        </p:txBody>
      </p:sp>
      <p:sp>
        <p:nvSpPr>
          <p:cNvPr id="4" name="TextBox 3"/>
          <p:cNvSpPr txBox="1"/>
          <p:nvPr/>
        </p:nvSpPr>
        <p:spPr>
          <a:xfrm>
            <a:off x="548640" y="777240"/>
            <a:ext cx="10972800" cy="411480"/>
          </a:xfrm>
          <a:prstGeom prst="rect">
            <a:avLst/>
          </a:prstGeom>
          <a:noFill/>
        </p:spPr>
        <p:txBody>
          <a:bodyPr wrap="square">
            <a:spAutoFit/>
          </a:bodyPr>
          <a:lstStyle/>
          <a:p>
            <a:pPr algn="l">
              <a:defRPr sz="1300" b="0">
                <a:solidFill>
                  <a:srgbClr val="787878"/>
                </a:solidFill>
                <a:latin typeface="Calibri"/>
              </a:defRPr>
            </a:pPr>
            <a:r>
              <a:t>From initiatives to delivery: team formation, epic decomposition, user stories with acceptance criteria</a:t>
            </a:r>
          </a:p>
        </p:txBody>
      </p:sp>
      <p:sp>
        <p:nvSpPr>
          <p:cNvPr id="5" name="TextBox 4"/>
          <p:cNvSpPr txBox="1"/>
          <p:nvPr/>
        </p:nvSpPr>
        <p:spPr>
          <a:xfrm>
            <a:off x="548640" y="1234440"/>
            <a:ext cx="10972800" cy="457200"/>
          </a:xfrm>
          <a:prstGeom prst="rect">
            <a:avLst/>
          </a:prstGeom>
          <a:noFill/>
        </p:spPr>
        <p:txBody>
          <a:bodyPr wrap="square">
            <a:spAutoFit/>
          </a:bodyPr>
          <a:lstStyle/>
          <a:p>
            <a:pPr algn="l">
              <a:defRPr sz="1250" b="0">
                <a:solidFill>
                  <a:srgbClr val="323232"/>
                </a:solidFill>
                <a:latin typeface="Calibri"/>
              </a:defRPr>
            </a:pPr>
            <a:r>
              <a:t>The platform recommended 6 cross-functional teams based on initiative requirements, assigned epics by capability match, auto-generated product OKRs bridging strategic goals to team-level objectives, and identified cross-epic dependencies upfront — not during execution.</a:t>
            </a:r>
          </a:p>
        </p:txBody>
      </p:sp>
      <p:sp>
        <p:nvSpPr>
          <p:cNvPr id="6" name="TextBox 5"/>
          <p:cNvSpPr txBox="1"/>
          <p:nvPr/>
        </p:nvSpPr>
        <p:spPr>
          <a:xfrm>
            <a:off x="548640" y="1828800"/>
            <a:ext cx="5486400" cy="274320"/>
          </a:xfrm>
          <a:prstGeom prst="rect">
            <a:avLst/>
          </a:prstGeom>
          <a:noFill/>
        </p:spPr>
        <p:txBody>
          <a:bodyPr wrap="square">
            <a:spAutoFit/>
          </a:bodyPr>
          <a:lstStyle/>
          <a:p>
            <a:pPr algn="l">
              <a:defRPr sz="1400" b="1">
                <a:solidFill>
                  <a:srgbClr val="002952"/>
                </a:solidFill>
                <a:latin typeface="Calibri"/>
              </a:defRPr>
            </a:pPr>
            <a:r>
              <a:t>Step 6: Teams &amp; Epics</a:t>
            </a:r>
          </a:p>
        </p:txBody>
      </p:sp>
      <p:sp>
        <p:nvSpPr>
          <p:cNvPr id="7" name="Rectangle 6"/>
          <p:cNvSpPr/>
          <p:nvPr/>
        </p:nvSpPr>
        <p:spPr>
          <a:xfrm>
            <a:off x="548640" y="2194560"/>
            <a:ext cx="182880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94560"/>
            <a:ext cx="1828800" cy="256032"/>
          </a:xfrm>
          <a:prstGeom prst="rect">
            <a:avLst/>
          </a:prstGeom>
          <a:noFill/>
        </p:spPr>
        <p:txBody>
          <a:bodyPr wrap="square">
            <a:spAutoFit/>
          </a:bodyPr>
          <a:lstStyle/>
          <a:p>
            <a:pPr algn="ctr">
              <a:defRPr sz="1000" b="1">
                <a:solidFill>
                  <a:srgbClr val="FFFFFF"/>
                </a:solidFill>
                <a:latin typeface="Calibri"/>
              </a:defRPr>
            </a:pPr>
            <a:r>
              <a:t>Team</a:t>
            </a:r>
          </a:p>
        </p:txBody>
      </p:sp>
      <p:sp>
        <p:nvSpPr>
          <p:cNvPr id="9" name="Rectangle 8"/>
          <p:cNvSpPr/>
          <p:nvPr/>
        </p:nvSpPr>
        <p:spPr>
          <a:xfrm>
            <a:off x="2377440" y="2194560"/>
            <a:ext cx="182880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2194560"/>
            <a:ext cx="1828800" cy="256032"/>
          </a:xfrm>
          <a:prstGeom prst="rect">
            <a:avLst/>
          </a:prstGeom>
          <a:noFill/>
        </p:spPr>
        <p:txBody>
          <a:bodyPr wrap="square">
            <a:spAutoFit/>
          </a:bodyPr>
          <a:lstStyle/>
          <a:p>
            <a:pPr algn="ctr">
              <a:defRPr sz="1000" b="1">
                <a:solidFill>
                  <a:srgbClr val="FFFFFF"/>
                </a:solidFill>
                <a:latin typeface="Calibri"/>
              </a:defRPr>
            </a:pPr>
            <a:r>
              <a:t>Cap.</a:t>
            </a:r>
          </a:p>
        </p:txBody>
      </p:sp>
      <p:sp>
        <p:nvSpPr>
          <p:cNvPr id="11" name="Rectangle 10"/>
          <p:cNvSpPr/>
          <p:nvPr/>
        </p:nvSpPr>
        <p:spPr>
          <a:xfrm>
            <a:off x="4206240" y="2194560"/>
            <a:ext cx="182880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2194560"/>
            <a:ext cx="1828800" cy="256032"/>
          </a:xfrm>
          <a:prstGeom prst="rect">
            <a:avLst/>
          </a:prstGeom>
          <a:noFill/>
        </p:spPr>
        <p:txBody>
          <a:bodyPr wrap="square">
            <a:spAutoFit/>
          </a:bodyPr>
          <a:lstStyle/>
          <a:p>
            <a:pPr algn="ctr">
              <a:defRPr sz="1000" b="1">
                <a:solidFill>
                  <a:srgbClr val="FFFFFF"/>
                </a:solidFill>
                <a:latin typeface="Calibri"/>
              </a:defRPr>
            </a:pPr>
            <a:r>
              <a:t>Key Epic</a:t>
            </a:r>
          </a:p>
        </p:txBody>
      </p:sp>
      <p:sp>
        <p:nvSpPr>
          <p:cNvPr id="13" name="Rectangle 12"/>
          <p:cNvSpPr/>
          <p:nvPr/>
        </p:nvSpPr>
        <p:spPr>
          <a:xfrm>
            <a:off x="548640" y="2450592"/>
            <a:ext cx="18288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450592"/>
            <a:ext cx="1828800" cy="256032"/>
          </a:xfrm>
          <a:prstGeom prst="rect">
            <a:avLst/>
          </a:prstGeom>
          <a:noFill/>
        </p:spPr>
        <p:txBody>
          <a:bodyPr wrap="square">
            <a:spAutoFit/>
          </a:bodyPr>
          <a:lstStyle/>
          <a:p>
            <a:pPr algn="ctr">
              <a:defRPr sz="1000" b="0">
                <a:solidFill>
                  <a:srgbClr val="323232"/>
                </a:solidFill>
                <a:latin typeface="Calibri"/>
              </a:defRPr>
            </a:pPr>
            <a:r>
              <a:t>Payments Engineering</a:t>
            </a:r>
          </a:p>
        </p:txBody>
      </p:sp>
      <p:sp>
        <p:nvSpPr>
          <p:cNvPr id="15" name="Rectangle 14"/>
          <p:cNvSpPr/>
          <p:nvPr/>
        </p:nvSpPr>
        <p:spPr>
          <a:xfrm>
            <a:off x="2377440" y="2450592"/>
            <a:ext cx="18288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77440" y="2450592"/>
            <a:ext cx="1828800" cy="256032"/>
          </a:xfrm>
          <a:prstGeom prst="rect">
            <a:avLst/>
          </a:prstGeom>
          <a:noFill/>
        </p:spPr>
        <p:txBody>
          <a:bodyPr wrap="square">
            <a:spAutoFit/>
          </a:bodyPr>
          <a:lstStyle/>
          <a:p>
            <a:pPr algn="ctr">
              <a:defRPr sz="1000" b="0">
                <a:solidFill>
                  <a:srgbClr val="323232"/>
                </a:solidFill>
                <a:latin typeface="Calibri"/>
              </a:defRPr>
            </a:pPr>
            <a:r>
              <a:t>30</a:t>
            </a:r>
          </a:p>
        </p:txBody>
      </p:sp>
      <p:sp>
        <p:nvSpPr>
          <p:cNvPr id="17" name="Rectangle 16"/>
          <p:cNvSpPr/>
          <p:nvPr/>
        </p:nvSpPr>
        <p:spPr>
          <a:xfrm>
            <a:off x="4206240" y="2450592"/>
            <a:ext cx="18288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06240" y="2450592"/>
            <a:ext cx="1828800" cy="256032"/>
          </a:xfrm>
          <a:prstGeom prst="rect">
            <a:avLst/>
          </a:prstGeom>
          <a:noFill/>
        </p:spPr>
        <p:txBody>
          <a:bodyPr wrap="square">
            <a:spAutoFit/>
          </a:bodyPr>
          <a:lstStyle/>
          <a:p>
            <a:pPr algn="ctr">
              <a:defRPr sz="1000" b="0">
                <a:solidFill>
                  <a:srgbClr val="323232"/>
                </a:solidFill>
                <a:latin typeface="Calibri"/>
              </a:defRPr>
            </a:pPr>
            <a:r>
              <a:t>FedNow Gateway Integration</a:t>
            </a:r>
          </a:p>
        </p:txBody>
      </p:sp>
      <p:sp>
        <p:nvSpPr>
          <p:cNvPr id="19" name="Rectangle 18"/>
          <p:cNvSpPr/>
          <p:nvPr/>
        </p:nvSpPr>
        <p:spPr>
          <a:xfrm>
            <a:off x="548640" y="2706624"/>
            <a:ext cx="18288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2706624"/>
            <a:ext cx="1828800" cy="256032"/>
          </a:xfrm>
          <a:prstGeom prst="rect">
            <a:avLst/>
          </a:prstGeom>
          <a:noFill/>
        </p:spPr>
        <p:txBody>
          <a:bodyPr wrap="square">
            <a:spAutoFit/>
          </a:bodyPr>
          <a:lstStyle/>
          <a:p>
            <a:pPr algn="ctr">
              <a:defRPr sz="1000" b="0">
                <a:solidFill>
                  <a:srgbClr val="323232"/>
                </a:solidFill>
                <a:latin typeface="Calibri"/>
              </a:defRPr>
            </a:pPr>
            <a:r>
              <a:t>AI/ML Platform</a:t>
            </a:r>
          </a:p>
        </p:txBody>
      </p:sp>
      <p:sp>
        <p:nvSpPr>
          <p:cNvPr id="21" name="Rectangle 20"/>
          <p:cNvSpPr/>
          <p:nvPr/>
        </p:nvSpPr>
        <p:spPr>
          <a:xfrm>
            <a:off x="2377440" y="2706624"/>
            <a:ext cx="18288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77440" y="2706624"/>
            <a:ext cx="1828800" cy="256032"/>
          </a:xfrm>
          <a:prstGeom prst="rect">
            <a:avLst/>
          </a:prstGeom>
          <a:noFill/>
        </p:spPr>
        <p:txBody>
          <a:bodyPr wrap="square">
            <a:spAutoFit/>
          </a:bodyPr>
          <a:lstStyle/>
          <a:p>
            <a:pPr algn="ctr">
              <a:defRPr sz="1000" b="0">
                <a:solidFill>
                  <a:srgbClr val="323232"/>
                </a:solidFill>
                <a:latin typeface="Calibri"/>
              </a:defRPr>
            </a:pPr>
            <a:r>
              <a:t>25</a:t>
            </a:r>
          </a:p>
        </p:txBody>
      </p:sp>
      <p:sp>
        <p:nvSpPr>
          <p:cNvPr id="23" name="Rectangle 22"/>
          <p:cNvSpPr/>
          <p:nvPr/>
        </p:nvSpPr>
        <p:spPr>
          <a:xfrm>
            <a:off x="4206240" y="2706624"/>
            <a:ext cx="18288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06240" y="2706624"/>
            <a:ext cx="1828800" cy="256032"/>
          </a:xfrm>
          <a:prstGeom prst="rect">
            <a:avLst/>
          </a:prstGeom>
          <a:noFill/>
        </p:spPr>
        <p:txBody>
          <a:bodyPr wrap="square">
            <a:spAutoFit/>
          </a:bodyPr>
          <a:lstStyle/>
          <a:p>
            <a:pPr algn="ctr">
              <a:defRPr sz="1000" b="0">
                <a:solidFill>
                  <a:srgbClr val="323232"/>
                </a:solidFill>
                <a:latin typeface="Calibri"/>
              </a:defRPr>
            </a:pPr>
            <a:r>
              <a:t>Gen AI Loan Review Copilot</a:t>
            </a:r>
          </a:p>
        </p:txBody>
      </p:sp>
      <p:sp>
        <p:nvSpPr>
          <p:cNvPr id="25" name="Rectangle 24"/>
          <p:cNvSpPr/>
          <p:nvPr/>
        </p:nvSpPr>
        <p:spPr>
          <a:xfrm>
            <a:off x="548640" y="2962656"/>
            <a:ext cx="18288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2962656"/>
            <a:ext cx="1828800" cy="256032"/>
          </a:xfrm>
          <a:prstGeom prst="rect">
            <a:avLst/>
          </a:prstGeom>
          <a:noFill/>
        </p:spPr>
        <p:txBody>
          <a:bodyPr wrap="square">
            <a:spAutoFit/>
          </a:bodyPr>
          <a:lstStyle/>
          <a:p>
            <a:pPr algn="ctr">
              <a:defRPr sz="1000" b="0">
                <a:solidFill>
                  <a:srgbClr val="323232"/>
                </a:solidFill>
                <a:latin typeface="Calibri"/>
              </a:defRPr>
            </a:pPr>
            <a:r>
              <a:t>Consumer Digital</a:t>
            </a:r>
          </a:p>
        </p:txBody>
      </p:sp>
      <p:sp>
        <p:nvSpPr>
          <p:cNvPr id="27" name="Rectangle 26"/>
          <p:cNvSpPr/>
          <p:nvPr/>
        </p:nvSpPr>
        <p:spPr>
          <a:xfrm>
            <a:off x="2377440" y="2962656"/>
            <a:ext cx="18288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77440" y="2962656"/>
            <a:ext cx="1828800" cy="256032"/>
          </a:xfrm>
          <a:prstGeom prst="rect">
            <a:avLst/>
          </a:prstGeom>
          <a:noFill/>
        </p:spPr>
        <p:txBody>
          <a:bodyPr wrap="square">
            <a:spAutoFit/>
          </a:bodyPr>
          <a:lstStyle/>
          <a:p>
            <a:pPr algn="ctr">
              <a:defRPr sz="1000" b="0">
                <a:solidFill>
                  <a:srgbClr val="323232"/>
                </a:solidFill>
                <a:latin typeface="Calibri"/>
              </a:defRPr>
            </a:pPr>
            <a:r>
              <a:t>35</a:t>
            </a:r>
          </a:p>
        </p:txBody>
      </p:sp>
      <p:sp>
        <p:nvSpPr>
          <p:cNvPr id="29" name="Rectangle 28"/>
          <p:cNvSpPr/>
          <p:nvPr/>
        </p:nvSpPr>
        <p:spPr>
          <a:xfrm>
            <a:off x="4206240" y="2962656"/>
            <a:ext cx="18288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06240" y="2962656"/>
            <a:ext cx="1828800" cy="256032"/>
          </a:xfrm>
          <a:prstGeom prst="rect">
            <a:avLst/>
          </a:prstGeom>
          <a:noFill/>
        </p:spPr>
        <p:txBody>
          <a:bodyPr wrap="square">
            <a:spAutoFit/>
          </a:bodyPr>
          <a:lstStyle/>
          <a:p>
            <a:pPr algn="ctr">
              <a:defRPr sz="1000" b="0">
                <a:solidFill>
                  <a:srgbClr val="323232"/>
                </a:solidFill>
                <a:latin typeface="Calibri"/>
              </a:defRPr>
            </a:pPr>
            <a:r>
              <a:t>Instant Account Opening</a:t>
            </a:r>
          </a:p>
        </p:txBody>
      </p:sp>
      <p:sp>
        <p:nvSpPr>
          <p:cNvPr id="31" name="Rectangle 30"/>
          <p:cNvSpPr/>
          <p:nvPr/>
        </p:nvSpPr>
        <p:spPr>
          <a:xfrm>
            <a:off x="548640" y="3218688"/>
            <a:ext cx="18288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3218688"/>
            <a:ext cx="1828800" cy="256032"/>
          </a:xfrm>
          <a:prstGeom prst="rect">
            <a:avLst/>
          </a:prstGeom>
          <a:noFill/>
        </p:spPr>
        <p:txBody>
          <a:bodyPr wrap="square">
            <a:spAutoFit/>
          </a:bodyPr>
          <a:lstStyle/>
          <a:p>
            <a:pPr algn="ctr">
              <a:defRPr sz="1000" b="0">
                <a:solidFill>
                  <a:srgbClr val="323232"/>
                </a:solidFill>
                <a:latin typeface="Calibri"/>
              </a:defRPr>
            </a:pPr>
            <a:r>
              <a:t>Credit &amp; Lending Tech</a:t>
            </a:r>
          </a:p>
        </p:txBody>
      </p:sp>
      <p:sp>
        <p:nvSpPr>
          <p:cNvPr id="33" name="Rectangle 32"/>
          <p:cNvSpPr/>
          <p:nvPr/>
        </p:nvSpPr>
        <p:spPr>
          <a:xfrm>
            <a:off x="2377440" y="3218688"/>
            <a:ext cx="18288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77440" y="3218688"/>
            <a:ext cx="1828800" cy="256032"/>
          </a:xfrm>
          <a:prstGeom prst="rect">
            <a:avLst/>
          </a:prstGeom>
          <a:noFill/>
        </p:spPr>
        <p:txBody>
          <a:bodyPr wrap="square">
            <a:spAutoFit/>
          </a:bodyPr>
          <a:lstStyle/>
          <a:p>
            <a:pPr algn="ctr">
              <a:defRPr sz="1000" b="0">
                <a:solidFill>
                  <a:srgbClr val="323232"/>
                </a:solidFill>
                <a:latin typeface="Calibri"/>
              </a:defRPr>
            </a:pPr>
            <a:r>
              <a:t>20</a:t>
            </a:r>
          </a:p>
        </p:txBody>
      </p:sp>
      <p:sp>
        <p:nvSpPr>
          <p:cNvPr id="35" name="Rectangle 34"/>
          <p:cNvSpPr/>
          <p:nvPr/>
        </p:nvSpPr>
        <p:spPr>
          <a:xfrm>
            <a:off x="4206240" y="3218688"/>
            <a:ext cx="18288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06240" y="3218688"/>
            <a:ext cx="1828800" cy="256032"/>
          </a:xfrm>
          <a:prstGeom prst="rect">
            <a:avLst/>
          </a:prstGeom>
          <a:noFill/>
        </p:spPr>
        <p:txBody>
          <a:bodyPr wrap="square">
            <a:spAutoFit/>
          </a:bodyPr>
          <a:lstStyle/>
          <a:p>
            <a:pPr algn="ctr">
              <a:defRPr sz="1000" b="0">
                <a:solidFill>
                  <a:srgbClr val="323232"/>
                </a:solidFill>
                <a:latin typeface="Calibri"/>
              </a:defRPr>
            </a:pPr>
            <a:r>
              <a:t>Mortgage ML Decisioning</a:t>
            </a:r>
          </a:p>
        </p:txBody>
      </p:sp>
      <p:sp>
        <p:nvSpPr>
          <p:cNvPr id="37" name="Rectangle 36"/>
          <p:cNvSpPr/>
          <p:nvPr/>
        </p:nvSpPr>
        <p:spPr>
          <a:xfrm>
            <a:off x="548640" y="3474720"/>
            <a:ext cx="18288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3474720"/>
            <a:ext cx="1828800" cy="256032"/>
          </a:xfrm>
          <a:prstGeom prst="rect">
            <a:avLst/>
          </a:prstGeom>
          <a:noFill/>
        </p:spPr>
        <p:txBody>
          <a:bodyPr wrap="square">
            <a:spAutoFit/>
          </a:bodyPr>
          <a:lstStyle/>
          <a:p>
            <a:pPr algn="ctr">
              <a:defRPr sz="1000" b="0">
                <a:solidFill>
                  <a:srgbClr val="323232"/>
                </a:solidFill>
                <a:latin typeface="Calibri"/>
              </a:defRPr>
            </a:pPr>
            <a:r>
              <a:t>API Platform</a:t>
            </a:r>
          </a:p>
        </p:txBody>
      </p:sp>
      <p:sp>
        <p:nvSpPr>
          <p:cNvPr id="39" name="Rectangle 38"/>
          <p:cNvSpPr/>
          <p:nvPr/>
        </p:nvSpPr>
        <p:spPr>
          <a:xfrm>
            <a:off x="2377440" y="3474720"/>
            <a:ext cx="18288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77440" y="3474720"/>
            <a:ext cx="1828800" cy="256032"/>
          </a:xfrm>
          <a:prstGeom prst="rect">
            <a:avLst/>
          </a:prstGeom>
          <a:noFill/>
        </p:spPr>
        <p:txBody>
          <a:bodyPr wrap="square">
            <a:spAutoFit/>
          </a:bodyPr>
          <a:lstStyle/>
          <a:p>
            <a:pPr algn="ctr">
              <a:defRPr sz="1000" b="0">
                <a:solidFill>
                  <a:srgbClr val="323232"/>
                </a:solidFill>
                <a:latin typeface="Calibri"/>
              </a:defRPr>
            </a:pPr>
            <a:r>
              <a:t>18</a:t>
            </a:r>
          </a:p>
        </p:txBody>
      </p:sp>
      <p:sp>
        <p:nvSpPr>
          <p:cNvPr id="41" name="Rectangle 40"/>
          <p:cNvSpPr/>
          <p:nvPr/>
        </p:nvSpPr>
        <p:spPr>
          <a:xfrm>
            <a:off x="4206240" y="3474720"/>
            <a:ext cx="18288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06240" y="3474720"/>
            <a:ext cx="1828800" cy="256032"/>
          </a:xfrm>
          <a:prstGeom prst="rect">
            <a:avLst/>
          </a:prstGeom>
          <a:noFill/>
        </p:spPr>
        <p:txBody>
          <a:bodyPr wrap="square">
            <a:spAutoFit/>
          </a:bodyPr>
          <a:lstStyle/>
          <a:p>
            <a:pPr algn="ctr">
              <a:defRPr sz="1000" b="0">
                <a:solidFill>
                  <a:srgbClr val="323232"/>
                </a:solidFill>
                <a:latin typeface="Calibri"/>
              </a:defRPr>
            </a:pPr>
            <a:r>
              <a:t>BaaS Developer Portal</a:t>
            </a:r>
          </a:p>
        </p:txBody>
      </p:sp>
      <p:sp>
        <p:nvSpPr>
          <p:cNvPr id="43" name="Rectangle 42"/>
          <p:cNvSpPr/>
          <p:nvPr/>
        </p:nvSpPr>
        <p:spPr>
          <a:xfrm>
            <a:off x="548640" y="3730752"/>
            <a:ext cx="18288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3730752"/>
            <a:ext cx="1828800" cy="256032"/>
          </a:xfrm>
          <a:prstGeom prst="rect">
            <a:avLst/>
          </a:prstGeom>
          <a:noFill/>
        </p:spPr>
        <p:txBody>
          <a:bodyPr wrap="square">
            <a:spAutoFit/>
          </a:bodyPr>
          <a:lstStyle/>
          <a:p>
            <a:pPr algn="ctr">
              <a:defRPr sz="1000" b="1">
                <a:solidFill>
                  <a:srgbClr val="323232"/>
                </a:solidFill>
                <a:latin typeface="Calibri"/>
              </a:defRPr>
            </a:pPr>
            <a:r>
              <a:t>Fraud &amp; Risk Analytics</a:t>
            </a:r>
          </a:p>
        </p:txBody>
      </p:sp>
      <p:sp>
        <p:nvSpPr>
          <p:cNvPr id="45" name="Rectangle 44"/>
          <p:cNvSpPr/>
          <p:nvPr/>
        </p:nvSpPr>
        <p:spPr>
          <a:xfrm>
            <a:off x="2377440" y="3730752"/>
            <a:ext cx="18288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377440" y="3730752"/>
            <a:ext cx="1828800" cy="256032"/>
          </a:xfrm>
          <a:prstGeom prst="rect">
            <a:avLst/>
          </a:prstGeom>
          <a:noFill/>
        </p:spPr>
        <p:txBody>
          <a:bodyPr wrap="square">
            <a:spAutoFit/>
          </a:bodyPr>
          <a:lstStyle/>
          <a:p>
            <a:pPr algn="ctr">
              <a:defRPr sz="1000" b="1">
                <a:solidFill>
                  <a:srgbClr val="323232"/>
                </a:solidFill>
                <a:latin typeface="Calibri"/>
              </a:defRPr>
            </a:pPr>
            <a:r>
              <a:t>15</a:t>
            </a:r>
          </a:p>
        </p:txBody>
      </p:sp>
      <p:sp>
        <p:nvSpPr>
          <p:cNvPr id="47" name="Rectangle 46"/>
          <p:cNvSpPr/>
          <p:nvPr/>
        </p:nvSpPr>
        <p:spPr>
          <a:xfrm>
            <a:off x="4206240" y="3730752"/>
            <a:ext cx="18288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206240" y="3730752"/>
            <a:ext cx="1828800" cy="256032"/>
          </a:xfrm>
          <a:prstGeom prst="rect">
            <a:avLst/>
          </a:prstGeom>
          <a:noFill/>
        </p:spPr>
        <p:txBody>
          <a:bodyPr wrap="square">
            <a:spAutoFit/>
          </a:bodyPr>
          <a:lstStyle/>
          <a:p>
            <a:pPr algn="ctr">
              <a:defRPr sz="1000" b="1">
                <a:solidFill>
                  <a:srgbClr val="323232"/>
                </a:solidFill>
                <a:latin typeface="Calibri"/>
              </a:defRPr>
            </a:pPr>
            <a:r>
              <a:t>Real-Time Fraud ML Pipeline</a:t>
            </a:r>
          </a:p>
        </p:txBody>
      </p:sp>
      <p:sp>
        <p:nvSpPr>
          <p:cNvPr id="49" name="TextBox 48"/>
          <p:cNvSpPr txBox="1"/>
          <p:nvPr/>
        </p:nvSpPr>
        <p:spPr>
          <a:xfrm>
            <a:off x="6400800" y="1828800"/>
            <a:ext cx="5486400" cy="274320"/>
          </a:xfrm>
          <a:prstGeom prst="rect">
            <a:avLst/>
          </a:prstGeom>
          <a:noFill/>
        </p:spPr>
        <p:txBody>
          <a:bodyPr wrap="square">
            <a:spAutoFit/>
          </a:bodyPr>
          <a:lstStyle/>
          <a:p>
            <a:pPr algn="l">
              <a:defRPr sz="1400" b="1">
                <a:solidFill>
                  <a:srgbClr val="002952"/>
                </a:solidFill>
                <a:latin typeface="Calibri"/>
              </a:defRPr>
            </a:pPr>
            <a:r>
              <a:t>Step 7: Sprint-Ready Features (Sample)</a:t>
            </a:r>
          </a:p>
        </p:txBody>
      </p:sp>
      <p:sp>
        <p:nvSpPr>
          <p:cNvPr id="50" name="Rectangle 49"/>
          <p:cNvSpPr/>
          <p:nvPr/>
        </p:nvSpPr>
        <p:spPr>
          <a:xfrm>
            <a:off x="6400800" y="2194560"/>
            <a:ext cx="176784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00800" y="2194560"/>
            <a:ext cx="1767840" cy="256032"/>
          </a:xfrm>
          <a:prstGeom prst="rect">
            <a:avLst/>
          </a:prstGeom>
          <a:noFill/>
        </p:spPr>
        <p:txBody>
          <a:bodyPr wrap="square">
            <a:spAutoFit/>
          </a:bodyPr>
          <a:lstStyle/>
          <a:p>
            <a:pPr algn="ctr">
              <a:defRPr sz="1000" b="1">
                <a:solidFill>
                  <a:srgbClr val="FFFFFF"/>
                </a:solidFill>
                <a:latin typeface="Calibri"/>
              </a:defRPr>
            </a:pPr>
            <a:r>
              <a:t>Feature</a:t>
            </a:r>
          </a:p>
        </p:txBody>
      </p:sp>
      <p:sp>
        <p:nvSpPr>
          <p:cNvPr id="52" name="Rectangle 51"/>
          <p:cNvSpPr/>
          <p:nvPr/>
        </p:nvSpPr>
        <p:spPr>
          <a:xfrm>
            <a:off x="8168640" y="2194560"/>
            <a:ext cx="176784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168640" y="2194560"/>
            <a:ext cx="1767840" cy="256032"/>
          </a:xfrm>
          <a:prstGeom prst="rect">
            <a:avLst/>
          </a:prstGeom>
          <a:noFill/>
        </p:spPr>
        <p:txBody>
          <a:bodyPr wrap="square">
            <a:spAutoFit/>
          </a:bodyPr>
          <a:lstStyle/>
          <a:p>
            <a:pPr algn="ctr">
              <a:defRPr sz="1000" b="1">
                <a:solidFill>
                  <a:srgbClr val="FFFFFF"/>
                </a:solidFill>
                <a:latin typeface="Calibri"/>
              </a:defRPr>
            </a:pPr>
            <a:r>
              <a:t>Priority</a:t>
            </a:r>
          </a:p>
        </p:txBody>
      </p:sp>
      <p:sp>
        <p:nvSpPr>
          <p:cNvPr id="54" name="Rectangle 53"/>
          <p:cNvSpPr/>
          <p:nvPr/>
        </p:nvSpPr>
        <p:spPr>
          <a:xfrm>
            <a:off x="9936480" y="2194560"/>
            <a:ext cx="176784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936480" y="2194560"/>
            <a:ext cx="1767840" cy="256032"/>
          </a:xfrm>
          <a:prstGeom prst="rect">
            <a:avLst/>
          </a:prstGeom>
          <a:noFill/>
        </p:spPr>
        <p:txBody>
          <a:bodyPr wrap="square">
            <a:spAutoFit/>
          </a:bodyPr>
          <a:lstStyle/>
          <a:p>
            <a:pPr algn="ctr">
              <a:defRPr sz="1000" b="1">
                <a:solidFill>
                  <a:srgbClr val="FFFFFF"/>
                </a:solidFill>
                <a:latin typeface="Calibri"/>
              </a:defRPr>
            </a:pPr>
            <a:r>
              <a:t>Points</a:t>
            </a:r>
          </a:p>
        </p:txBody>
      </p:sp>
      <p:sp>
        <p:nvSpPr>
          <p:cNvPr id="56" name="Rectangle 55"/>
          <p:cNvSpPr/>
          <p:nvPr/>
        </p:nvSpPr>
        <p:spPr>
          <a:xfrm>
            <a:off x="6400800" y="2450592"/>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00800" y="2450592"/>
            <a:ext cx="1767840" cy="256032"/>
          </a:xfrm>
          <a:prstGeom prst="rect">
            <a:avLst/>
          </a:prstGeom>
          <a:noFill/>
        </p:spPr>
        <p:txBody>
          <a:bodyPr wrap="square">
            <a:spAutoFit/>
          </a:bodyPr>
          <a:lstStyle/>
          <a:p>
            <a:pPr algn="ctr">
              <a:defRPr sz="1000" b="0">
                <a:solidFill>
                  <a:srgbClr val="323232"/>
                </a:solidFill>
                <a:latin typeface="Calibri"/>
              </a:defRPr>
            </a:pPr>
            <a:r>
              <a:t>FedNow Message Adapter</a:t>
            </a:r>
          </a:p>
        </p:txBody>
      </p:sp>
      <p:sp>
        <p:nvSpPr>
          <p:cNvPr id="58" name="Rectangle 57"/>
          <p:cNvSpPr/>
          <p:nvPr/>
        </p:nvSpPr>
        <p:spPr>
          <a:xfrm>
            <a:off x="8168640" y="2450592"/>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168640" y="2450592"/>
            <a:ext cx="1767840" cy="256032"/>
          </a:xfrm>
          <a:prstGeom prst="rect">
            <a:avLst/>
          </a:prstGeom>
          <a:noFill/>
        </p:spPr>
        <p:txBody>
          <a:bodyPr wrap="square">
            <a:spAutoFit/>
          </a:bodyPr>
          <a:lstStyle/>
          <a:p>
            <a:pPr algn="ctr">
              <a:defRPr sz="1000" b="0">
                <a:solidFill>
                  <a:srgbClr val="323232"/>
                </a:solidFill>
                <a:latin typeface="Calibri"/>
              </a:defRPr>
            </a:pPr>
            <a:r>
              <a:t>Critical</a:t>
            </a:r>
          </a:p>
        </p:txBody>
      </p:sp>
      <p:sp>
        <p:nvSpPr>
          <p:cNvPr id="60" name="Rectangle 59"/>
          <p:cNvSpPr/>
          <p:nvPr/>
        </p:nvSpPr>
        <p:spPr>
          <a:xfrm>
            <a:off x="9936480" y="2450592"/>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936480" y="2450592"/>
            <a:ext cx="1767840" cy="256032"/>
          </a:xfrm>
          <a:prstGeom prst="rect">
            <a:avLst/>
          </a:prstGeom>
          <a:noFill/>
        </p:spPr>
        <p:txBody>
          <a:bodyPr wrap="square">
            <a:spAutoFit/>
          </a:bodyPr>
          <a:lstStyle/>
          <a:p>
            <a:pPr algn="ctr">
              <a:defRPr sz="1000" b="0">
                <a:solidFill>
                  <a:srgbClr val="323232"/>
                </a:solidFill>
                <a:latin typeface="Calibri"/>
              </a:defRPr>
            </a:pPr>
            <a:r>
              <a:t>20</a:t>
            </a:r>
          </a:p>
        </p:txBody>
      </p:sp>
      <p:sp>
        <p:nvSpPr>
          <p:cNvPr id="62" name="Rectangle 61"/>
          <p:cNvSpPr/>
          <p:nvPr/>
        </p:nvSpPr>
        <p:spPr>
          <a:xfrm>
            <a:off x="6400800" y="2706624"/>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400800" y="2706624"/>
            <a:ext cx="1767840" cy="256032"/>
          </a:xfrm>
          <a:prstGeom prst="rect">
            <a:avLst/>
          </a:prstGeom>
          <a:noFill/>
        </p:spPr>
        <p:txBody>
          <a:bodyPr wrap="square">
            <a:spAutoFit/>
          </a:bodyPr>
          <a:lstStyle/>
          <a:p>
            <a:pPr algn="ctr">
              <a:defRPr sz="1000" b="0">
                <a:solidFill>
                  <a:srgbClr val="323232"/>
                </a:solidFill>
                <a:latin typeface="Calibri"/>
              </a:defRPr>
            </a:pPr>
            <a:r>
              <a:t>Fair Lending Model Validation</a:t>
            </a:r>
          </a:p>
        </p:txBody>
      </p:sp>
      <p:sp>
        <p:nvSpPr>
          <p:cNvPr id="64" name="Rectangle 63"/>
          <p:cNvSpPr/>
          <p:nvPr/>
        </p:nvSpPr>
        <p:spPr>
          <a:xfrm>
            <a:off x="8168640" y="2706624"/>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168640" y="2706624"/>
            <a:ext cx="1767840" cy="256032"/>
          </a:xfrm>
          <a:prstGeom prst="rect">
            <a:avLst/>
          </a:prstGeom>
          <a:noFill/>
        </p:spPr>
        <p:txBody>
          <a:bodyPr wrap="square">
            <a:spAutoFit/>
          </a:bodyPr>
          <a:lstStyle/>
          <a:p>
            <a:pPr algn="ctr">
              <a:defRPr sz="1000" b="0">
                <a:solidFill>
                  <a:srgbClr val="323232"/>
                </a:solidFill>
                <a:latin typeface="Calibri"/>
              </a:defRPr>
            </a:pPr>
            <a:r>
              <a:t>Critical</a:t>
            </a:r>
          </a:p>
        </p:txBody>
      </p:sp>
      <p:sp>
        <p:nvSpPr>
          <p:cNvPr id="66" name="Rectangle 65"/>
          <p:cNvSpPr/>
          <p:nvPr/>
        </p:nvSpPr>
        <p:spPr>
          <a:xfrm>
            <a:off x="9936480" y="2706624"/>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936480" y="2706624"/>
            <a:ext cx="1767840" cy="256032"/>
          </a:xfrm>
          <a:prstGeom prst="rect">
            <a:avLst/>
          </a:prstGeom>
          <a:noFill/>
        </p:spPr>
        <p:txBody>
          <a:bodyPr wrap="square">
            <a:spAutoFit/>
          </a:bodyPr>
          <a:lstStyle/>
          <a:p>
            <a:pPr algn="ctr">
              <a:defRPr sz="1000" b="0">
                <a:solidFill>
                  <a:srgbClr val="323232"/>
                </a:solidFill>
                <a:latin typeface="Calibri"/>
              </a:defRPr>
            </a:pPr>
            <a:r>
              <a:t>18</a:t>
            </a:r>
          </a:p>
        </p:txBody>
      </p:sp>
      <p:sp>
        <p:nvSpPr>
          <p:cNvPr id="68" name="Rectangle 67"/>
          <p:cNvSpPr/>
          <p:nvPr/>
        </p:nvSpPr>
        <p:spPr>
          <a:xfrm>
            <a:off x="6400800" y="2962656"/>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400800" y="2962656"/>
            <a:ext cx="1767840" cy="256032"/>
          </a:xfrm>
          <a:prstGeom prst="rect">
            <a:avLst/>
          </a:prstGeom>
          <a:noFill/>
        </p:spPr>
        <p:txBody>
          <a:bodyPr wrap="square">
            <a:spAutoFit/>
          </a:bodyPr>
          <a:lstStyle/>
          <a:p>
            <a:pPr algn="ctr">
              <a:defRPr sz="1000" b="0">
                <a:solidFill>
                  <a:srgbClr val="323232"/>
                </a:solidFill>
                <a:latin typeface="Calibri"/>
              </a:defRPr>
            </a:pPr>
            <a:r>
              <a:t>Copilot Guardrails &amp; Audit Log</a:t>
            </a:r>
          </a:p>
        </p:txBody>
      </p:sp>
      <p:sp>
        <p:nvSpPr>
          <p:cNvPr id="70" name="Rectangle 69"/>
          <p:cNvSpPr/>
          <p:nvPr/>
        </p:nvSpPr>
        <p:spPr>
          <a:xfrm>
            <a:off x="8168640" y="2962656"/>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168640" y="2962656"/>
            <a:ext cx="1767840" cy="256032"/>
          </a:xfrm>
          <a:prstGeom prst="rect">
            <a:avLst/>
          </a:prstGeom>
          <a:noFill/>
        </p:spPr>
        <p:txBody>
          <a:bodyPr wrap="square">
            <a:spAutoFit/>
          </a:bodyPr>
          <a:lstStyle/>
          <a:p>
            <a:pPr algn="ctr">
              <a:defRPr sz="1000" b="0">
                <a:solidFill>
                  <a:srgbClr val="323232"/>
                </a:solidFill>
                <a:latin typeface="Calibri"/>
              </a:defRPr>
            </a:pPr>
            <a:r>
              <a:t>Critical</a:t>
            </a:r>
          </a:p>
        </p:txBody>
      </p:sp>
      <p:sp>
        <p:nvSpPr>
          <p:cNvPr id="72" name="Rectangle 71"/>
          <p:cNvSpPr/>
          <p:nvPr/>
        </p:nvSpPr>
        <p:spPr>
          <a:xfrm>
            <a:off x="9936480" y="2962656"/>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936480" y="2962656"/>
            <a:ext cx="1767840" cy="256032"/>
          </a:xfrm>
          <a:prstGeom prst="rect">
            <a:avLst/>
          </a:prstGeom>
          <a:noFill/>
        </p:spPr>
        <p:txBody>
          <a:bodyPr wrap="square">
            <a:spAutoFit/>
          </a:bodyPr>
          <a:lstStyle/>
          <a:p>
            <a:pPr algn="ctr">
              <a:defRPr sz="1000" b="0">
                <a:solidFill>
                  <a:srgbClr val="323232"/>
                </a:solidFill>
                <a:latin typeface="Calibri"/>
              </a:defRPr>
            </a:pPr>
            <a:r>
              <a:t>12</a:t>
            </a:r>
          </a:p>
        </p:txBody>
      </p:sp>
      <p:sp>
        <p:nvSpPr>
          <p:cNvPr id="74" name="Rectangle 73"/>
          <p:cNvSpPr/>
          <p:nvPr/>
        </p:nvSpPr>
        <p:spPr>
          <a:xfrm>
            <a:off x="6400800" y="3218688"/>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400800" y="3218688"/>
            <a:ext cx="1767840" cy="256032"/>
          </a:xfrm>
          <a:prstGeom prst="rect">
            <a:avLst/>
          </a:prstGeom>
          <a:noFill/>
        </p:spPr>
        <p:txBody>
          <a:bodyPr wrap="square">
            <a:spAutoFit/>
          </a:bodyPr>
          <a:lstStyle/>
          <a:p>
            <a:pPr algn="ctr">
              <a:defRPr sz="1000" b="0">
                <a:solidFill>
                  <a:srgbClr val="323232"/>
                </a:solidFill>
                <a:latin typeface="Calibri"/>
              </a:defRPr>
            </a:pPr>
            <a:r>
              <a:t>Instant KYC/CIP Verification</a:t>
            </a:r>
          </a:p>
        </p:txBody>
      </p:sp>
      <p:sp>
        <p:nvSpPr>
          <p:cNvPr id="76" name="Rectangle 75"/>
          <p:cNvSpPr/>
          <p:nvPr/>
        </p:nvSpPr>
        <p:spPr>
          <a:xfrm>
            <a:off x="8168640" y="3218688"/>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168640" y="3218688"/>
            <a:ext cx="1767840" cy="256032"/>
          </a:xfrm>
          <a:prstGeom prst="rect">
            <a:avLst/>
          </a:prstGeom>
          <a:noFill/>
        </p:spPr>
        <p:txBody>
          <a:bodyPr wrap="square">
            <a:spAutoFit/>
          </a:bodyPr>
          <a:lstStyle/>
          <a:p>
            <a:pPr algn="ctr">
              <a:defRPr sz="1000" b="0">
                <a:solidFill>
                  <a:srgbClr val="323232"/>
                </a:solidFill>
                <a:latin typeface="Calibri"/>
              </a:defRPr>
            </a:pPr>
            <a:r>
              <a:t>Critical</a:t>
            </a:r>
          </a:p>
        </p:txBody>
      </p:sp>
      <p:sp>
        <p:nvSpPr>
          <p:cNvPr id="78" name="Rectangle 77"/>
          <p:cNvSpPr/>
          <p:nvPr/>
        </p:nvSpPr>
        <p:spPr>
          <a:xfrm>
            <a:off x="9936480" y="3218688"/>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936480" y="3218688"/>
            <a:ext cx="1767840" cy="256032"/>
          </a:xfrm>
          <a:prstGeom prst="rect">
            <a:avLst/>
          </a:prstGeom>
          <a:noFill/>
        </p:spPr>
        <p:txBody>
          <a:bodyPr wrap="square">
            <a:spAutoFit/>
          </a:bodyPr>
          <a:lstStyle/>
          <a:p>
            <a:pPr algn="ctr">
              <a:defRPr sz="1000" b="0">
                <a:solidFill>
                  <a:srgbClr val="323232"/>
                </a:solidFill>
                <a:latin typeface="Calibri"/>
              </a:defRPr>
            </a:pPr>
            <a:r>
              <a:t>14</a:t>
            </a:r>
          </a:p>
        </p:txBody>
      </p:sp>
      <p:sp>
        <p:nvSpPr>
          <p:cNvPr id="80" name="Rectangle 79"/>
          <p:cNvSpPr/>
          <p:nvPr/>
        </p:nvSpPr>
        <p:spPr>
          <a:xfrm>
            <a:off x="6400800" y="3474720"/>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400800" y="3474720"/>
            <a:ext cx="1767840" cy="256032"/>
          </a:xfrm>
          <a:prstGeom prst="rect">
            <a:avLst/>
          </a:prstGeom>
          <a:noFill/>
        </p:spPr>
        <p:txBody>
          <a:bodyPr wrap="square">
            <a:spAutoFit/>
          </a:bodyPr>
          <a:lstStyle/>
          <a:p>
            <a:pPr algn="ctr">
              <a:defRPr sz="1000" b="0">
                <a:solidFill>
                  <a:srgbClr val="323232"/>
                </a:solidFill>
                <a:latin typeface="Calibri"/>
              </a:defRPr>
            </a:pPr>
            <a:r>
              <a:t>Streaming Feature Store (Fraud)</a:t>
            </a:r>
          </a:p>
        </p:txBody>
      </p:sp>
      <p:sp>
        <p:nvSpPr>
          <p:cNvPr id="82" name="Rectangle 81"/>
          <p:cNvSpPr/>
          <p:nvPr/>
        </p:nvSpPr>
        <p:spPr>
          <a:xfrm>
            <a:off x="8168640" y="3474720"/>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168640" y="3474720"/>
            <a:ext cx="1767840" cy="256032"/>
          </a:xfrm>
          <a:prstGeom prst="rect">
            <a:avLst/>
          </a:prstGeom>
          <a:noFill/>
        </p:spPr>
        <p:txBody>
          <a:bodyPr wrap="square">
            <a:spAutoFit/>
          </a:bodyPr>
          <a:lstStyle/>
          <a:p>
            <a:pPr algn="ctr">
              <a:defRPr sz="1000" b="0">
                <a:solidFill>
                  <a:srgbClr val="323232"/>
                </a:solidFill>
                <a:latin typeface="Calibri"/>
              </a:defRPr>
            </a:pPr>
            <a:r>
              <a:t>High</a:t>
            </a:r>
          </a:p>
        </p:txBody>
      </p:sp>
      <p:sp>
        <p:nvSpPr>
          <p:cNvPr id="84" name="Rectangle 83"/>
          <p:cNvSpPr/>
          <p:nvPr/>
        </p:nvSpPr>
        <p:spPr>
          <a:xfrm>
            <a:off x="9936480" y="3474720"/>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936480" y="3474720"/>
            <a:ext cx="1767840" cy="256032"/>
          </a:xfrm>
          <a:prstGeom prst="rect">
            <a:avLst/>
          </a:prstGeom>
          <a:noFill/>
        </p:spPr>
        <p:txBody>
          <a:bodyPr wrap="square">
            <a:spAutoFit/>
          </a:bodyPr>
          <a:lstStyle/>
          <a:p>
            <a:pPr algn="ctr">
              <a:defRPr sz="1000" b="0">
                <a:solidFill>
                  <a:srgbClr val="323232"/>
                </a:solidFill>
                <a:latin typeface="Calibri"/>
              </a:defRPr>
            </a:pPr>
            <a:r>
              <a:t>16</a:t>
            </a:r>
          </a:p>
        </p:txBody>
      </p:sp>
      <p:sp>
        <p:nvSpPr>
          <p:cNvPr id="86" name="Rectangle 85"/>
          <p:cNvSpPr/>
          <p:nvPr/>
        </p:nvSpPr>
        <p:spPr>
          <a:xfrm>
            <a:off x="6400800" y="3730752"/>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400800" y="3730752"/>
            <a:ext cx="1767840" cy="256032"/>
          </a:xfrm>
          <a:prstGeom prst="rect">
            <a:avLst/>
          </a:prstGeom>
          <a:noFill/>
        </p:spPr>
        <p:txBody>
          <a:bodyPr wrap="square">
            <a:spAutoFit/>
          </a:bodyPr>
          <a:lstStyle/>
          <a:p>
            <a:pPr algn="ctr">
              <a:defRPr sz="1000" b="0">
                <a:solidFill>
                  <a:srgbClr val="323232"/>
                </a:solidFill>
                <a:latin typeface="Calibri"/>
              </a:defRPr>
            </a:pPr>
            <a:r>
              <a:t>Explainable AI Decision Report</a:t>
            </a:r>
          </a:p>
        </p:txBody>
      </p:sp>
      <p:sp>
        <p:nvSpPr>
          <p:cNvPr id="88" name="Rectangle 87"/>
          <p:cNvSpPr/>
          <p:nvPr/>
        </p:nvSpPr>
        <p:spPr>
          <a:xfrm>
            <a:off x="8168640" y="3730752"/>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168640" y="3730752"/>
            <a:ext cx="1767840" cy="256032"/>
          </a:xfrm>
          <a:prstGeom prst="rect">
            <a:avLst/>
          </a:prstGeom>
          <a:noFill/>
        </p:spPr>
        <p:txBody>
          <a:bodyPr wrap="square">
            <a:spAutoFit/>
          </a:bodyPr>
          <a:lstStyle/>
          <a:p>
            <a:pPr algn="ctr">
              <a:defRPr sz="1000" b="0">
                <a:solidFill>
                  <a:srgbClr val="323232"/>
                </a:solidFill>
                <a:latin typeface="Calibri"/>
              </a:defRPr>
            </a:pPr>
            <a:r>
              <a:t>Critical</a:t>
            </a:r>
          </a:p>
        </p:txBody>
      </p:sp>
      <p:sp>
        <p:nvSpPr>
          <p:cNvPr id="90" name="Rectangle 89"/>
          <p:cNvSpPr/>
          <p:nvPr/>
        </p:nvSpPr>
        <p:spPr>
          <a:xfrm>
            <a:off x="9936480" y="3730752"/>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9936480" y="3730752"/>
            <a:ext cx="1767840" cy="256032"/>
          </a:xfrm>
          <a:prstGeom prst="rect">
            <a:avLst/>
          </a:prstGeom>
          <a:noFill/>
        </p:spPr>
        <p:txBody>
          <a:bodyPr wrap="square">
            <a:spAutoFit/>
          </a:bodyPr>
          <a:lstStyle/>
          <a:p>
            <a:pPr algn="ctr">
              <a:defRPr sz="1000" b="0">
                <a:solidFill>
                  <a:srgbClr val="323232"/>
                </a:solidFill>
                <a:latin typeface="Calibri"/>
              </a:defRPr>
            </a:pPr>
            <a:r>
              <a:t>14</a:t>
            </a:r>
          </a:p>
        </p:txBody>
      </p:sp>
      <p:sp>
        <p:nvSpPr>
          <p:cNvPr id="92" name="Rectangle 91"/>
          <p:cNvSpPr/>
          <p:nvPr/>
        </p:nvSpPr>
        <p:spPr>
          <a:xfrm>
            <a:off x="6400800" y="3986784"/>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400800" y="3986784"/>
            <a:ext cx="1767840" cy="256032"/>
          </a:xfrm>
          <a:prstGeom prst="rect">
            <a:avLst/>
          </a:prstGeom>
          <a:noFill/>
        </p:spPr>
        <p:txBody>
          <a:bodyPr wrap="square">
            <a:spAutoFit/>
          </a:bodyPr>
          <a:lstStyle/>
          <a:p>
            <a:pPr algn="ctr">
              <a:defRPr sz="1000" b="0">
                <a:solidFill>
                  <a:srgbClr val="323232"/>
                </a:solidFill>
                <a:latin typeface="Calibri"/>
              </a:defRPr>
            </a:pPr>
            <a:r>
              <a:t>Settlement Finality Engine</a:t>
            </a:r>
          </a:p>
        </p:txBody>
      </p:sp>
      <p:sp>
        <p:nvSpPr>
          <p:cNvPr id="94" name="Rectangle 93"/>
          <p:cNvSpPr/>
          <p:nvPr/>
        </p:nvSpPr>
        <p:spPr>
          <a:xfrm>
            <a:off x="8168640" y="3986784"/>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168640" y="3986784"/>
            <a:ext cx="1767840" cy="256032"/>
          </a:xfrm>
          <a:prstGeom prst="rect">
            <a:avLst/>
          </a:prstGeom>
          <a:noFill/>
        </p:spPr>
        <p:txBody>
          <a:bodyPr wrap="square">
            <a:spAutoFit/>
          </a:bodyPr>
          <a:lstStyle/>
          <a:p>
            <a:pPr algn="ctr">
              <a:defRPr sz="1000" b="0">
                <a:solidFill>
                  <a:srgbClr val="323232"/>
                </a:solidFill>
                <a:latin typeface="Calibri"/>
              </a:defRPr>
            </a:pPr>
            <a:r>
              <a:t>Critical</a:t>
            </a:r>
          </a:p>
        </p:txBody>
      </p:sp>
      <p:sp>
        <p:nvSpPr>
          <p:cNvPr id="96" name="Rectangle 95"/>
          <p:cNvSpPr/>
          <p:nvPr/>
        </p:nvSpPr>
        <p:spPr>
          <a:xfrm>
            <a:off x="9936480" y="3986784"/>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936480" y="3986784"/>
            <a:ext cx="1767840" cy="256032"/>
          </a:xfrm>
          <a:prstGeom prst="rect">
            <a:avLst/>
          </a:prstGeom>
          <a:noFill/>
        </p:spPr>
        <p:txBody>
          <a:bodyPr wrap="square">
            <a:spAutoFit/>
          </a:bodyPr>
          <a:lstStyle/>
          <a:p>
            <a:pPr algn="ctr">
              <a:defRPr sz="1000" b="0">
                <a:solidFill>
                  <a:srgbClr val="323232"/>
                </a:solidFill>
                <a:latin typeface="Calibri"/>
              </a:defRPr>
            </a:pPr>
            <a:r>
              <a:t>15</a:t>
            </a:r>
          </a:p>
        </p:txBody>
      </p:sp>
      <p:sp>
        <p:nvSpPr>
          <p:cNvPr id="98" name="Rectangle 97"/>
          <p:cNvSpPr/>
          <p:nvPr/>
        </p:nvSpPr>
        <p:spPr>
          <a:xfrm>
            <a:off x="6400800" y="4242816"/>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400800" y="4242816"/>
            <a:ext cx="1767840" cy="256032"/>
          </a:xfrm>
          <a:prstGeom prst="rect">
            <a:avLst/>
          </a:prstGeom>
          <a:noFill/>
        </p:spPr>
        <p:txBody>
          <a:bodyPr wrap="square">
            <a:spAutoFit/>
          </a:bodyPr>
          <a:lstStyle/>
          <a:p>
            <a:pPr algn="ctr">
              <a:defRPr sz="1000" b="1">
                <a:solidFill>
                  <a:srgbClr val="323232"/>
                </a:solidFill>
                <a:latin typeface="Calibri"/>
              </a:defRPr>
            </a:pPr>
            <a:r>
              <a:t>Loan Application Summarizer</a:t>
            </a:r>
          </a:p>
        </p:txBody>
      </p:sp>
      <p:sp>
        <p:nvSpPr>
          <p:cNvPr id="100" name="Rectangle 99"/>
          <p:cNvSpPr/>
          <p:nvPr/>
        </p:nvSpPr>
        <p:spPr>
          <a:xfrm>
            <a:off x="8168640" y="4242816"/>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168640" y="4242816"/>
            <a:ext cx="1767840" cy="256032"/>
          </a:xfrm>
          <a:prstGeom prst="rect">
            <a:avLst/>
          </a:prstGeom>
          <a:noFill/>
        </p:spPr>
        <p:txBody>
          <a:bodyPr wrap="square">
            <a:spAutoFit/>
          </a:bodyPr>
          <a:lstStyle/>
          <a:p>
            <a:pPr algn="ctr">
              <a:defRPr sz="1000" b="1">
                <a:solidFill>
                  <a:srgbClr val="323232"/>
                </a:solidFill>
                <a:latin typeface="Calibri"/>
              </a:defRPr>
            </a:pPr>
            <a:r>
              <a:t>High</a:t>
            </a:r>
          </a:p>
        </p:txBody>
      </p:sp>
      <p:sp>
        <p:nvSpPr>
          <p:cNvPr id="102" name="Rectangle 101"/>
          <p:cNvSpPr/>
          <p:nvPr/>
        </p:nvSpPr>
        <p:spPr>
          <a:xfrm>
            <a:off x="9936480" y="4242816"/>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936480" y="4242816"/>
            <a:ext cx="1767840" cy="256032"/>
          </a:xfrm>
          <a:prstGeom prst="rect">
            <a:avLst/>
          </a:prstGeom>
          <a:noFill/>
        </p:spPr>
        <p:txBody>
          <a:bodyPr wrap="square">
            <a:spAutoFit/>
          </a:bodyPr>
          <a:lstStyle/>
          <a:p>
            <a:pPr algn="ctr">
              <a:defRPr sz="1000" b="1">
                <a:solidFill>
                  <a:srgbClr val="323232"/>
                </a:solidFill>
                <a:latin typeface="Calibri"/>
              </a:defRPr>
            </a:pPr>
            <a:r>
              <a:t>10</a:t>
            </a:r>
          </a:p>
        </p:txBody>
      </p:sp>
      <p:sp>
        <p:nvSpPr>
          <p:cNvPr id="104" name="Rectangle 103"/>
          <p:cNvSpPr/>
          <p:nvPr/>
        </p:nvSpPr>
        <p:spPr>
          <a:xfrm>
            <a:off x="548640" y="4709160"/>
            <a:ext cx="11064240" cy="18288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731520" y="4800600"/>
            <a:ext cx="10698480" cy="320040"/>
          </a:xfrm>
          <a:prstGeom prst="rect">
            <a:avLst/>
          </a:prstGeom>
          <a:noFill/>
        </p:spPr>
        <p:txBody>
          <a:bodyPr wrap="square">
            <a:spAutoFit/>
          </a:bodyPr>
          <a:lstStyle/>
          <a:p>
            <a:pPr algn="l">
              <a:defRPr sz="1300" b="1">
                <a:solidFill>
                  <a:srgbClr val="002952"/>
                </a:solidFill>
                <a:latin typeface="Calibri"/>
              </a:defRPr>
            </a:pPr>
            <a:r>
              <a:t>Example Feature Detail: Fair Lending Model Validation</a:t>
            </a:r>
          </a:p>
        </p:txBody>
      </p:sp>
      <p:sp>
        <p:nvSpPr>
          <p:cNvPr id="106" name="TextBox 105"/>
          <p:cNvSpPr txBox="1"/>
          <p:nvPr/>
        </p:nvSpPr>
        <p:spPr>
          <a:xfrm>
            <a:off x="731520" y="5120640"/>
            <a:ext cx="10698480" cy="274320"/>
          </a:xfrm>
          <a:prstGeom prst="rect">
            <a:avLst/>
          </a:prstGeom>
          <a:noFill/>
        </p:spPr>
        <p:txBody>
          <a:bodyPr wrap="square">
            <a:spAutoFit/>
          </a:bodyPr>
          <a:lstStyle/>
          <a:p>
            <a:pPr algn="l">
              <a:defRPr sz="1100" b="0">
                <a:solidFill>
                  <a:srgbClr val="323232"/>
                </a:solidFill>
                <a:latin typeface="Calibri"/>
              </a:defRPr>
            </a:pPr>
            <a:r>
              <a:rPr sz="1100" b="1">
                <a:solidFill>
                  <a:srgbClr val="0066B2"/>
                </a:solidFill>
                <a:latin typeface="Calibri"/>
              </a:rPr>
              <a:t>Epic: </a:t>
            </a:r>
            <a:r>
              <a:rPr sz="1100">
                <a:solidFill>
                  <a:srgbClr val="323232"/>
                </a:solidFill>
                <a:latin typeface="Calibri"/>
              </a:rPr>
              <a:t>Mortgage ML Decisioning Model  |  </a:t>
            </a:r>
            <a:r>
              <a:rPr sz="1100" b="1">
                <a:solidFill>
                  <a:srgbClr val="0066B2"/>
                </a:solidFill>
                <a:latin typeface="Calibri"/>
              </a:rPr>
              <a:t>Team: </a:t>
            </a:r>
            <a:r>
              <a:rPr sz="1100">
                <a:solidFill>
                  <a:srgbClr val="323232"/>
                </a:solidFill>
                <a:latin typeface="Calibri"/>
              </a:rPr>
              <a:t>Credit &amp; Lending Tech  |  </a:t>
            </a:r>
            <a:r>
              <a:rPr sz="1100" b="1">
                <a:solidFill>
                  <a:srgbClr val="0066B2"/>
                </a:solidFill>
                <a:latin typeface="Calibri"/>
              </a:rPr>
              <a:t>Priority: </a:t>
            </a:r>
            <a:r>
              <a:rPr sz="1100">
                <a:solidFill>
                  <a:srgbClr val="323232"/>
                </a:solidFill>
                <a:latin typeface="Calibri"/>
              </a:rPr>
              <a:t>Critical  |  </a:t>
            </a:r>
            <a:r>
              <a:rPr sz="1100" b="1">
                <a:solidFill>
                  <a:srgbClr val="0066B2"/>
                </a:solidFill>
                <a:latin typeface="Calibri"/>
              </a:rPr>
              <a:t>Points: </a:t>
            </a:r>
            <a:r>
              <a:rPr sz="1100">
                <a:solidFill>
                  <a:srgbClr val="323232"/>
                </a:solidFill>
                <a:latin typeface="Calibri"/>
              </a:rPr>
              <a:t>18</a:t>
            </a:r>
          </a:p>
        </p:txBody>
      </p:sp>
      <p:sp>
        <p:nvSpPr>
          <p:cNvPr id="107" name="TextBox 106"/>
          <p:cNvSpPr txBox="1"/>
          <p:nvPr/>
        </p:nvSpPr>
        <p:spPr>
          <a:xfrm>
            <a:off x="731520" y="5440680"/>
            <a:ext cx="10698480" cy="274320"/>
          </a:xfrm>
          <a:prstGeom prst="rect">
            <a:avLst/>
          </a:prstGeom>
          <a:noFill/>
        </p:spPr>
        <p:txBody>
          <a:bodyPr wrap="square">
            <a:spAutoFit/>
          </a:bodyPr>
          <a:lstStyle/>
          <a:p>
            <a:pPr algn="l">
              <a:defRPr sz="1100" b="0">
                <a:solidFill>
                  <a:srgbClr val="323232"/>
                </a:solidFill>
                <a:latin typeface="Calibri"/>
              </a:defRPr>
            </a:pPr>
            <a:r>
              <a:t>User Story:  As a model risk officer, I want comprehensive fair lending validation so that our AI underwriting model meets OCC regulatory requirements.</a:t>
            </a:r>
          </a:p>
        </p:txBody>
      </p:sp>
      <p:sp>
        <p:nvSpPr>
          <p:cNvPr id="108" name="TextBox 107"/>
          <p:cNvSpPr txBox="1"/>
          <p:nvPr/>
        </p:nvSpPr>
        <p:spPr>
          <a:xfrm>
            <a:off x="731520" y="5760720"/>
            <a:ext cx="10698480" cy="274320"/>
          </a:xfrm>
          <a:prstGeom prst="rect">
            <a:avLst/>
          </a:prstGeom>
          <a:noFill/>
        </p:spPr>
        <p:txBody>
          <a:bodyPr wrap="square">
            <a:spAutoFit/>
          </a:bodyPr>
          <a:lstStyle/>
          <a:p>
            <a:pPr algn="l">
              <a:defRPr sz="1100" b="0">
                <a:solidFill>
                  <a:srgbClr val="323232"/>
                </a:solidFill>
                <a:latin typeface="Calibri"/>
              </a:defRPr>
            </a:pPr>
            <a:r>
              <a:t>Acceptance Criteria:  No statistically significant disparate impact across race, gender, age. OCC model risk review passed.</a:t>
            </a:r>
          </a:p>
        </p:txBody>
      </p:sp>
      <p:sp>
        <p:nvSpPr>
          <p:cNvPr id="109" name="TextBox 108"/>
          <p:cNvSpPr txBox="1"/>
          <p:nvPr/>
        </p:nvSpPr>
        <p:spPr>
          <a:xfrm>
            <a:off x="731520" y="6080760"/>
            <a:ext cx="10698480" cy="274320"/>
          </a:xfrm>
          <a:prstGeom prst="rect">
            <a:avLst/>
          </a:prstGeom>
          <a:noFill/>
        </p:spPr>
        <p:txBody>
          <a:bodyPr wrap="square">
            <a:spAutoFit/>
          </a:bodyPr>
          <a:lstStyle/>
          <a:p>
            <a:pPr algn="l">
              <a:defRPr sz="1100" b="1">
                <a:solidFill>
                  <a:srgbClr val="0066B2"/>
                </a:solidFill>
                <a:latin typeface="Calibri"/>
              </a:defRPr>
            </a:pPr>
            <a:r>
              <a:t>Delivery OKR:  Deploy mortgage auto-decisioning model with &lt;0.5% adverse action error rate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48640"/>
          </a:xfrm>
          <a:prstGeom prst="rect">
            <a:avLst/>
          </a:prstGeom>
          <a:noFill/>
        </p:spPr>
        <p:txBody>
          <a:bodyPr wrap="square">
            <a:spAutoFit/>
          </a:bodyPr>
          <a:lstStyle/>
          <a:p>
            <a:pPr algn="l">
              <a:defRPr sz="2800" b="1">
                <a:solidFill>
                  <a:srgbClr val="002952"/>
                </a:solidFill>
                <a:latin typeface="Calibri"/>
              </a:defRPr>
            </a:pPr>
            <a:r>
              <a:t>Quantitative Impact Analysis</a:t>
            </a:r>
          </a:p>
        </p:txBody>
      </p:sp>
      <p:sp>
        <p:nvSpPr>
          <p:cNvPr id="4" name="TextBox 3"/>
          <p:cNvSpPr txBox="1"/>
          <p:nvPr/>
        </p:nvSpPr>
        <p:spPr>
          <a:xfrm>
            <a:off x="548640" y="777240"/>
            <a:ext cx="10972800" cy="411480"/>
          </a:xfrm>
          <a:prstGeom prst="rect">
            <a:avLst/>
          </a:prstGeom>
          <a:noFill/>
        </p:spPr>
        <p:txBody>
          <a:bodyPr wrap="square">
            <a:spAutoFit/>
          </a:bodyPr>
          <a:lstStyle/>
          <a:p>
            <a:pPr algn="l">
              <a:defRPr sz="1300" b="0">
                <a:solidFill>
                  <a:srgbClr val="787878"/>
                </a:solidFill>
                <a:latin typeface="Calibri"/>
              </a:defRPr>
            </a:pPr>
            <a:r>
              <a:t>Measured outputs from the US Bancorp case study vs. industry benchmarks for traditional consulting</a:t>
            </a:r>
          </a:p>
        </p:txBody>
      </p:sp>
      <p:sp>
        <p:nvSpPr>
          <p:cNvPr id="5" name="TextBox 4"/>
          <p:cNvSpPr txBox="1"/>
          <p:nvPr/>
        </p:nvSpPr>
        <p:spPr>
          <a:xfrm>
            <a:off x="548640" y="1188720"/>
            <a:ext cx="5486400" cy="274320"/>
          </a:xfrm>
          <a:prstGeom prst="rect">
            <a:avLst/>
          </a:prstGeom>
          <a:noFill/>
        </p:spPr>
        <p:txBody>
          <a:bodyPr wrap="square">
            <a:spAutoFit/>
          </a:bodyPr>
          <a:lstStyle/>
          <a:p>
            <a:pPr algn="l">
              <a:defRPr sz="1400" b="1">
                <a:solidFill>
                  <a:srgbClr val="002952"/>
                </a:solidFill>
                <a:latin typeface="Calibri"/>
              </a:defRPr>
            </a:pPr>
            <a:r>
              <a:t>Time Savings by Phase</a:t>
            </a:r>
          </a:p>
        </p:txBody>
      </p:sp>
      <p:sp>
        <p:nvSpPr>
          <p:cNvPr id="6" name="Rectangle 5"/>
          <p:cNvSpPr/>
          <p:nvPr/>
        </p:nvSpPr>
        <p:spPr>
          <a:xfrm>
            <a:off x="548640" y="1554480"/>
            <a:ext cx="132588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54480"/>
            <a:ext cx="1325880" cy="256032"/>
          </a:xfrm>
          <a:prstGeom prst="rect">
            <a:avLst/>
          </a:prstGeom>
          <a:noFill/>
        </p:spPr>
        <p:txBody>
          <a:bodyPr wrap="square">
            <a:spAutoFit/>
          </a:bodyPr>
          <a:lstStyle/>
          <a:p>
            <a:pPr algn="ctr">
              <a:defRPr sz="900" b="1">
                <a:solidFill>
                  <a:srgbClr val="FFFFFF"/>
                </a:solidFill>
                <a:latin typeface="Calibri"/>
              </a:defRPr>
            </a:pPr>
            <a:r>
              <a:t>Phase</a:t>
            </a:r>
          </a:p>
        </p:txBody>
      </p:sp>
      <p:sp>
        <p:nvSpPr>
          <p:cNvPr id="8" name="Rectangle 7"/>
          <p:cNvSpPr/>
          <p:nvPr/>
        </p:nvSpPr>
        <p:spPr>
          <a:xfrm>
            <a:off x="1874520" y="1554480"/>
            <a:ext cx="132588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74520" y="1554480"/>
            <a:ext cx="1325880" cy="256032"/>
          </a:xfrm>
          <a:prstGeom prst="rect">
            <a:avLst/>
          </a:prstGeom>
          <a:noFill/>
        </p:spPr>
        <p:txBody>
          <a:bodyPr wrap="square">
            <a:spAutoFit/>
          </a:bodyPr>
          <a:lstStyle/>
          <a:p>
            <a:pPr algn="ctr">
              <a:defRPr sz="900" b="1">
                <a:solidFill>
                  <a:srgbClr val="FFFFFF"/>
                </a:solidFill>
                <a:latin typeface="Calibri"/>
              </a:defRPr>
            </a:pPr>
            <a:r>
              <a:t>Traditional</a:t>
            </a:r>
          </a:p>
        </p:txBody>
      </p:sp>
      <p:sp>
        <p:nvSpPr>
          <p:cNvPr id="10" name="Rectangle 9"/>
          <p:cNvSpPr/>
          <p:nvPr/>
        </p:nvSpPr>
        <p:spPr>
          <a:xfrm>
            <a:off x="3200400" y="1554480"/>
            <a:ext cx="132588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0" y="1554480"/>
            <a:ext cx="1325880" cy="256032"/>
          </a:xfrm>
          <a:prstGeom prst="rect">
            <a:avLst/>
          </a:prstGeom>
          <a:noFill/>
        </p:spPr>
        <p:txBody>
          <a:bodyPr wrap="square">
            <a:spAutoFit/>
          </a:bodyPr>
          <a:lstStyle/>
          <a:p>
            <a:pPr algn="ctr">
              <a:defRPr sz="900" b="1">
                <a:solidFill>
                  <a:srgbClr val="FFFFFF"/>
                </a:solidFill>
                <a:latin typeface="Calibri"/>
              </a:defRPr>
            </a:pPr>
            <a:r>
              <a:t>BTA</a:t>
            </a:r>
          </a:p>
        </p:txBody>
      </p:sp>
      <p:sp>
        <p:nvSpPr>
          <p:cNvPr id="12" name="Rectangle 11"/>
          <p:cNvSpPr/>
          <p:nvPr/>
        </p:nvSpPr>
        <p:spPr>
          <a:xfrm>
            <a:off x="4526280" y="1554480"/>
            <a:ext cx="132588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554480"/>
            <a:ext cx="1325880" cy="256032"/>
          </a:xfrm>
          <a:prstGeom prst="rect">
            <a:avLst/>
          </a:prstGeom>
          <a:noFill/>
        </p:spPr>
        <p:txBody>
          <a:bodyPr wrap="square">
            <a:spAutoFit/>
          </a:bodyPr>
          <a:lstStyle/>
          <a:p>
            <a:pPr algn="ctr">
              <a:defRPr sz="900" b="1">
                <a:solidFill>
                  <a:srgbClr val="FFFFFF"/>
                </a:solidFill>
                <a:latin typeface="Calibri"/>
              </a:defRPr>
            </a:pPr>
            <a:r>
              <a:t>Saved</a:t>
            </a:r>
          </a:p>
        </p:txBody>
      </p:sp>
      <p:sp>
        <p:nvSpPr>
          <p:cNvPr id="14" name="Rectangle 13"/>
          <p:cNvSpPr/>
          <p:nvPr/>
        </p:nvSpPr>
        <p:spPr>
          <a:xfrm>
            <a:off x="548640" y="1810512"/>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1810512"/>
            <a:ext cx="1325880" cy="256032"/>
          </a:xfrm>
          <a:prstGeom prst="rect">
            <a:avLst/>
          </a:prstGeom>
          <a:noFill/>
        </p:spPr>
        <p:txBody>
          <a:bodyPr wrap="square">
            <a:spAutoFit/>
          </a:bodyPr>
          <a:lstStyle/>
          <a:p>
            <a:pPr algn="ctr">
              <a:defRPr sz="900" b="0">
                <a:solidFill>
                  <a:srgbClr val="323232"/>
                </a:solidFill>
                <a:latin typeface="Calibri"/>
              </a:defRPr>
            </a:pPr>
            <a:r>
              <a:t>Financial Analysis</a:t>
            </a:r>
          </a:p>
        </p:txBody>
      </p:sp>
      <p:sp>
        <p:nvSpPr>
          <p:cNvPr id="16" name="Rectangle 15"/>
          <p:cNvSpPr/>
          <p:nvPr/>
        </p:nvSpPr>
        <p:spPr>
          <a:xfrm>
            <a:off x="1874520" y="1810512"/>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74520" y="1810512"/>
            <a:ext cx="1325880" cy="256032"/>
          </a:xfrm>
          <a:prstGeom prst="rect">
            <a:avLst/>
          </a:prstGeom>
          <a:noFill/>
        </p:spPr>
        <p:txBody>
          <a:bodyPr wrap="square">
            <a:spAutoFit/>
          </a:bodyPr>
          <a:lstStyle/>
          <a:p>
            <a:pPr algn="ctr">
              <a:defRPr sz="900" b="0">
                <a:solidFill>
                  <a:srgbClr val="323232"/>
                </a:solidFill>
                <a:latin typeface="Calibri"/>
              </a:defRPr>
            </a:pPr>
            <a:r>
              <a:t>2-4 weeks</a:t>
            </a:r>
          </a:p>
        </p:txBody>
      </p:sp>
      <p:sp>
        <p:nvSpPr>
          <p:cNvPr id="18" name="Rectangle 17"/>
          <p:cNvSpPr/>
          <p:nvPr/>
        </p:nvSpPr>
        <p:spPr>
          <a:xfrm>
            <a:off x="3200400" y="1810512"/>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0" y="1810512"/>
            <a:ext cx="1325880" cy="256032"/>
          </a:xfrm>
          <a:prstGeom prst="rect">
            <a:avLst/>
          </a:prstGeom>
          <a:noFill/>
        </p:spPr>
        <p:txBody>
          <a:bodyPr wrap="square">
            <a:spAutoFit/>
          </a:bodyPr>
          <a:lstStyle/>
          <a:p>
            <a:pPr algn="ctr">
              <a:defRPr sz="900" b="0">
                <a:solidFill>
                  <a:srgbClr val="323232"/>
                </a:solidFill>
                <a:latin typeface="Calibri"/>
              </a:defRPr>
            </a:pPr>
            <a:r>
              <a:t>30 sec</a:t>
            </a:r>
          </a:p>
        </p:txBody>
      </p:sp>
      <p:sp>
        <p:nvSpPr>
          <p:cNvPr id="20" name="Rectangle 19"/>
          <p:cNvSpPr/>
          <p:nvPr/>
        </p:nvSpPr>
        <p:spPr>
          <a:xfrm>
            <a:off x="4526280" y="1810512"/>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26280" y="1810512"/>
            <a:ext cx="1325880" cy="256032"/>
          </a:xfrm>
          <a:prstGeom prst="rect">
            <a:avLst/>
          </a:prstGeom>
          <a:noFill/>
        </p:spPr>
        <p:txBody>
          <a:bodyPr wrap="square">
            <a:spAutoFit/>
          </a:bodyPr>
          <a:lstStyle/>
          <a:p>
            <a:pPr algn="ctr">
              <a:defRPr sz="900" b="0">
                <a:solidFill>
                  <a:srgbClr val="2E7D32"/>
                </a:solidFill>
                <a:latin typeface="Calibri"/>
              </a:defRPr>
            </a:pPr>
            <a:r>
              <a:t>99.7%</a:t>
            </a:r>
          </a:p>
        </p:txBody>
      </p:sp>
      <p:sp>
        <p:nvSpPr>
          <p:cNvPr id="22" name="Rectangle 21"/>
          <p:cNvSpPr/>
          <p:nvPr/>
        </p:nvSpPr>
        <p:spPr>
          <a:xfrm>
            <a:off x="548640" y="2066544"/>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2066544"/>
            <a:ext cx="1325880" cy="256032"/>
          </a:xfrm>
          <a:prstGeom prst="rect">
            <a:avLst/>
          </a:prstGeom>
          <a:noFill/>
        </p:spPr>
        <p:txBody>
          <a:bodyPr wrap="square">
            <a:spAutoFit/>
          </a:bodyPr>
          <a:lstStyle/>
          <a:p>
            <a:pPr algn="ctr">
              <a:defRPr sz="900" b="0">
                <a:solidFill>
                  <a:srgbClr val="323232"/>
                </a:solidFill>
                <a:latin typeface="Calibri"/>
              </a:defRPr>
            </a:pPr>
            <a:r>
              <a:t>Value Stream Mapping</a:t>
            </a:r>
          </a:p>
        </p:txBody>
      </p:sp>
      <p:sp>
        <p:nvSpPr>
          <p:cNvPr id="24" name="Rectangle 23"/>
          <p:cNvSpPr/>
          <p:nvPr/>
        </p:nvSpPr>
        <p:spPr>
          <a:xfrm>
            <a:off x="1874520" y="2066544"/>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874520" y="2066544"/>
            <a:ext cx="1325880" cy="256032"/>
          </a:xfrm>
          <a:prstGeom prst="rect">
            <a:avLst/>
          </a:prstGeom>
          <a:noFill/>
        </p:spPr>
        <p:txBody>
          <a:bodyPr wrap="square">
            <a:spAutoFit/>
          </a:bodyPr>
          <a:lstStyle/>
          <a:p>
            <a:pPr algn="ctr">
              <a:defRPr sz="900" b="0">
                <a:solidFill>
                  <a:srgbClr val="323232"/>
                </a:solidFill>
                <a:latin typeface="Calibri"/>
              </a:defRPr>
            </a:pPr>
            <a:r>
              <a:t>4-8 weeks</a:t>
            </a:r>
          </a:p>
        </p:txBody>
      </p:sp>
      <p:sp>
        <p:nvSpPr>
          <p:cNvPr id="26" name="Rectangle 25"/>
          <p:cNvSpPr/>
          <p:nvPr/>
        </p:nvSpPr>
        <p:spPr>
          <a:xfrm>
            <a:off x="3200400" y="2066544"/>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0" y="2066544"/>
            <a:ext cx="1325880" cy="256032"/>
          </a:xfrm>
          <a:prstGeom prst="rect">
            <a:avLst/>
          </a:prstGeom>
          <a:noFill/>
        </p:spPr>
        <p:txBody>
          <a:bodyPr wrap="square">
            <a:spAutoFit/>
          </a:bodyPr>
          <a:lstStyle/>
          <a:p>
            <a:pPr algn="ctr">
              <a:defRPr sz="900" b="0">
                <a:solidFill>
                  <a:srgbClr val="323232"/>
                </a:solidFill>
                <a:latin typeface="Calibri"/>
              </a:defRPr>
            </a:pPr>
            <a:r>
              <a:t>5-10 min</a:t>
            </a:r>
          </a:p>
        </p:txBody>
      </p:sp>
      <p:sp>
        <p:nvSpPr>
          <p:cNvPr id="28" name="Rectangle 27"/>
          <p:cNvSpPr/>
          <p:nvPr/>
        </p:nvSpPr>
        <p:spPr>
          <a:xfrm>
            <a:off x="4526280" y="2066544"/>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26280" y="2066544"/>
            <a:ext cx="1325880" cy="256032"/>
          </a:xfrm>
          <a:prstGeom prst="rect">
            <a:avLst/>
          </a:prstGeom>
          <a:noFill/>
        </p:spPr>
        <p:txBody>
          <a:bodyPr wrap="square">
            <a:spAutoFit/>
          </a:bodyPr>
          <a:lstStyle/>
          <a:p>
            <a:pPr algn="ctr">
              <a:defRPr sz="900" b="0">
                <a:solidFill>
                  <a:srgbClr val="2E7D32"/>
                </a:solidFill>
                <a:latin typeface="Calibri"/>
              </a:defRPr>
            </a:pPr>
            <a:r>
              <a:t>99.5%</a:t>
            </a:r>
          </a:p>
        </p:txBody>
      </p:sp>
      <p:sp>
        <p:nvSpPr>
          <p:cNvPr id="30" name="Rectangle 29"/>
          <p:cNvSpPr/>
          <p:nvPr/>
        </p:nvSpPr>
        <p:spPr>
          <a:xfrm>
            <a:off x="548640" y="2322576"/>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322576"/>
            <a:ext cx="1325880" cy="256032"/>
          </a:xfrm>
          <a:prstGeom prst="rect">
            <a:avLst/>
          </a:prstGeom>
          <a:noFill/>
        </p:spPr>
        <p:txBody>
          <a:bodyPr wrap="square">
            <a:spAutoFit/>
          </a:bodyPr>
          <a:lstStyle/>
          <a:p>
            <a:pPr algn="ctr">
              <a:defRPr sz="900" b="0">
                <a:solidFill>
                  <a:srgbClr val="323232"/>
                </a:solidFill>
                <a:latin typeface="Calibri"/>
              </a:defRPr>
            </a:pPr>
            <a:r>
              <a:t>SWOT &amp; TOWS</a:t>
            </a:r>
          </a:p>
        </p:txBody>
      </p:sp>
      <p:sp>
        <p:nvSpPr>
          <p:cNvPr id="32" name="Rectangle 31"/>
          <p:cNvSpPr/>
          <p:nvPr/>
        </p:nvSpPr>
        <p:spPr>
          <a:xfrm>
            <a:off x="1874520" y="2322576"/>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874520" y="2322576"/>
            <a:ext cx="1325880" cy="256032"/>
          </a:xfrm>
          <a:prstGeom prst="rect">
            <a:avLst/>
          </a:prstGeom>
          <a:noFill/>
        </p:spPr>
        <p:txBody>
          <a:bodyPr wrap="square">
            <a:spAutoFit/>
          </a:bodyPr>
          <a:lstStyle/>
          <a:p>
            <a:pPr algn="ctr">
              <a:defRPr sz="900" b="0">
                <a:solidFill>
                  <a:srgbClr val="323232"/>
                </a:solidFill>
                <a:latin typeface="Calibri"/>
              </a:defRPr>
            </a:pPr>
            <a:r>
              <a:t>1-2 weeks</a:t>
            </a:r>
          </a:p>
        </p:txBody>
      </p:sp>
      <p:sp>
        <p:nvSpPr>
          <p:cNvPr id="34" name="Rectangle 33"/>
          <p:cNvSpPr/>
          <p:nvPr/>
        </p:nvSpPr>
        <p:spPr>
          <a:xfrm>
            <a:off x="3200400" y="2322576"/>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00400" y="2322576"/>
            <a:ext cx="1325880" cy="256032"/>
          </a:xfrm>
          <a:prstGeom prst="rect">
            <a:avLst/>
          </a:prstGeom>
          <a:noFill/>
        </p:spPr>
        <p:txBody>
          <a:bodyPr wrap="square">
            <a:spAutoFit/>
          </a:bodyPr>
          <a:lstStyle/>
          <a:p>
            <a:pPr algn="ctr">
              <a:defRPr sz="900" b="0">
                <a:solidFill>
                  <a:srgbClr val="323232"/>
                </a:solidFill>
                <a:latin typeface="Calibri"/>
              </a:defRPr>
            </a:pPr>
            <a:r>
              <a:t>90 sec</a:t>
            </a:r>
          </a:p>
        </p:txBody>
      </p:sp>
      <p:sp>
        <p:nvSpPr>
          <p:cNvPr id="36" name="Rectangle 35"/>
          <p:cNvSpPr/>
          <p:nvPr/>
        </p:nvSpPr>
        <p:spPr>
          <a:xfrm>
            <a:off x="4526280" y="2322576"/>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26280" y="2322576"/>
            <a:ext cx="1325880" cy="256032"/>
          </a:xfrm>
          <a:prstGeom prst="rect">
            <a:avLst/>
          </a:prstGeom>
          <a:noFill/>
        </p:spPr>
        <p:txBody>
          <a:bodyPr wrap="square">
            <a:spAutoFit/>
          </a:bodyPr>
          <a:lstStyle/>
          <a:p>
            <a:pPr algn="ctr">
              <a:defRPr sz="900" b="0">
                <a:solidFill>
                  <a:srgbClr val="2E7D32"/>
                </a:solidFill>
                <a:latin typeface="Calibri"/>
              </a:defRPr>
            </a:pPr>
            <a:r>
              <a:t>99.2%</a:t>
            </a:r>
          </a:p>
        </p:txBody>
      </p:sp>
      <p:sp>
        <p:nvSpPr>
          <p:cNvPr id="38" name="Rectangle 37"/>
          <p:cNvSpPr/>
          <p:nvPr/>
        </p:nvSpPr>
        <p:spPr>
          <a:xfrm>
            <a:off x="548640" y="2578608"/>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2578608"/>
            <a:ext cx="1325880" cy="256032"/>
          </a:xfrm>
          <a:prstGeom prst="rect">
            <a:avLst/>
          </a:prstGeom>
          <a:noFill/>
        </p:spPr>
        <p:txBody>
          <a:bodyPr wrap="square">
            <a:spAutoFit/>
          </a:bodyPr>
          <a:lstStyle/>
          <a:p>
            <a:pPr algn="ctr">
              <a:defRPr sz="900" b="0">
                <a:solidFill>
                  <a:srgbClr val="323232"/>
                </a:solidFill>
                <a:latin typeface="Calibri"/>
              </a:defRPr>
            </a:pPr>
            <a:r>
              <a:t>Strategy &amp; OKRs</a:t>
            </a:r>
          </a:p>
        </p:txBody>
      </p:sp>
      <p:sp>
        <p:nvSpPr>
          <p:cNvPr id="40" name="Rectangle 39"/>
          <p:cNvSpPr/>
          <p:nvPr/>
        </p:nvSpPr>
        <p:spPr>
          <a:xfrm>
            <a:off x="1874520" y="2578608"/>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874520" y="2578608"/>
            <a:ext cx="1325880" cy="256032"/>
          </a:xfrm>
          <a:prstGeom prst="rect">
            <a:avLst/>
          </a:prstGeom>
          <a:noFill/>
        </p:spPr>
        <p:txBody>
          <a:bodyPr wrap="square">
            <a:spAutoFit/>
          </a:bodyPr>
          <a:lstStyle/>
          <a:p>
            <a:pPr algn="ctr">
              <a:defRPr sz="900" b="0">
                <a:solidFill>
                  <a:srgbClr val="323232"/>
                </a:solidFill>
                <a:latin typeface="Calibri"/>
              </a:defRPr>
            </a:pPr>
            <a:r>
              <a:t>4-12 weeks</a:t>
            </a:r>
          </a:p>
        </p:txBody>
      </p:sp>
      <p:sp>
        <p:nvSpPr>
          <p:cNvPr id="42" name="Rectangle 41"/>
          <p:cNvSpPr/>
          <p:nvPr/>
        </p:nvSpPr>
        <p:spPr>
          <a:xfrm>
            <a:off x="3200400" y="2578608"/>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0" y="2578608"/>
            <a:ext cx="1325880" cy="256032"/>
          </a:xfrm>
          <a:prstGeom prst="rect">
            <a:avLst/>
          </a:prstGeom>
          <a:noFill/>
        </p:spPr>
        <p:txBody>
          <a:bodyPr wrap="square">
            <a:spAutoFit/>
          </a:bodyPr>
          <a:lstStyle/>
          <a:p>
            <a:pPr algn="ctr">
              <a:defRPr sz="900" b="0">
                <a:solidFill>
                  <a:srgbClr val="323232"/>
                </a:solidFill>
                <a:latin typeface="Calibri"/>
              </a:defRPr>
            </a:pPr>
            <a:r>
              <a:t>60 sec</a:t>
            </a:r>
          </a:p>
        </p:txBody>
      </p:sp>
      <p:sp>
        <p:nvSpPr>
          <p:cNvPr id="44" name="Rectangle 43"/>
          <p:cNvSpPr/>
          <p:nvPr/>
        </p:nvSpPr>
        <p:spPr>
          <a:xfrm>
            <a:off x="4526280" y="2578608"/>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26280" y="2578608"/>
            <a:ext cx="1325880" cy="256032"/>
          </a:xfrm>
          <a:prstGeom prst="rect">
            <a:avLst/>
          </a:prstGeom>
          <a:noFill/>
        </p:spPr>
        <p:txBody>
          <a:bodyPr wrap="square">
            <a:spAutoFit/>
          </a:bodyPr>
          <a:lstStyle/>
          <a:p>
            <a:pPr algn="ctr">
              <a:defRPr sz="900" b="0">
                <a:solidFill>
                  <a:srgbClr val="2E7D32"/>
                </a:solidFill>
                <a:latin typeface="Calibri"/>
              </a:defRPr>
            </a:pPr>
            <a:r>
              <a:t>99.6%</a:t>
            </a:r>
          </a:p>
        </p:txBody>
      </p:sp>
      <p:sp>
        <p:nvSpPr>
          <p:cNvPr id="46" name="Rectangle 45"/>
          <p:cNvSpPr/>
          <p:nvPr/>
        </p:nvSpPr>
        <p:spPr>
          <a:xfrm>
            <a:off x="548640" y="2834640"/>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2834640"/>
            <a:ext cx="1325880" cy="256032"/>
          </a:xfrm>
          <a:prstGeom prst="rect">
            <a:avLst/>
          </a:prstGeom>
          <a:noFill/>
        </p:spPr>
        <p:txBody>
          <a:bodyPr wrap="square">
            <a:spAutoFit/>
          </a:bodyPr>
          <a:lstStyle/>
          <a:p>
            <a:pPr algn="ctr">
              <a:defRPr sz="900" b="0">
                <a:solidFill>
                  <a:srgbClr val="323232"/>
                </a:solidFill>
                <a:latin typeface="Calibri"/>
              </a:defRPr>
            </a:pPr>
            <a:r>
              <a:t>Initiatives &amp; RICE</a:t>
            </a:r>
          </a:p>
        </p:txBody>
      </p:sp>
      <p:sp>
        <p:nvSpPr>
          <p:cNvPr id="48" name="Rectangle 47"/>
          <p:cNvSpPr/>
          <p:nvPr/>
        </p:nvSpPr>
        <p:spPr>
          <a:xfrm>
            <a:off x="1874520" y="2834640"/>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74520" y="2834640"/>
            <a:ext cx="1325880" cy="256032"/>
          </a:xfrm>
          <a:prstGeom prst="rect">
            <a:avLst/>
          </a:prstGeom>
          <a:noFill/>
        </p:spPr>
        <p:txBody>
          <a:bodyPr wrap="square">
            <a:spAutoFit/>
          </a:bodyPr>
          <a:lstStyle/>
          <a:p>
            <a:pPr algn="ctr">
              <a:defRPr sz="900" b="0">
                <a:solidFill>
                  <a:srgbClr val="323232"/>
                </a:solidFill>
                <a:latin typeface="Calibri"/>
              </a:defRPr>
            </a:pPr>
            <a:r>
              <a:t>2-4 weeks</a:t>
            </a:r>
          </a:p>
        </p:txBody>
      </p:sp>
      <p:sp>
        <p:nvSpPr>
          <p:cNvPr id="50" name="Rectangle 49"/>
          <p:cNvSpPr/>
          <p:nvPr/>
        </p:nvSpPr>
        <p:spPr>
          <a:xfrm>
            <a:off x="3200400" y="2834640"/>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00400" y="2834640"/>
            <a:ext cx="1325880" cy="256032"/>
          </a:xfrm>
          <a:prstGeom prst="rect">
            <a:avLst/>
          </a:prstGeom>
          <a:noFill/>
        </p:spPr>
        <p:txBody>
          <a:bodyPr wrap="square">
            <a:spAutoFit/>
          </a:bodyPr>
          <a:lstStyle/>
          <a:p>
            <a:pPr algn="ctr">
              <a:defRPr sz="900" b="0">
                <a:solidFill>
                  <a:srgbClr val="323232"/>
                </a:solidFill>
                <a:latin typeface="Calibri"/>
              </a:defRPr>
            </a:pPr>
            <a:r>
              <a:t>60 sec</a:t>
            </a:r>
          </a:p>
        </p:txBody>
      </p:sp>
      <p:sp>
        <p:nvSpPr>
          <p:cNvPr id="52" name="Rectangle 51"/>
          <p:cNvSpPr/>
          <p:nvPr/>
        </p:nvSpPr>
        <p:spPr>
          <a:xfrm>
            <a:off x="4526280" y="2834640"/>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526280" y="2834640"/>
            <a:ext cx="1325880" cy="256032"/>
          </a:xfrm>
          <a:prstGeom prst="rect">
            <a:avLst/>
          </a:prstGeom>
          <a:noFill/>
        </p:spPr>
        <p:txBody>
          <a:bodyPr wrap="square">
            <a:spAutoFit/>
          </a:bodyPr>
          <a:lstStyle/>
          <a:p>
            <a:pPr algn="ctr">
              <a:defRPr sz="900" b="0">
                <a:solidFill>
                  <a:srgbClr val="2E7D32"/>
                </a:solidFill>
                <a:latin typeface="Calibri"/>
              </a:defRPr>
            </a:pPr>
            <a:r>
              <a:t>99.4%</a:t>
            </a:r>
          </a:p>
        </p:txBody>
      </p:sp>
      <p:sp>
        <p:nvSpPr>
          <p:cNvPr id="54" name="Rectangle 53"/>
          <p:cNvSpPr/>
          <p:nvPr/>
        </p:nvSpPr>
        <p:spPr>
          <a:xfrm>
            <a:off x="548640" y="3090672"/>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48640" y="3090672"/>
            <a:ext cx="1325880" cy="256032"/>
          </a:xfrm>
          <a:prstGeom prst="rect">
            <a:avLst/>
          </a:prstGeom>
          <a:noFill/>
        </p:spPr>
        <p:txBody>
          <a:bodyPr wrap="square">
            <a:spAutoFit/>
          </a:bodyPr>
          <a:lstStyle/>
          <a:p>
            <a:pPr algn="ctr">
              <a:defRPr sz="900" b="0">
                <a:solidFill>
                  <a:srgbClr val="323232"/>
                </a:solidFill>
                <a:latin typeface="Calibri"/>
              </a:defRPr>
            </a:pPr>
            <a:r>
              <a:t>Epics &amp; Teams</a:t>
            </a:r>
          </a:p>
        </p:txBody>
      </p:sp>
      <p:sp>
        <p:nvSpPr>
          <p:cNvPr id="56" name="Rectangle 55"/>
          <p:cNvSpPr/>
          <p:nvPr/>
        </p:nvSpPr>
        <p:spPr>
          <a:xfrm>
            <a:off x="1874520" y="3090672"/>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874520" y="3090672"/>
            <a:ext cx="1325880" cy="256032"/>
          </a:xfrm>
          <a:prstGeom prst="rect">
            <a:avLst/>
          </a:prstGeom>
          <a:noFill/>
        </p:spPr>
        <p:txBody>
          <a:bodyPr wrap="square">
            <a:spAutoFit/>
          </a:bodyPr>
          <a:lstStyle/>
          <a:p>
            <a:pPr algn="ctr">
              <a:defRPr sz="900" b="0">
                <a:solidFill>
                  <a:srgbClr val="323232"/>
                </a:solidFill>
                <a:latin typeface="Calibri"/>
              </a:defRPr>
            </a:pPr>
            <a:r>
              <a:t>2-4 weeks</a:t>
            </a:r>
          </a:p>
        </p:txBody>
      </p:sp>
      <p:sp>
        <p:nvSpPr>
          <p:cNvPr id="58" name="Rectangle 57"/>
          <p:cNvSpPr/>
          <p:nvPr/>
        </p:nvSpPr>
        <p:spPr>
          <a:xfrm>
            <a:off x="3200400" y="3090672"/>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200400" y="3090672"/>
            <a:ext cx="1325880" cy="256032"/>
          </a:xfrm>
          <a:prstGeom prst="rect">
            <a:avLst/>
          </a:prstGeom>
          <a:noFill/>
        </p:spPr>
        <p:txBody>
          <a:bodyPr wrap="square">
            <a:spAutoFit/>
          </a:bodyPr>
          <a:lstStyle/>
          <a:p>
            <a:pPr algn="ctr">
              <a:defRPr sz="900" b="0">
                <a:solidFill>
                  <a:srgbClr val="323232"/>
                </a:solidFill>
                <a:latin typeface="Calibri"/>
              </a:defRPr>
            </a:pPr>
            <a:r>
              <a:t>90 sec</a:t>
            </a:r>
          </a:p>
        </p:txBody>
      </p:sp>
      <p:sp>
        <p:nvSpPr>
          <p:cNvPr id="60" name="Rectangle 59"/>
          <p:cNvSpPr/>
          <p:nvPr/>
        </p:nvSpPr>
        <p:spPr>
          <a:xfrm>
            <a:off x="4526280" y="3090672"/>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26280" y="3090672"/>
            <a:ext cx="1325880" cy="256032"/>
          </a:xfrm>
          <a:prstGeom prst="rect">
            <a:avLst/>
          </a:prstGeom>
          <a:noFill/>
        </p:spPr>
        <p:txBody>
          <a:bodyPr wrap="square">
            <a:spAutoFit/>
          </a:bodyPr>
          <a:lstStyle/>
          <a:p>
            <a:pPr algn="ctr">
              <a:defRPr sz="900" b="0">
                <a:solidFill>
                  <a:srgbClr val="2E7D32"/>
                </a:solidFill>
                <a:latin typeface="Calibri"/>
              </a:defRPr>
            </a:pPr>
            <a:r>
              <a:t>99.3%</a:t>
            </a:r>
          </a:p>
        </p:txBody>
      </p:sp>
      <p:sp>
        <p:nvSpPr>
          <p:cNvPr id="62" name="Rectangle 61"/>
          <p:cNvSpPr/>
          <p:nvPr/>
        </p:nvSpPr>
        <p:spPr>
          <a:xfrm>
            <a:off x="548640" y="3346704"/>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48640" y="3346704"/>
            <a:ext cx="1325880" cy="256032"/>
          </a:xfrm>
          <a:prstGeom prst="rect">
            <a:avLst/>
          </a:prstGeom>
          <a:noFill/>
        </p:spPr>
        <p:txBody>
          <a:bodyPr wrap="square">
            <a:spAutoFit/>
          </a:bodyPr>
          <a:lstStyle/>
          <a:p>
            <a:pPr algn="ctr">
              <a:defRPr sz="900" b="0">
                <a:solidFill>
                  <a:srgbClr val="323232"/>
                </a:solidFill>
                <a:latin typeface="Calibri"/>
              </a:defRPr>
            </a:pPr>
            <a:r>
              <a:t>Feature Backlog</a:t>
            </a:r>
          </a:p>
        </p:txBody>
      </p:sp>
      <p:sp>
        <p:nvSpPr>
          <p:cNvPr id="64" name="Rectangle 63"/>
          <p:cNvSpPr/>
          <p:nvPr/>
        </p:nvSpPr>
        <p:spPr>
          <a:xfrm>
            <a:off x="1874520" y="3346704"/>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874520" y="3346704"/>
            <a:ext cx="1325880" cy="256032"/>
          </a:xfrm>
          <a:prstGeom prst="rect">
            <a:avLst/>
          </a:prstGeom>
          <a:noFill/>
        </p:spPr>
        <p:txBody>
          <a:bodyPr wrap="square">
            <a:spAutoFit/>
          </a:bodyPr>
          <a:lstStyle/>
          <a:p>
            <a:pPr algn="ctr">
              <a:defRPr sz="900" b="0">
                <a:solidFill>
                  <a:srgbClr val="323232"/>
                </a:solidFill>
                <a:latin typeface="Calibri"/>
              </a:defRPr>
            </a:pPr>
            <a:r>
              <a:t>4-8 weeks</a:t>
            </a:r>
          </a:p>
        </p:txBody>
      </p:sp>
      <p:sp>
        <p:nvSpPr>
          <p:cNvPr id="66" name="Rectangle 65"/>
          <p:cNvSpPr/>
          <p:nvPr/>
        </p:nvSpPr>
        <p:spPr>
          <a:xfrm>
            <a:off x="3200400" y="3346704"/>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200400" y="3346704"/>
            <a:ext cx="1325880" cy="256032"/>
          </a:xfrm>
          <a:prstGeom prst="rect">
            <a:avLst/>
          </a:prstGeom>
          <a:noFill/>
        </p:spPr>
        <p:txBody>
          <a:bodyPr wrap="square">
            <a:spAutoFit/>
          </a:bodyPr>
          <a:lstStyle/>
          <a:p>
            <a:pPr algn="ctr">
              <a:defRPr sz="900" b="0">
                <a:solidFill>
                  <a:srgbClr val="323232"/>
                </a:solidFill>
                <a:latin typeface="Calibri"/>
              </a:defRPr>
            </a:pPr>
            <a:r>
              <a:t>45 sec</a:t>
            </a:r>
          </a:p>
        </p:txBody>
      </p:sp>
      <p:sp>
        <p:nvSpPr>
          <p:cNvPr id="68" name="Rectangle 67"/>
          <p:cNvSpPr/>
          <p:nvPr/>
        </p:nvSpPr>
        <p:spPr>
          <a:xfrm>
            <a:off x="4526280" y="3346704"/>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26280" y="3346704"/>
            <a:ext cx="1325880" cy="256032"/>
          </a:xfrm>
          <a:prstGeom prst="rect">
            <a:avLst/>
          </a:prstGeom>
          <a:noFill/>
        </p:spPr>
        <p:txBody>
          <a:bodyPr wrap="square">
            <a:spAutoFit/>
          </a:bodyPr>
          <a:lstStyle/>
          <a:p>
            <a:pPr algn="ctr">
              <a:defRPr sz="900" b="0">
                <a:solidFill>
                  <a:srgbClr val="2E7D32"/>
                </a:solidFill>
                <a:latin typeface="Calibri"/>
              </a:defRPr>
            </a:pPr>
            <a:r>
              <a:t>99.5%</a:t>
            </a:r>
          </a:p>
        </p:txBody>
      </p:sp>
      <p:sp>
        <p:nvSpPr>
          <p:cNvPr id="70" name="Rectangle 69"/>
          <p:cNvSpPr/>
          <p:nvPr/>
        </p:nvSpPr>
        <p:spPr>
          <a:xfrm>
            <a:off x="548640" y="3602736"/>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48640" y="3602736"/>
            <a:ext cx="1325880" cy="256032"/>
          </a:xfrm>
          <a:prstGeom prst="rect">
            <a:avLst/>
          </a:prstGeom>
          <a:noFill/>
        </p:spPr>
        <p:txBody>
          <a:bodyPr wrap="square">
            <a:spAutoFit/>
          </a:bodyPr>
          <a:lstStyle/>
          <a:p>
            <a:pPr algn="ctr">
              <a:defRPr sz="900" b="1">
                <a:solidFill>
                  <a:srgbClr val="323232"/>
                </a:solidFill>
                <a:latin typeface="Calibri"/>
              </a:defRPr>
            </a:pPr>
            <a:r>
              <a:t>TOTAL</a:t>
            </a:r>
          </a:p>
        </p:txBody>
      </p:sp>
      <p:sp>
        <p:nvSpPr>
          <p:cNvPr id="72" name="Rectangle 71"/>
          <p:cNvSpPr/>
          <p:nvPr/>
        </p:nvSpPr>
        <p:spPr>
          <a:xfrm>
            <a:off x="1874520" y="3602736"/>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874520" y="3602736"/>
            <a:ext cx="1325880" cy="256032"/>
          </a:xfrm>
          <a:prstGeom prst="rect">
            <a:avLst/>
          </a:prstGeom>
          <a:noFill/>
        </p:spPr>
        <p:txBody>
          <a:bodyPr wrap="square">
            <a:spAutoFit/>
          </a:bodyPr>
          <a:lstStyle/>
          <a:p>
            <a:pPr algn="ctr">
              <a:defRPr sz="900" b="1">
                <a:solidFill>
                  <a:srgbClr val="323232"/>
                </a:solidFill>
                <a:latin typeface="Calibri"/>
              </a:defRPr>
            </a:pPr>
            <a:r>
              <a:t>5-10 MONTHS</a:t>
            </a:r>
          </a:p>
        </p:txBody>
      </p:sp>
      <p:sp>
        <p:nvSpPr>
          <p:cNvPr id="74" name="Rectangle 73"/>
          <p:cNvSpPr/>
          <p:nvPr/>
        </p:nvSpPr>
        <p:spPr>
          <a:xfrm>
            <a:off x="3200400" y="3602736"/>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200400" y="3602736"/>
            <a:ext cx="1325880" cy="256032"/>
          </a:xfrm>
          <a:prstGeom prst="rect">
            <a:avLst/>
          </a:prstGeom>
          <a:noFill/>
        </p:spPr>
        <p:txBody>
          <a:bodyPr wrap="square">
            <a:spAutoFit/>
          </a:bodyPr>
          <a:lstStyle/>
          <a:p>
            <a:pPr algn="ctr">
              <a:defRPr sz="900" b="1">
                <a:solidFill>
                  <a:srgbClr val="323232"/>
                </a:solidFill>
                <a:latin typeface="Calibri"/>
              </a:defRPr>
            </a:pPr>
            <a:r>
              <a:t>~5 MIN</a:t>
            </a:r>
          </a:p>
        </p:txBody>
      </p:sp>
      <p:sp>
        <p:nvSpPr>
          <p:cNvPr id="76" name="Rectangle 75"/>
          <p:cNvSpPr/>
          <p:nvPr/>
        </p:nvSpPr>
        <p:spPr>
          <a:xfrm>
            <a:off x="4526280" y="3602736"/>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526280" y="3602736"/>
            <a:ext cx="1325880" cy="256032"/>
          </a:xfrm>
          <a:prstGeom prst="rect">
            <a:avLst/>
          </a:prstGeom>
          <a:noFill/>
        </p:spPr>
        <p:txBody>
          <a:bodyPr wrap="square">
            <a:spAutoFit/>
          </a:bodyPr>
          <a:lstStyle/>
          <a:p>
            <a:pPr algn="ctr">
              <a:defRPr sz="900" b="1">
                <a:solidFill>
                  <a:srgbClr val="2E7D32"/>
                </a:solidFill>
                <a:latin typeface="Calibri"/>
              </a:defRPr>
            </a:pPr>
            <a:r>
              <a:t>~99.9%</a:t>
            </a:r>
          </a:p>
        </p:txBody>
      </p:sp>
      <p:sp>
        <p:nvSpPr>
          <p:cNvPr id="78" name="TextBox 77"/>
          <p:cNvSpPr txBox="1"/>
          <p:nvPr/>
        </p:nvSpPr>
        <p:spPr>
          <a:xfrm>
            <a:off x="6217920" y="1188720"/>
            <a:ext cx="5486400" cy="274320"/>
          </a:xfrm>
          <a:prstGeom prst="rect">
            <a:avLst/>
          </a:prstGeom>
          <a:noFill/>
        </p:spPr>
        <p:txBody>
          <a:bodyPr wrap="square">
            <a:spAutoFit/>
          </a:bodyPr>
          <a:lstStyle/>
          <a:p>
            <a:pPr algn="l">
              <a:defRPr sz="1400" b="1">
                <a:solidFill>
                  <a:srgbClr val="002952"/>
                </a:solidFill>
                <a:latin typeface="Calibri"/>
              </a:defRPr>
            </a:pPr>
            <a:r>
              <a:t>Cost Savings by Phase</a:t>
            </a:r>
          </a:p>
        </p:txBody>
      </p:sp>
      <p:sp>
        <p:nvSpPr>
          <p:cNvPr id="79" name="Rectangle 78"/>
          <p:cNvSpPr/>
          <p:nvPr/>
        </p:nvSpPr>
        <p:spPr>
          <a:xfrm>
            <a:off x="6217920" y="1554480"/>
            <a:ext cx="132588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17920" y="1554480"/>
            <a:ext cx="1325880" cy="256032"/>
          </a:xfrm>
          <a:prstGeom prst="rect">
            <a:avLst/>
          </a:prstGeom>
          <a:noFill/>
        </p:spPr>
        <p:txBody>
          <a:bodyPr wrap="square">
            <a:spAutoFit/>
          </a:bodyPr>
          <a:lstStyle/>
          <a:p>
            <a:pPr algn="ctr">
              <a:defRPr sz="900" b="1">
                <a:solidFill>
                  <a:srgbClr val="FFFFFF"/>
                </a:solidFill>
                <a:latin typeface="Calibri"/>
              </a:defRPr>
            </a:pPr>
            <a:r>
              <a:t>Phase</a:t>
            </a:r>
          </a:p>
        </p:txBody>
      </p:sp>
      <p:sp>
        <p:nvSpPr>
          <p:cNvPr id="81" name="Rectangle 80"/>
          <p:cNvSpPr/>
          <p:nvPr/>
        </p:nvSpPr>
        <p:spPr>
          <a:xfrm>
            <a:off x="7543800" y="1554480"/>
            <a:ext cx="132588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543800" y="1554480"/>
            <a:ext cx="1325880" cy="256032"/>
          </a:xfrm>
          <a:prstGeom prst="rect">
            <a:avLst/>
          </a:prstGeom>
          <a:noFill/>
        </p:spPr>
        <p:txBody>
          <a:bodyPr wrap="square">
            <a:spAutoFit/>
          </a:bodyPr>
          <a:lstStyle/>
          <a:p>
            <a:pPr algn="ctr">
              <a:defRPr sz="900" b="1">
                <a:solidFill>
                  <a:srgbClr val="FFFFFF"/>
                </a:solidFill>
                <a:latin typeface="Calibri"/>
              </a:defRPr>
            </a:pPr>
            <a:r>
              <a:t>Traditional</a:t>
            </a:r>
          </a:p>
        </p:txBody>
      </p:sp>
      <p:sp>
        <p:nvSpPr>
          <p:cNvPr id="83" name="Rectangle 82"/>
          <p:cNvSpPr/>
          <p:nvPr/>
        </p:nvSpPr>
        <p:spPr>
          <a:xfrm>
            <a:off x="8869680" y="1554480"/>
            <a:ext cx="132588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869680" y="1554480"/>
            <a:ext cx="1325880" cy="256032"/>
          </a:xfrm>
          <a:prstGeom prst="rect">
            <a:avLst/>
          </a:prstGeom>
          <a:noFill/>
        </p:spPr>
        <p:txBody>
          <a:bodyPr wrap="square">
            <a:spAutoFit/>
          </a:bodyPr>
          <a:lstStyle/>
          <a:p>
            <a:pPr algn="ctr">
              <a:defRPr sz="900" b="1">
                <a:solidFill>
                  <a:srgbClr val="FFFFFF"/>
                </a:solidFill>
                <a:latin typeface="Calibri"/>
              </a:defRPr>
            </a:pPr>
            <a:r>
              <a:t>BTA</a:t>
            </a:r>
          </a:p>
        </p:txBody>
      </p:sp>
      <p:sp>
        <p:nvSpPr>
          <p:cNvPr id="85" name="Rectangle 84"/>
          <p:cNvSpPr/>
          <p:nvPr/>
        </p:nvSpPr>
        <p:spPr>
          <a:xfrm>
            <a:off x="10195560" y="1554480"/>
            <a:ext cx="132588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195560" y="1554480"/>
            <a:ext cx="1325880" cy="256032"/>
          </a:xfrm>
          <a:prstGeom prst="rect">
            <a:avLst/>
          </a:prstGeom>
          <a:noFill/>
        </p:spPr>
        <p:txBody>
          <a:bodyPr wrap="square">
            <a:spAutoFit/>
          </a:bodyPr>
          <a:lstStyle/>
          <a:p>
            <a:pPr algn="ctr">
              <a:defRPr sz="900" b="1">
                <a:solidFill>
                  <a:srgbClr val="FFFFFF"/>
                </a:solidFill>
                <a:latin typeface="Calibri"/>
              </a:defRPr>
            </a:pPr>
            <a:r>
              <a:t>Saved</a:t>
            </a:r>
          </a:p>
        </p:txBody>
      </p:sp>
      <p:sp>
        <p:nvSpPr>
          <p:cNvPr id="87" name="Rectangle 86"/>
          <p:cNvSpPr/>
          <p:nvPr/>
        </p:nvSpPr>
        <p:spPr>
          <a:xfrm>
            <a:off x="6217920" y="1810512"/>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217920" y="1810512"/>
            <a:ext cx="1325880" cy="256032"/>
          </a:xfrm>
          <a:prstGeom prst="rect">
            <a:avLst/>
          </a:prstGeom>
          <a:noFill/>
        </p:spPr>
        <p:txBody>
          <a:bodyPr wrap="square">
            <a:spAutoFit/>
          </a:bodyPr>
          <a:lstStyle/>
          <a:p>
            <a:pPr algn="ctr">
              <a:defRPr sz="900" b="0">
                <a:solidFill>
                  <a:srgbClr val="323232"/>
                </a:solidFill>
                <a:latin typeface="Calibri"/>
              </a:defRPr>
            </a:pPr>
            <a:r>
              <a:t>Market Analysis</a:t>
            </a:r>
          </a:p>
        </p:txBody>
      </p:sp>
      <p:sp>
        <p:nvSpPr>
          <p:cNvPr id="89" name="Rectangle 88"/>
          <p:cNvSpPr/>
          <p:nvPr/>
        </p:nvSpPr>
        <p:spPr>
          <a:xfrm>
            <a:off x="7543800" y="1810512"/>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543800" y="1810512"/>
            <a:ext cx="1325880" cy="256032"/>
          </a:xfrm>
          <a:prstGeom prst="rect">
            <a:avLst/>
          </a:prstGeom>
          <a:noFill/>
        </p:spPr>
        <p:txBody>
          <a:bodyPr wrap="square">
            <a:spAutoFit/>
          </a:bodyPr>
          <a:lstStyle/>
          <a:p>
            <a:pPr algn="ctr">
              <a:defRPr sz="900" b="0">
                <a:solidFill>
                  <a:srgbClr val="323232"/>
                </a:solidFill>
                <a:latin typeface="Calibri"/>
              </a:defRPr>
            </a:pPr>
            <a:r>
              <a:t>$15K-50K</a:t>
            </a:r>
          </a:p>
        </p:txBody>
      </p:sp>
      <p:sp>
        <p:nvSpPr>
          <p:cNvPr id="91" name="Rectangle 90"/>
          <p:cNvSpPr/>
          <p:nvPr/>
        </p:nvSpPr>
        <p:spPr>
          <a:xfrm>
            <a:off x="8869680" y="1810512"/>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869680" y="1810512"/>
            <a:ext cx="1325880" cy="256032"/>
          </a:xfrm>
          <a:prstGeom prst="rect">
            <a:avLst/>
          </a:prstGeom>
          <a:noFill/>
        </p:spPr>
        <p:txBody>
          <a:bodyPr wrap="square">
            <a:spAutoFit/>
          </a:bodyPr>
          <a:lstStyle/>
          <a:p>
            <a:pPr algn="ctr">
              <a:defRPr sz="900" b="0">
                <a:solidFill>
                  <a:srgbClr val="323232"/>
                </a:solidFill>
                <a:latin typeface="Calibri"/>
              </a:defRPr>
            </a:pPr>
            <a:r>
              <a:t>$0.02</a:t>
            </a:r>
          </a:p>
        </p:txBody>
      </p:sp>
      <p:sp>
        <p:nvSpPr>
          <p:cNvPr id="93" name="Rectangle 92"/>
          <p:cNvSpPr/>
          <p:nvPr/>
        </p:nvSpPr>
        <p:spPr>
          <a:xfrm>
            <a:off x="10195560" y="1810512"/>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195560" y="1810512"/>
            <a:ext cx="1325880" cy="256032"/>
          </a:xfrm>
          <a:prstGeom prst="rect">
            <a:avLst/>
          </a:prstGeom>
          <a:noFill/>
        </p:spPr>
        <p:txBody>
          <a:bodyPr wrap="square">
            <a:spAutoFit/>
          </a:bodyPr>
          <a:lstStyle/>
          <a:p>
            <a:pPr algn="ctr">
              <a:defRPr sz="900" b="0">
                <a:solidFill>
                  <a:srgbClr val="2E7D32"/>
                </a:solidFill>
                <a:latin typeface="Calibri"/>
              </a:defRPr>
            </a:pPr>
            <a:r>
              <a:t>99.99%</a:t>
            </a:r>
          </a:p>
        </p:txBody>
      </p:sp>
      <p:sp>
        <p:nvSpPr>
          <p:cNvPr id="95" name="Rectangle 94"/>
          <p:cNvSpPr/>
          <p:nvPr/>
        </p:nvSpPr>
        <p:spPr>
          <a:xfrm>
            <a:off x="6217920" y="2066544"/>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217920" y="2066544"/>
            <a:ext cx="1325880" cy="256032"/>
          </a:xfrm>
          <a:prstGeom prst="rect">
            <a:avLst/>
          </a:prstGeom>
          <a:noFill/>
        </p:spPr>
        <p:txBody>
          <a:bodyPr wrap="square">
            <a:spAutoFit/>
          </a:bodyPr>
          <a:lstStyle/>
          <a:p>
            <a:pPr algn="ctr">
              <a:defRPr sz="900" b="0">
                <a:solidFill>
                  <a:srgbClr val="323232"/>
                </a:solidFill>
                <a:latin typeface="Calibri"/>
              </a:defRPr>
            </a:pPr>
            <a:r>
              <a:t>Value Streams</a:t>
            </a:r>
          </a:p>
        </p:txBody>
      </p:sp>
      <p:sp>
        <p:nvSpPr>
          <p:cNvPr id="97" name="Rectangle 96"/>
          <p:cNvSpPr/>
          <p:nvPr/>
        </p:nvSpPr>
        <p:spPr>
          <a:xfrm>
            <a:off x="7543800" y="2066544"/>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7543800" y="2066544"/>
            <a:ext cx="1325880" cy="256032"/>
          </a:xfrm>
          <a:prstGeom prst="rect">
            <a:avLst/>
          </a:prstGeom>
          <a:noFill/>
        </p:spPr>
        <p:txBody>
          <a:bodyPr wrap="square">
            <a:spAutoFit/>
          </a:bodyPr>
          <a:lstStyle/>
          <a:p>
            <a:pPr algn="ctr">
              <a:defRPr sz="900" b="0">
                <a:solidFill>
                  <a:srgbClr val="323232"/>
                </a:solidFill>
                <a:latin typeface="Calibri"/>
              </a:defRPr>
            </a:pPr>
            <a:r>
              <a:t>$20K-80K</a:t>
            </a:r>
          </a:p>
        </p:txBody>
      </p:sp>
      <p:sp>
        <p:nvSpPr>
          <p:cNvPr id="99" name="Rectangle 98"/>
          <p:cNvSpPr/>
          <p:nvPr/>
        </p:nvSpPr>
        <p:spPr>
          <a:xfrm>
            <a:off x="8869680" y="2066544"/>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869680" y="2066544"/>
            <a:ext cx="1325880" cy="256032"/>
          </a:xfrm>
          <a:prstGeom prst="rect">
            <a:avLst/>
          </a:prstGeom>
          <a:noFill/>
        </p:spPr>
        <p:txBody>
          <a:bodyPr wrap="square">
            <a:spAutoFit/>
          </a:bodyPr>
          <a:lstStyle/>
          <a:p>
            <a:pPr algn="ctr">
              <a:defRPr sz="900" b="0">
                <a:solidFill>
                  <a:srgbClr val="323232"/>
                </a:solidFill>
                <a:latin typeface="Calibri"/>
              </a:defRPr>
            </a:pPr>
            <a:r>
              <a:t>$0.05</a:t>
            </a:r>
          </a:p>
        </p:txBody>
      </p:sp>
      <p:sp>
        <p:nvSpPr>
          <p:cNvPr id="101" name="Rectangle 100"/>
          <p:cNvSpPr/>
          <p:nvPr/>
        </p:nvSpPr>
        <p:spPr>
          <a:xfrm>
            <a:off x="10195560" y="2066544"/>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195560" y="2066544"/>
            <a:ext cx="1325880" cy="256032"/>
          </a:xfrm>
          <a:prstGeom prst="rect">
            <a:avLst/>
          </a:prstGeom>
          <a:noFill/>
        </p:spPr>
        <p:txBody>
          <a:bodyPr wrap="square">
            <a:spAutoFit/>
          </a:bodyPr>
          <a:lstStyle/>
          <a:p>
            <a:pPr algn="ctr">
              <a:defRPr sz="900" b="0">
                <a:solidFill>
                  <a:srgbClr val="2E7D32"/>
                </a:solidFill>
                <a:latin typeface="Calibri"/>
              </a:defRPr>
            </a:pPr>
            <a:r>
              <a:t>99.99%</a:t>
            </a:r>
          </a:p>
        </p:txBody>
      </p:sp>
      <p:sp>
        <p:nvSpPr>
          <p:cNvPr id="103" name="Rectangle 102"/>
          <p:cNvSpPr/>
          <p:nvPr/>
        </p:nvSpPr>
        <p:spPr>
          <a:xfrm>
            <a:off x="6217920" y="2322576"/>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6217920" y="2322576"/>
            <a:ext cx="1325880" cy="256032"/>
          </a:xfrm>
          <a:prstGeom prst="rect">
            <a:avLst/>
          </a:prstGeom>
          <a:noFill/>
        </p:spPr>
        <p:txBody>
          <a:bodyPr wrap="square">
            <a:spAutoFit/>
          </a:bodyPr>
          <a:lstStyle/>
          <a:p>
            <a:pPr algn="ctr">
              <a:defRPr sz="900" b="0">
                <a:solidFill>
                  <a:srgbClr val="323232"/>
                </a:solidFill>
                <a:latin typeface="Calibri"/>
              </a:defRPr>
            </a:pPr>
            <a:r>
              <a:t>SWOT Facilitation</a:t>
            </a:r>
          </a:p>
        </p:txBody>
      </p:sp>
      <p:sp>
        <p:nvSpPr>
          <p:cNvPr id="105" name="Rectangle 104"/>
          <p:cNvSpPr/>
          <p:nvPr/>
        </p:nvSpPr>
        <p:spPr>
          <a:xfrm>
            <a:off x="7543800" y="2322576"/>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7543800" y="2322576"/>
            <a:ext cx="1325880" cy="256032"/>
          </a:xfrm>
          <a:prstGeom prst="rect">
            <a:avLst/>
          </a:prstGeom>
          <a:noFill/>
        </p:spPr>
        <p:txBody>
          <a:bodyPr wrap="square">
            <a:spAutoFit/>
          </a:bodyPr>
          <a:lstStyle/>
          <a:p>
            <a:pPr algn="ctr">
              <a:defRPr sz="900" b="0">
                <a:solidFill>
                  <a:srgbClr val="323232"/>
                </a:solidFill>
                <a:latin typeface="Calibri"/>
              </a:defRPr>
            </a:pPr>
            <a:r>
              <a:t>$10K-30K</a:t>
            </a:r>
          </a:p>
        </p:txBody>
      </p:sp>
      <p:sp>
        <p:nvSpPr>
          <p:cNvPr id="107" name="Rectangle 106"/>
          <p:cNvSpPr/>
          <p:nvPr/>
        </p:nvSpPr>
        <p:spPr>
          <a:xfrm>
            <a:off x="8869680" y="2322576"/>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869680" y="2322576"/>
            <a:ext cx="1325880" cy="256032"/>
          </a:xfrm>
          <a:prstGeom prst="rect">
            <a:avLst/>
          </a:prstGeom>
          <a:noFill/>
        </p:spPr>
        <p:txBody>
          <a:bodyPr wrap="square">
            <a:spAutoFit/>
          </a:bodyPr>
          <a:lstStyle/>
          <a:p>
            <a:pPr algn="ctr">
              <a:defRPr sz="900" b="0">
                <a:solidFill>
                  <a:srgbClr val="323232"/>
                </a:solidFill>
                <a:latin typeface="Calibri"/>
              </a:defRPr>
            </a:pPr>
            <a:r>
              <a:t>$0.02</a:t>
            </a:r>
          </a:p>
        </p:txBody>
      </p:sp>
      <p:sp>
        <p:nvSpPr>
          <p:cNvPr id="109" name="Rectangle 108"/>
          <p:cNvSpPr/>
          <p:nvPr/>
        </p:nvSpPr>
        <p:spPr>
          <a:xfrm>
            <a:off x="10195560" y="2322576"/>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0195560" y="2322576"/>
            <a:ext cx="1325880" cy="256032"/>
          </a:xfrm>
          <a:prstGeom prst="rect">
            <a:avLst/>
          </a:prstGeom>
          <a:noFill/>
        </p:spPr>
        <p:txBody>
          <a:bodyPr wrap="square">
            <a:spAutoFit/>
          </a:bodyPr>
          <a:lstStyle/>
          <a:p>
            <a:pPr algn="ctr">
              <a:defRPr sz="900" b="0">
                <a:solidFill>
                  <a:srgbClr val="2E7D32"/>
                </a:solidFill>
                <a:latin typeface="Calibri"/>
              </a:defRPr>
            </a:pPr>
            <a:r>
              <a:t>99.99%</a:t>
            </a:r>
          </a:p>
        </p:txBody>
      </p:sp>
      <p:sp>
        <p:nvSpPr>
          <p:cNvPr id="111" name="Rectangle 110"/>
          <p:cNvSpPr/>
          <p:nvPr/>
        </p:nvSpPr>
        <p:spPr>
          <a:xfrm>
            <a:off x="6217920" y="2578608"/>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6217920" y="2578608"/>
            <a:ext cx="1325880" cy="256032"/>
          </a:xfrm>
          <a:prstGeom prst="rect">
            <a:avLst/>
          </a:prstGeom>
          <a:noFill/>
        </p:spPr>
        <p:txBody>
          <a:bodyPr wrap="square">
            <a:spAutoFit/>
          </a:bodyPr>
          <a:lstStyle/>
          <a:p>
            <a:pPr algn="ctr">
              <a:defRPr sz="900" b="0">
                <a:solidFill>
                  <a:srgbClr val="323232"/>
                </a:solidFill>
                <a:latin typeface="Calibri"/>
              </a:defRPr>
            </a:pPr>
            <a:r>
              <a:t>Strategy Consulting</a:t>
            </a:r>
          </a:p>
        </p:txBody>
      </p:sp>
      <p:sp>
        <p:nvSpPr>
          <p:cNvPr id="113" name="Rectangle 112"/>
          <p:cNvSpPr/>
          <p:nvPr/>
        </p:nvSpPr>
        <p:spPr>
          <a:xfrm>
            <a:off x="7543800" y="2578608"/>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543800" y="2578608"/>
            <a:ext cx="1325880" cy="256032"/>
          </a:xfrm>
          <a:prstGeom prst="rect">
            <a:avLst/>
          </a:prstGeom>
          <a:noFill/>
        </p:spPr>
        <p:txBody>
          <a:bodyPr wrap="square">
            <a:spAutoFit/>
          </a:bodyPr>
          <a:lstStyle/>
          <a:p>
            <a:pPr algn="ctr">
              <a:defRPr sz="900" b="0">
                <a:solidFill>
                  <a:srgbClr val="323232"/>
                </a:solidFill>
                <a:latin typeface="Calibri"/>
              </a:defRPr>
            </a:pPr>
            <a:r>
              <a:t>$50K-200K</a:t>
            </a:r>
          </a:p>
        </p:txBody>
      </p:sp>
      <p:sp>
        <p:nvSpPr>
          <p:cNvPr id="115" name="Rectangle 114"/>
          <p:cNvSpPr/>
          <p:nvPr/>
        </p:nvSpPr>
        <p:spPr>
          <a:xfrm>
            <a:off x="8869680" y="2578608"/>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8869680" y="2578608"/>
            <a:ext cx="1325880" cy="256032"/>
          </a:xfrm>
          <a:prstGeom prst="rect">
            <a:avLst/>
          </a:prstGeom>
          <a:noFill/>
        </p:spPr>
        <p:txBody>
          <a:bodyPr wrap="square">
            <a:spAutoFit/>
          </a:bodyPr>
          <a:lstStyle/>
          <a:p>
            <a:pPr algn="ctr">
              <a:defRPr sz="900" b="0">
                <a:solidFill>
                  <a:srgbClr val="323232"/>
                </a:solidFill>
                <a:latin typeface="Calibri"/>
              </a:defRPr>
            </a:pPr>
            <a:r>
              <a:t>$0.05</a:t>
            </a:r>
          </a:p>
        </p:txBody>
      </p:sp>
      <p:sp>
        <p:nvSpPr>
          <p:cNvPr id="117" name="Rectangle 116"/>
          <p:cNvSpPr/>
          <p:nvPr/>
        </p:nvSpPr>
        <p:spPr>
          <a:xfrm>
            <a:off x="10195560" y="2578608"/>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0195560" y="2578608"/>
            <a:ext cx="1325880" cy="256032"/>
          </a:xfrm>
          <a:prstGeom prst="rect">
            <a:avLst/>
          </a:prstGeom>
          <a:noFill/>
        </p:spPr>
        <p:txBody>
          <a:bodyPr wrap="square">
            <a:spAutoFit/>
          </a:bodyPr>
          <a:lstStyle/>
          <a:p>
            <a:pPr algn="ctr">
              <a:defRPr sz="900" b="0">
                <a:solidFill>
                  <a:srgbClr val="2E7D32"/>
                </a:solidFill>
                <a:latin typeface="Calibri"/>
              </a:defRPr>
            </a:pPr>
            <a:r>
              <a:t>99.99%</a:t>
            </a:r>
          </a:p>
        </p:txBody>
      </p:sp>
      <p:sp>
        <p:nvSpPr>
          <p:cNvPr id="119" name="Rectangle 118"/>
          <p:cNvSpPr/>
          <p:nvPr/>
        </p:nvSpPr>
        <p:spPr>
          <a:xfrm>
            <a:off x="6217920" y="2834640"/>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6217920" y="2834640"/>
            <a:ext cx="1325880" cy="256032"/>
          </a:xfrm>
          <a:prstGeom prst="rect">
            <a:avLst/>
          </a:prstGeom>
          <a:noFill/>
        </p:spPr>
        <p:txBody>
          <a:bodyPr wrap="square">
            <a:spAutoFit/>
          </a:bodyPr>
          <a:lstStyle/>
          <a:p>
            <a:pPr algn="ctr">
              <a:defRPr sz="900" b="0">
                <a:solidFill>
                  <a:srgbClr val="323232"/>
                </a:solidFill>
                <a:latin typeface="Calibri"/>
              </a:defRPr>
            </a:pPr>
            <a:r>
              <a:t>Product Strategy</a:t>
            </a:r>
          </a:p>
        </p:txBody>
      </p:sp>
      <p:sp>
        <p:nvSpPr>
          <p:cNvPr id="121" name="Rectangle 120"/>
          <p:cNvSpPr/>
          <p:nvPr/>
        </p:nvSpPr>
        <p:spPr>
          <a:xfrm>
            <a:off x="7543800" y="2834640"/>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7543800" y="2834640"/>
            <a:ext cx="1325880" cy="256032"/>
          </a:xfrm>
          <a:prstGeom prst="rect">
            <a:avLst/>
          </a:prstGeom>
          <a:noFill/>
        </p:spPr>
        <p:txBody>
          <a:bodyPr wrap="square">
            <a:spAutoFit/>
          </a:bodyPr>
          <a:lstStyle/>
          <a:p>
            <a:pPr algn="ctr">
              <a:defRPr sz="900" b="0">
                <a:solidFill>
                  <a:srgbClr val="323232"/>
                </a:solidFill>
                <a:latin typeface="Calibri"/>
              </a:defRPr>
            </a:pPr>
            <a:r>
              <a:t>$15K-40K</a:t>
            </a:r>
          </a:p>
        </p:txBody>
      </p:sp>
      <p:sp>
        <p:nvSpPr>
          <p:cNvPr id="123" name="Rectangle 122"/>
          <p:cNvSpPr/>
          <p:nvPr/>
        </p:nvSpPr>
        <p:spPr>
          <a:xfrm>
            <a:off x="8869680" y="2834640"/>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869680" y="2834640"/>
            <a:ext cx="1325880" cy="256032"/>
          </a:xfrm>
          <a:prstGeom prst="rect">
            <a:avLst/>
          </a:prstGeom>
          <a:noFill/>
        </p:spPr>
        <p:txBody>
          <a:bodyPr wrap="square">
            <a:spAutoFit/>
          </a:bodyPr>
          <a:lstStyle/>
          <a:p>
            <a:pPr algn="ctr">
              <a:defRPr sz="900" b="0">
                <a:solidFill>
                  <a:srgbClr val="323232"/>
                </a:solidFill>
                <a:latin typeface="Calibri"/>
              </a:defRPr>
            </a:pPr>
            <a:r>
              <a:t>$0.03</a:t>
            </a:r>
          </a:p>
        </p:txBody>
      </p:sp>
      <p:sp>
        <p:nvSpPr>
          <p:cNvPr id="125" name="Rectangle 124"/>
          <p:cNvSpPr/>
          <p:nvPr/>
        </p:nvSpPr>
        <p:spPr>
          <a:xfrm>
            <a:off x="10195560" y="2834640"/>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0195560" y="2834640"/>
            <a:ext cx="1325880" cy="256032"/>
          </a:xfrm>
          <a:prstGeom prst="rect">
            <a:avLst/>
          </a:prstGeom>
          <a:noFill/>
        </p:spPr>
        <p:txBody>
          <a:bodyPr wrap="square">
            <a:spAutoFit/>
          </a:bodyPr>
          <a:lstStyle/>
          <a:p>
            <a:pPr algn="ctr">
              <a:defRPr sz="900" b="0">
                <a:solidFill>
                  <a:srgbClr val="2E7D32"/>
                </a:solidFill>
                <a:latin typeface="Calibri"/>
              </a:defRPr>
            </a:pPr>
            <a:r>
              <a:t>99.99%</a:t>
            </a:r>
          </a:p>
        </p:txBody>
      </p:sp>
      <p:sp>
        <p:nvSpPr>
          <p:cNvPr id="127" name="Rectangle 126"/>
          <p:cNvSpPr/>
          <p:nvPr/>
        </p:nvSpPr>
        <p:spPr>
          <a:xfrm>
            <a:off x="6217920" y="3090672"/>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6217920" y="3090672"/>
            <a:ext cx="1325880" cy="256032"/>
          </a:xfrm>
          <a:prstGeom prst="rect">
            <a:avLst/>
          </a:prstGeom>
          <a:noFill/>
        </p:spPr>
        <p:txBody>
          <a:bodyPr wrap="square">
            <a:spAutoFit/>
          </a:bodyPr>
          <a:lstStyle/>
          <a:p>
            <a:pPr algn="ctr">
              <a:defRPr sz="900" b="0">
                <a:solidFill>
                  <a:srgbClr val="323232"/>
                </a:solidFill>
                <a:latin typeface="Calibri"/>
              </a:defRPr>
            </a:pPr>
            <a:r>
              <a:t>Agile Transformation</a:t>
            </a:r>
          </a:p>
        </p:txBody>
      </p:sp>
      <p:sp>
        <p:nvSpPr>
          <p:cNvPr id="129" name="Rectangle 128"/>
          <p:cNvSpPr/>
          <p:nvPr/>
        </p:nvSpPr>
        <p:spPr>
          <a:xfrm>
            <a:off x="7543800" y="3090672"/>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543800" y="3090672"/>
            <a:ext cx="1325880" cy="256032"/>
          </a:xfrm>
          <a:prstGeom prst="rect">
            <a:avLst/>
          </a:prstGeom>
          <a:noFill/>
        </p:spPr>
        <p:txBody>
          <a:bodyPr wrap="square">
            <a:spAutoFit/>
          </a:bodyPr>
          <a:lstStyle/>
          <a:p>
            <a:pPr algn="ctr">
              <a:defRPr sz="900" b="0">
                <a:solidFill>
                  <a:srgbClr val="323232"/>
                </a:solidFill>
                <a:latin typeface="Calibri"/>
              </a:defRPr>
            </a:pPr>
            <a:r>
              <a:t>$20K-60K</a:t>
            </a:r>
          </a:p>
        </p:txBody>
      </p:sp>
      <p:sp>
        <p:nvSpPr>
          <p:cNvPr id="131" name="Rectangle 130"/>
          <p:cNvSpPr/>
          <p:nvPr/>
        </p:nvSpPr>
        <p:spPr>
          <a:xfrm>
            <a:off x="8869680" y="3090672"/>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8869680" y="3090672"/>
            <a:ext cx="1325880" cy="256032"/>
          </a:xfrm>
          <a:prstGeom prst="rect">
            <a:avLst/>
          </a:prstGeom>
          <a:noFill/>
        </p:spPr>
        <p:txBody>
          <a:bodyPr wrap="square">
            <a:spAutoFit/>
          </a:bodyPr>
          <a:lstStyle/>
          <a:p>
            <a:pPr algn="ctr">
              <a:defRPr sz="900" b="0">
                <a:solidFill>
                  <a:srgbClr val="323232"/>
                </a:solidFill>
                <a:latin typeface="Calibri"/>
              </a:defRPr>
            </a:pPr>
            <a:r>
              <a:t>$0.04</a:t>
            </a:r>
          </a:p>
        </p:txBody>
      </p:sp>
      <p:sp>
        <p:nvSpPr>
          <p:cNvPr id="133" name="Rectangle 132"/>
          <p:cNvSpPr/>
          <p:nvPr/>
        </p:nvSpPr>
        <p:spPr>
          <a:xfrm>
            <a:off x="10195560" y="3090672"/>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10195560" y="3090672"/>
            <a:ext cx="1325880" cy="256032"/>
          </a:xfrm>
          <a:prstGeom prst="rect">
            <a:avLst/>
          </a:prstGeom>
          <a:noFill/>
        </p:spPr>
        <p:txBody>
          <a:bodyPr wrap="square">
            <a:spAutoFit/>
          </a:bodyPr>
          <a:lstStyle/>
          <a:p>
            <a:pPr algn="ctr">
              <a:defRPr sz="900" b="0">
                <a:solidFill>
                  <a:srgbClr val="2E7D32"/>
                </a:solidFill>
                <a:latin typeface="Calibri"/>
              </a:defRPr>
            </a:pPr>
            <a:r>
              <a:t>99.99%</a:t>
            </a:r>
          </a:p>
        </p:txBody>
      </p:sp>
      <p:sp>
        <p:nvSpPr>
          <p:cNvPr id="135" name="Rectangle 134"/>
          <p:cNvSpPr/>
          <p:nvPr/>
        </p:nvSpPr>
        <p:spPr>
          <a:xfrm>
            <a:off x="6217920" y="3346704"/>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6217920" y="3346704"/>
            <a:ext cx="1325880" cy="256032"/>
          </a:xfrm>
          <a:prstGeom prst="rect">
            <a:avLst/>
          </a:prstGeom>
          <a:noFill/>
        </p:spPr>
        <p:txBody>
          <a:bodyPr wrap="square">
            <a:spAutoFit/>
          </a:bodyPr>
          <a:lstStyle/>
          <a:p>
            <a:pPr algn="ctr">
              <a:defRPr sz="900" b="0">
                <a:solidFill>
                  <a:srgbClr val="323232"/>
                </a:solidFill>
                <a:latin typeface="Calibri"/>
              </a:defRPr>
            </a:pPr>
            <a:r>
              <a:t>Backlog Creation</a:t>
            </a:r>
          </a:p>
        </p:txBody>
      </p:sp>
      <p:sp>
        <p:nvSpPr>
          <p:cNvPr id="137" name="Rectangle 136"/>
          <p:cNvSpPr/>
          <p:nvPr/>
        </p:nvSpPr>
        <p:spPr>
          <a:xfrm>
            <a:off x="7543800" y="3346704"/>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7543800" y="3346704"/>
            <a:ext cx="1325880" cy="256032"/>
          </a:xfrm>
          <a:prstGeom prst="rect">
            <a:avLst/>
          </a:prstGeom>
          <a:noFill/>
        </p:spPr>
        <p:txBody>
          <a:bodyPr wrap="square">
            <a:spAutoFit/>
          </a:bodyPr>
          <a:lstStyle/>
          <a:p>
            <a:pPr algn="ctr">
              <a:defRPr sz="900" b="0">
                <a:solidFill>
                  <a:srgbClr val="323232"/>
                </a:solidFill>
                <a:latin typeface="Calibri"/>
              </a:defRPr>
            </a:pPr>
            <a:r>
              <a:t>$30K-80K</a:t>
            </a:r>
          </a:p>
        </p:txBody>
      </p:sp>
      <p:sp>
        <p:nvSpPr>
          <p:cNvPr id="139" name="Rectangle 138"/>
          <p:cNvSpPr/>
          <p:nvPr/>
        </p:nvSpPr>
        <p:spPr>
          <a:xfrm>
            <a:off x="8869680" y="3346704"/>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8869680" y="3346704"/>
            <a:ext cx="1325880" cy="256032"/>
          </a:xfrm>
          <a:prstGeom prst="rect">
            <a:avLst/>
          </a:prstGeom>
          <a:noFill/>
        </p:spPr>
        <p:txBody>
          <a:bodyPr wrap="square">
            <a:spAutoFit/>
          </a:bodyPr>
          <a:lstStyle/>
          <a:p>
            <a:pPr algn="ctr">
              <a:defRPr sz="900" b="0">
                <a:solidFill>
                  <a:srgbClr val="323232"/>
                </a:solidFill>
                <a:latin typeface="Calibri"/>
              </a:defRPr>
            </a:pPr>
            <a:r>
              <a:t>$0.03</a:t>
            </a:r>
          </a:p>
        </p:txBody>
      </p:sp>
      <p:sp>
        <p:nvSpPr>
          <p:cNvPr id="141" name="Rectangle 140"/>
          <p:cNvSpPr/>
          <p:nvPr/>
        </p:nvSpPr>
        <p:spPr>
          <a:xfrm>
            <a:off x="10195560" y="3346704"/>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10195560" y="3346704"/>
            <a:ext cx="1325880" cy="256032"/>
          </a:xfrm>
          <a:prstGeom prst="rect">
            <a:avLst/>
          </a:prstGeom>
          <a:noFill/>
        </p:spPr>
        <p:txBody>
          <a:bodyPr wrap="square">
            <a:spAutoFit/>
          </a:bodyPr>
          <a:lstStyle/>
          <a:p>
            <a:pPr algn="ctr">
              <a:defRPr sz="900" b="0">
                <a:solidFill>
                  <a:srgbClr val="2E7D32"/>
                </a:solidFill>
                <a:latin typeface="Calibri"/>
              </a:defRPr>
            </a:pPr>
            <a:r>
              <a:t>99.99%</a:t>
            </a:r>
          </a:p>
        </p:txBody>
      </p:sp>
      <p:sp>
        <p:nvSpPr>
          <p:cNvPr id="143" name="Rectangle 142"/>
          <p:cNvSpPr/>
          <p:nvPr/>
        </p:nvSpPr>
        <p:spPr>
          <a:xfrm>
            <a:off x="6217920" y="3602736"/>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6217920" y="3602736"/>
            <a:ext cx="1325880" cy="256032"/>
          </a:xfrm>
          <a:prstGeom prst="rect">
            <a:avLst/>
          </a:prstGeom>
          <a:noFill/>
        </p:spPr>
        <p:txBody>
          <a:bodyPr wrap="square">
            <a:spAutoFit/>
          </a:bodyPr>
          <a:lstStyle/>
          <a:p>
            <a:pPr algn="ctr">
              <a:defRPr sz="900" b="1">
                <a:solidFill>
                  <a:srgbClr val="323232"/>
                </a:solidFill>
                <a:latin typeface="Calibri"/>
              </a:defRPr>
            </a:pPr>
            <a:r>
              <a:t>TOTAL</a:t>
            </a:r>
          </a:p>
        </p:txBody>
      </p:sp>
      <p:sp>
        <p:nvSpPr>
          <p:cNvPr id="145" name="Rectangle 144"/>
          <p:cNvSpPr/>
          <p:nvPr/>
        </p:nvSpPr>
        <p:spPr>
          <a:xfrm>
            <a:off x="7543800" y="3602736"/>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7543800" y="3602736"/>
            <a:ext cx="1325880" cy="256032"/>
          </a:xfrm>
          <a:prstGeom prst="rect">
            <a:avLst/>
          </a:prstGeom>
          <a:noFill/>
        </p:spPr>
        <p:txBody>
          <a:bodyPr wrap="square">
            <a:spAutoFit/>
          </a:bodyPr>
          <a:lstStyle/>
          <a:p>
            <a:pPr algn="ctr">
              <a:defRPr sz="900" b="1">
                <a:solidFill>
                  <a:srgbClr val="323232"/>
                </a:solidFill>
                <a:latin typeface="Calibri"/>
              </a:defRPr>
            </a:pPr>
            <a:r>
              <a:t>$160K-540K</a:t>
            </a:r>
          </a:p>
        </p:txBody>
      </p:sp>
      <p:sp>
        <p:nvSpPr>
          <p:cNvPr id="147" name="Rectangle 146"/>
          <p:cNvSpPr/>
          <p:nvPr/>
        </p:nvSpPr>
        <p:spPr>
          <a:xfrm>
            <a:off x="8869680" y="3602736"/>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8869680" y="3602736"/>
            <a:ext cx="1325880" cy="256032"/>
          </a:xfrm>
          <a:prstGeom prst="rect">
            <a:avLst/>
          </a:prstGeom>
          <a:noFill/>
        </p:spPr>
        <p:txBody>
          <a:bodyPr wrap="square">
            <a:spAutoFit/>
          </a:bodyPr>
          <a:lstStyle/>
          <a:p>
            <a:pPr algn="ctr">
              <a:defRPr sz="900" b="1">
                <a:solidFill>
                  <a:srgbClr val="323232"/>
                </a:solidFill>
                <a:latin typeface="Calibri"/>
              </a:defRPr>
            </a:pPr>
            <a:r>
              <a:t>$0.10-0.24</a:t>
            </a:r>
          </a:p>
        </p:txBody>
      </p:sp>
      <p:sp>
        <p:nvSpPr>
          <p:cNvPr id="149" name="Rectangle 148"/>
          <p:cNvSpPr/>
          <p:nvPr/>
        </p:nvSpPr>
        <p:spPr>
          <a:xfrm>
            <a:off x="10195560" y="3602736"/>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0195560" y="3602736"/>
            <a:ext cx="1325880" cy="256032"/>
          </a:xfrm>
          <a:prstGeom prst="rect">
            <a:avLst/>
          </a:prstGeom>
          <a:noFill/>
        </p:spPr>
        <p:txBody>
          <a:bodyPr wrap="square">
            <a:spAutoFit/>
          </a:bodyPr>
          <a:lstStyle/>
          <a:p>
            <a:pPr algn="ctr">
              <a:defRPr sz="900" b="1">
                <a:solidFill>
                  <a:srgbClr val="2E7D32"/>
                </a:solidFill>
                <a:latin typeface="Calibri"/>
              </a:defRPr>
            </a:pPr>
            <a:r>
              <a:t>~99.99%</a:t>
            </a:r>
          </a:p>
        </p:txBody>
      </p:sp>
      <p:sp>
        <p:nvSpPr>
          <p:cNvPr id="151" name="TextBox 150"/>
          <p:cNvSpPr txBox="1"/>
          <p:nvPr/>
        </p:nvSpPr>
        <p:spPr>
          <a:xfrm>
            <a:off x="548640" y="4434840"/>
            <a:ext cx="5486400" cy="274320"/>
          </a:xfrm>
          <a:prstGeom prst="rect">
            <a:avLst/>
          </a:prstGeom>
          <a:noFill/>
        </p:spPr>
        <p:txBody>
          <a:bodyPr wrap="square">
            <a:spAutoFit/>
          </a:bodyPr>
          <a:lstStyle/>
          <a:p>
            <a:pPr algn="l">
              <a:defRPr sz="1400" b="1">
                <a:solidFill>
                  <a:srgbClr val="002952"/>
                </a:solidFill>
                <a:latin typeface="Calibri"/>
              </a:defRPr>
            </a:pPr>
            <a:r>
              <a:t>Stakeholder Hours Freed</a:t>
            </a:r>
          </a:p>
        </p:txBody>
      </p:sp>
      <p:sp>
        <p:nvSpPr>
          <p:cNvPr id="152" name="Rectangle 151"/>
          <p:cNvSpPr/>
          <p:nvPr/>
        </p:nvSpPr>
        <p:spPr>
          <a:xfrm>
            <a:off x="548640" y="4754880"/>
            <a:ext cx="132588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548640" y="4754880"/>
            <a:ext cx="1325880" cy="256032"/>
          </a:xfrm>
          <a:prstGeom prst="rect">
            <a:avLst/>
          </a:prstGeom>
          <a:noFill/>
        </p:spPr>
        <p:txBody>
          <a:bodyPr wrap="square">
            <a:spAutoFit/>
          </a:bodyPr>
          <a:lstStyle/>
          <a:p>
            <a:pPr algn="ctr">
              <a:defRPr sz="900" b="1">
                <a:solidFill>
                  <a:srgbClr val="FFFFFF"/>
                </a:solidFill>
                <a:latin typeface="Calibri"/>
              </a:defRPr>
            </a:pPr>
            <a:r>
              <a:t>Activity</a:t>
            </a:r>
          </a:p>
        </p:txBody>
      </p:sp>
      <p:sp>
        <p:nvSpPr>
          <p:cNvPr id="154" name="Rectangle 153"/>
          <p:cNvSpPr/>
          <p:nvPr/>
        </p:nvSpPr>
        <p:spPr>
          <a:xfrm>
            <a:off x="1874520" y="4754880"/>
            <a:ext cx="132588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1874520" y="4754880"/>
            <a:ext cx="1325880" cy="256032"/>
          </a:xfrm>
          <a:prstGeom prst="rect">
            <a:avLst/>
          </a:prstGeom>
          <a:noFill/>
        </p:spPr>
        <p:txBody>
          <a:bodyPr wrap="square">
            <a:spAutoFit/>
          </a:bodyPr>
          <a:lstStyle/>
          <a:p>
            <a:pPr algn="ctr">
              <a:defRPr sz="900" b="1">
                <a:solidFill>
                  <a:srgbClr val="FFFFFF"/>
                </a:solidFill>
                <a:latin typeface="Calibri"/>
              </a:defRPr>
            </a:pPr>
            <a:r>
              <a:t>Traditional</a:t>
            </a:r>
          </a:p>
        </p:txBody>
      </p:sp>
      <p:sp>
        <p:nvSpPr>
          <p:cNvPr id="156" name="Rectangle 155"/>
          <p:cNvSpPr/>
          <p:nvPr/>
        </p:nvSpPr>
        <p:spPr>
          <a:xfrm>
            <a:off x="3200400" y="4754880"/>
            <a:ext cx="132588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3200400" y="4754880"/>
            <a:ext cx="1325880" cy="256032"/>
          </a:xfrm>
          <a:prstGeom prst="rect">
            <a:avLst/>
          </a:prstGeom>
          <a:noFill/>
        </p:spPr>
        <p:txBody>
          <a:bodyPr wrap="square">
            <a:spAutoFit/>
          </a:bodyPr>
          <a:lstStyle/>
          <a:p>
            <a:pPr algn="ctr">
              <a:defRPr sz="900" b="1">
                <a:solidFill>
                  <a:srgbClr val="FFFFFF"/>
                </a:solidFill>
                <a:latin typeface="Calibri"/>
              </a:defRPr>
            </a:pPr>
            <a:r>
              <a:t>BTA</a:t>
            </a:r>
          </a:p>
        </p:txBody>
      </p:sp>
      <p:sp>
        <p:nvSpPr>
          <p:cNvPr id="158" name="Rectangle 157"/>
          <p:cNvSpPr/>
          <p:nvPr/>
        </p:nvSpPr>
        <p:spPr>
          <a:xfrm>
            <a:off x="4526280" y="4754880"/>
            <a:ext cx="132588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4526280" y="4754880"/>
            <a:ext cx="1325880" cy="256032"/>
          </a:xfrm>
          <a:prstGeom prst="rect">
            <a:avLst/>
          </a:prstGeom>
          <a:noFill/>
        </p:spPr>
        <p:txBody>
          <a:bodyPr wrap="square">
            <a:spAutoFit/>
          </a:bodyPr>
          <a:lstStyle/>
          <a:p>
            <a:pPr algn="ctr">
              <a:defRPr sz="900" b="1">
                <a:solidFill>
                  <a:srgbClr val="FFFFFF"/>
                </a:solidFill>
                <a:latin typeface="Calibri"/>
              </a:defRPr>
            </a:pPr>
            <a:r>
              <a:t>Saved</a:t>
            </a:r>
          </a:p>
        </p:txBody>
      </p:sp>
      <p:sp>
        <p:nvSpPr>
          <p:cNvPr id="160" name="Rectangle 159"/>
          <p:cNvSpPr/>
          <p:nvPr/>
        </p:nvSpPr>
        <p:spPr>
          <a:xfrm>
            <a:off x="548640" y="5010912"/>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548640" y="5010912"/>
            <a:ext cx="1325880" cy="256032"/>
          </a:xfrm>
          <a:prstGeom prst="rect">
            <a:avLst/>
          </a:prstGeom>
          <a:noFill/>
        </p:spPr>
        <p:txBody>
          <a:bodyPr wrap="square">
            <a:spAutoFit/>
          </a:bodyPr>
          <a:lstStyle/>
          <a:p>
            <a:pPr algn="ctr">
              <a:defRPr sz="900" b="0">
                <a:solidFill>
                  <a:srgbClr val="323232"/>
                </a:solidFill>
                <a:latin typeface="Calibri"/>
              </a:defRPr>
            </a:pPr>
            <a:r>
              <a:t>Workshops &amp; interviews</a:t>
            </a:r>
          </a:p>
        </p:txBody>
      </p:sp>
      <p:sp>
        <p:nvSpPr>
          <p:cNvPr id="162" name="Rectangle 161"/>
          <p:cNvSpPr/>
          <p:nvPr/>
        </p:nvSpPr>
        <p:spPr>
          <a:xfrm>
            <a:off x="1874520" y="5010912"/>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1874520" y="5010912"/>
            <a:ext cx="1325880" cy="256032"/>
          </a:xfrm>
          <a:prstGeom prst="rect">
            <a:avLst/>
          </a:prstGeom>
          <a:noFill/>
        </p:spPr>
        <p:txBody>
          <a:bodyPr wrap="square">
            <a:spAutoFit/>
          </a:bodyPr>
          <a:lstStyle/>
          <a:p>
            <a:pPr algn="ctr">
              <a:defRPr sz="900" b="0">
                <a:solidFill>
                  <a:srgbClr val="323232"/>
                </a:solidFill>
                <a:latin typeface="Calibri"/>
              </a:defRPr>
            </a:pPr>
            <a:r>
              <a:t>60-120 hrs</a:t>
            </a:r>
          </a:p>
        </p:txBody>
      </p:sp>
      <p:sp>
        <p:nvSpPr>
          <p:cNvPr id="164" name="Rectangle 163"/>
          <p:cNvSpPr/>
          <p:nvPr/>
        </p:nvSpPr>
        <p:spPr>
          <a:xfrm>
            <a:off x="3200400" y="5010912"/>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3200400" y="5010912"/>
            <a:ext cx="1325880" cy="256032"/>
          </a:xfrm>
          <a:prstGeom prst="rect">
            <a:avLst/>
          </a:prstGeom>
          <a:noFill/>
        </p:spPr>
        <p:txBody>
          <a:bodyPr wrap="square">
            <a:spAutoFit/>
          </a:bodyPr>
          <a:lstStyle/>
          <a:p>
            <a:pPr algn="ctr">
              <a:defRPr sz="900" b="0">
                <a:solidFill>
                  <a:srgbClr val="323232"/>
                </a:solidFill>
                <a:latin typeface="Calibri"/>
              </a:defRPr>
            </a:pPr>
            <a:r>
              <a:t>0 hrs</a:t>
            </a:r>
          </a:p>
        </p:txBody>
      </p:sp>
      <p:sp>
        <p:nvSpPr>
          <p:cNvPr id="166" name="Rectangle 165"/>
          <p:cNvSpPr/>
          <p:nvPr/>
        </p:nvSpPr>
        <p:spPr>
          <a:xfrm>
            <a:off x="4526280" y="5010912"/>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4526280" y="5010912"/>
            <a:ext cx="1325880" cy="256032"/>
          </a:xfrm>
          <a:prstGeom prst="rect">
            <a:avLst/>
          </a:prstGeom>
          <a:noFill/>
        </p:spPr>
        <p:txBody>
          <a:bodyPr wrap="square">
            <a:spAutoFit/>
          </a:bodyPr>
          <a:lstStyle/>
          <a:p>
            <a:pPr algn="ctr">
              <a:defRPr sz="900" b="0">
                <a:solidFill>
                  <a:srgbClr val="323232"/>
                </a:solidFill>
                <a:latin typeface="Calibri"/>
              </a:defRPr>
            </a:pPr>
            <a:r>
              <a:t>60-120 hrs</a:t>
            </a:r>
          </a:p>
        </p:txBody>
      </p:sp>
      <p:sp>
        <p:nvSpPr>
          <p:cNvPr id="168" name="Rectangle 167"/>
          <p:cNvSpPr/>
          <p:nvPr/>
        </p:nvSpPr>
        <p:spPr>
          <a:xfrm>
            <a:off x="548640" y="5266944"/>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548640" y="5266944"/>
            <a:ext cx="1325880" cy="256032"/>
          </a:xfrm>
          <a:prstGeom prst="rect">
            <a:avLst/>
          </a:prstGeom>
          <a:noFill/>
        </p:spPr>
        <p:txBody>
          <a:bodyPr wrap="square">
            <a:spAutoFit/>
          </a:bodyPr>
          <a:lstStyle/>
          <a:p>
            <a:pPr algn="ctr">
              <a:defRPr sz="900" b="0">
                <a:solidFill>
                  <a:srgbClr val="323232"/>
                </a:solidFill>
                <a:latin typeface="Calibri"/>
              </a:defRPr>
            </a:pPr>
            <a:r>
              <a:t>Executive sessions</a:t>
            </a:r>
          </a:p>
        </p:txBody>
      </p:sp>
      <p:sp>
        <p:nvSpPr>
          <p:cNvPr id="170" name="Rectangle 169"/>
          <p:cNvSpPr/>
          <p:nvPr/>
        </p:nvSpPr>
        <p:spPr>
          <a:xfrm>
            <a:off x="1874520" y="5266944"/>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1874520" y="5266944"/>
            <a:ext cx="1325880" cy="256032"/>
          </a:xfrm>
          <a:prstGeom prst="rect">
            <a:avLst/>
          </a:prstGeom>
          <a:noFill/>
        </p:spPr>
        <p:txBody>
          <a:bodyPr wrap="square">
            <a:spAutoFit/>
          </a:bodyPr>
          <a:lstStyle/>
          <a:p>
            <a:pPr algn="ctr">
              <a:defRPr sz="900" b="0">
                <a:solidFill>
                  <a:srgbClr val="323232"/>
                </a:solidFill>
                <a:latin typeface="Calibri"/>
              </a:defRPr>
            </a:pPr>
            <a:r>
              <a:t>16-40 hrs</a:t>
            </a:r>
          </a:p>
        </p:txBody>
      </p:sp>
      <p:sp>
        <p:nvSpPr>
          <p:cNvPr id="172" name="Rectangle 171"/>
          <p:cNvSpPr/>
          <p:nvPr/>
        </p:nvSpPr>
        <p:spPr>
          <a:xfrm>
            <a:off x="3200400" y="5266944"/>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3200400" y="5266944"/>
            <a:ext cx="1325880" cy="256032"/>
          </a:xfrm>
          <a:prstGeom prst="rect">
            <a:avLst/>
          </a:prstGeom>
          <a:noFill/>
        </p:spPr>
        <p:txBody>
          <a:bodyPr wrap="square">
            <a:spAutoFit/>
          </a:bodyPr>
          <a:lstStyle/>
          <a:p>
            <a:pPr algn="ctr">
              <a:defRPr sz="900" b="0">
                <a:solidFill>
                  <a:srgbClr val="323232"/>
                </a:solidFill>
                <a:latin typeface="Calibri"/>
              </a:defRPr>
            </a:pPr>
            <a:r>
              <a:t>1-2 hrs</a:t>
            </a:r>
          </a:p>
        </p:txBody>
      </p:sp>
      <p:sp>
        <p:nvSpPr>
          <p:cNvPr id="174" name="Rectangle 173"/>
          <p:cNvSpPr/>
          <p:nvPr/>
        </p:nvSpPr>
        <p:spPr>
          <a:xfrm>
            <a:off x="4526280" y="5266944"/>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4526280" y="5266944"/>
            <a:ext cx="1325880" cy="256032"/>
          </a:xfrm>
          <a:prstGeom prst="rect">
            <a:avLst/>
          </a:prstGeom>
          <a:noFill/>
        </p:spPr>
        <p:txBody>
          <a:bodyPr wrap="square">
            <a:spAutoFit/>
          </a:bodyPr>
          <a:lstStyle/>
          <a:p>
            <a:pPr algn="ctr">
              <a:defRPr sz="900" b="0">
                <a:solidFill>
                  <a:srgbClr val="323232"/>
                </a:solidFill>
                <a:latin typeface="Calibri"/>
              </a:defRPr>
            </a:pPr>
            <a:r>
              <a:t>15-38 hrs</a:t>
            </a:r>
          </a:p>
        </p:txBody>
      </p:sp>
      <p:sp>
        <p:nvSpPr>
          <p:cNvPr id="176" name="Rectangle 175"/>
          <p:cNvSpPr/>
          <p:nvPr/>
        </p:nvSpPr>
        <p:spPr>
          <a:xfrm>
            <a:off x="548640" y="5522976"/>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548640" y="5522976"/>
            <a:ext cx="1325880" cy="256032"/>
          </a:xfrm>
          <a:prstGeom prst="rect">
            <a:avLst/>
          </a:prstGeom>
          <a:noFill/>
        </p:spPr>
        <p:txBody>
          <a:bodyPr wrap="square">
            <a:spAutoFit/>
          </a:bodyPr>
          <a:lstStyle/>
          <a:p>
            <a:pPr algn="ctr">
              <a:defRPr sz="900" b="0">
                <a:solidFill>
                  <a:srgbClr val="323232"/>
                </a:solidFill>
                <a:latin typeface="Calibri"/>
              </a:defRPr>
            </a:pPr>
            <a:r>
              <a:t>Story writing</a:t>
            </a:r>
          </a:p>
        </p:txBody>
      </p:sp>
      <p:sp>
        <p:nvSpPr>
          <p:cNvPr id="178" name="Rectangle 177"/>
          <p:cNvSpPr/>
          <p:nvPr/>
        </p:nvSpPr>
        <p:spPr>
          <a:xfrm>
            <a:off x="1874520" y="5522976"/>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1874520" y="5522976"/>
            <a:ext cx="1325880" cy="256032"/>
          </a:xfrm>
          <a:prstGeom prst="rect">
            <a:avLst/>
          </a:prstGeom>
          <a:noFill/>
        </p:spPr>
        <p:txBody>
          <a:bodyPr wrap="square">
            <a:spAutoFit/>
          </a:bodyPr>
          <a:lstStyle/>
          <a:p>
            <a:pPr algn="ctr">
              <a:defRPr sz="900" b="0">
                <a:solidFill>
                  <a:srgbClr val="323232"/>
                </a:solidFill>
                <a:latin typeface="Calibri"/>
              </a:defRPr>
            </a:pPr>
            <a:r>
              <a:t>80-160 hrs</a:t>
            </a:r>
          </a:p>
        </p:txBody>
      </p:sp>
      <p:sp>
        <p:nvSpPr>
          <p:cNvPr id="180" name="Rectangle 179"/>
          <p:cNvSpPr/>
          <p:nvPr/>
        </p:nvSpPr>
        <p:spPr>
          <a:xfrm>
            <a:off x="3200400" y="5522976"/>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3200400" y="5522976"/>
            <a:ext cx="1325880" cy="256032"/>
          </a:xfrm>
          <a:prstGeom prst="rect">
            <a:avLst/>
          </a:prstGeom>
          <a:noFill/>
        </p:spPr>
        <p:txBody>
          <a:bodyPr wrap="square">
            <a:spAutoFit/>
          </a:bodyPr>
          <a:lstStyle/>
          <a:p>
            <a:pPr algn="ctr">
              <a:defRPr sz="900" b="0">
                <a:solidFill>
                  <a:srgbClr val="323232"/>
                </a:solidFill>
                <a:latin typeface="Calibri"/>
              </a:defRPr>
            </a:pPr>
            <a:r>
              <a:t>2-4 hrs</a:t>
            </a:r>
          </a:p>
        </p:txBody>
      </p:sp>
      <p:sp>
        <p:nvSpPr>
          <p:cNvPr id="182" name="Rectangle 181"/>
          <p:cNvSpPr/>
          <p:nvPr/>
        </p:nvSpPr>
        <p:spPr>
          <a:xfrm>
            <a:off x="4526280" y="5522976"/>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4526280" y="5522976"/>
            <a:ext cx="1325880" cy="256032"/>
          </a:xfrm>
          <a:prstGeom prst="rect">
            <a:avLst/>
          </a:prstGeom>
          <a:noFill/>
        </p:spPr>
        <p:txBody>
          <a:bodyPr wrap="square">
            <a:spAutoFit/>
          </a:bodyPr>
          <a:lstStyle/>
          <a:p>
            <a:pPr algn="ctr">
              <a:defRPr sz="900" b="0">
                <a:solidFill>
                  <a:srgbClr val="323232"/>
                </a:solidFill>
                <a:latin typeface="Calibri"/>
              </a:defRPr>
            </a:pPr>
            <a:r>
              <a:t>78-156 hrs</a:t>
            </a:r>
          </a:p>
        </p:txBody>
      </p:sp>
      <p:sp>
        <p:nvSpPr>
          <p:cNvPr id="184" name="Rectangle 183"/>
          <p:cNvSpPr/>
          <p:nvPr/>
        </p:nvSpPr>
        <p:spPr>
          <a:xfrm>
            <a:off x="548640" y="5779008"/>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548640" y="5779008"/>
            <a:ext cx="1325880" cy="256032"/>
          </a:xfrm>
          <a:prstGeom prst="rect">
            <a:avLst/>
          </a:prstGeom>
          <a:noFill/>
        </p:spPr>
        <p:txBody>
          <a:bodyPr wrap="square">
            <a:spAutoFit/>
          </a:bodyPr>
          <a:lstStyle/>
          <a:p>
            <a:pPr algn="ctr">
              <a:defRPr sz="900" b="0">
                <a:solidFill>
                  <a:srgbClr val="323232"/>
                </a:solidFill>
                <a:latin typeface="Calibri"/>
              </a:defRPr>
            </a:pPr>
            <a:r>
              <a:t>PI planning</a:t>
            </a:r>
          </a:p>
        </p:txBody>
      </p:sp>
      <p:sp>
        <p:nvSpPr>
          <p:cNvPr id="186" name="Rectangle 185"/>
          <p:cNvSpPr/>
          <p:nvPr/>
        </p:nvSpPr>
        <p:spPr>
          <a:xfrm>
            <a:off x="1874520" y="5779008"/>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1874520" y="5779008"/>
            <a:ext cx="1325880" cy="256032"/>
          </a:xfrm>
          <a:prstGeom prst="rect">
            <a:avLst/>
          </a:prstGeom>
          <a:noFill/>
        </p:spPr>
        <p:txBody>
          <a:bodyPr wrap="square">
            <a:spAutoFit/>
          </a:bodyPr>
          <a:lstStyle/>
          <a:p>
            <a:pPr algn="ctr">
              <a:defRPr sz="900" b="0">
                <a:solidFill>
                  <a:srgbClr val="323232"/>
                </a:solidFill>
                <a:latin typeface="Calibri"/>
              </a:defRPr>
            </a:pPr>
            <a:r>
              <a:t>40-80 hrs</a:t>
            </a:r>
          </a:p>
        </p:txBody>
      </p:sp>
      <p:sp>
        <p:nvSpPr>
          <p:cNvPr id="188" name="Rectangle 187"/>
          <p:cNvSpPr/>
          <p:nvPr/>
        </p:nvSpPr>
        <p:spPr>
          <a:xfrm>
            <a:off x="3200400" y="5779008"/>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3200400" y="5779008"/>
            <a:ext cx="1325880" cy="256032"/>
          </a:xfrm>
          <a:prstGeom prst="rect">
            <a:avLst/>
          </a:prstGeom>
          <a:noFill/>
        </p:spPr>
        <p:txBody>
          <a:bodyPr wrap="square">
            <a:spAutoFit/>
          </a:bodyPr>
          <a:lstStyle/>
          <a:p>
            <a:pPr algn="ctr">
              <a:defRPr sz="900" b="0">
                <a:solidFill>
                  <a:srgbClr val="323232"/>
                </a:solidFill>
                <a:latin typeface="Calibri"/>
              </a:defRPr>
            </a:pPr>
            <a:r>
              <a:t>1-2 hrs</a:t>
            </a:r>
          </a:p>
        </p:txBody>
      </p:sp>
      <p:sp>
        <p:nvSpPr>
          <p:cNvPr id="190" name="Rectangle 189"/>
          <p:cNvSpPr/>
          <p:nvPr/>
        </p:nvSpPr>
        <p:spPr>
          <a:xfrm>
            <a:off x="4526280" y="5779008"/>
            <a:ext cx="13258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4526280" y="5779008"/>
            <a:ext cx="1325880" cy="256032"/>
          </a:xfrm>
          <a:prstGeom prst="rect">
            <a:avLst/>
          </a:prstGeom>
          <a:noFill/>
        </p:spPr>
        <p:txBody>
          <a:bodyPr wrap="square">
            <a:spAutoFit/>
          </a:bodyPr>
          <a:lstStyle/>
          <a:p>
            <a:pPr algn="ctr">
              <a:defRPr sz="900" b="0">
                <a:solidFill>
                  <a:srgbClr val="323232"/>
                </a:solidFill>
                <a:latin typeface="Calibri"/>
              </a:defRPr>
            </a:pPr>
            <a:r>
              <a:t>39-78 hrs</a:t>
            </a:r>
          </a:p>
        </p:txBody>
      </p:sp>
      <p:sp>
        <p:nvSpPr>
          <p:cNvPr id="192" name="Rectangle 191"/>
          <p:cNvSpPr/>
          <p:nvPr/>
        </p:nvSpPr>
        <p:spPr>
          <a:xfrm>
            <a:off x="548640" y="6035040"/>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548640" y="6035040"/>
            <a:ext cx="1325880" cy="256032"/>
          </a:xfrm>
          <a:prstGeom prst="rect">
            <a:avLst/>
          </a:prstGeom>
          <a:noFill/>
        </p:spPr>
        <p:txBody>
          <a:bodyPr wrap="square">
            <a:spAutoFit/>
          </a:bodyPr>
          <a:lstStyle/>
          <a:p>
            <a:pPr algn="ctr">
              <a:defRPr sz="900" b="1">
                <a:solidFill>
                  <a:srgbClr val="323232"/>
                </a:solidFill>
                <a:latin typeface="Calibri"/>
              </a:defRPr>
            </a:pPr>
            <a:r>
              <a:t>TOTAL</a:t>
            </a:r>
          </a:p>
        </p:txBody>
      </p:sp>
      <p:sp>
        <p:nvSpPr>
          <p:cNvPr id="194" name="Rectangle 193"/>
          <p:cNvSpPr/>
          <p:nvPr/>
        </p:nvSpPr>
        <p:spPr>
          <a:xfrm>
            <a:off x="1874520" y="6035040"/>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1874520" y="6035040"/>
            <a:ext cx="1325880" cy="256032"/>
          </a:xfrm>
          <a:prstGeom prst="rect">
            <a:avLst/>
          </a:prstGeom>
          <a:noFill/>
        </p:spPr>
        <p:txBody>
          <a:bodyPr wrap="square">
            <a:spAutoFit/>
          </a:bodyPr>
          <a:lstStyle/>
          <a:p>
            <a:pPr algn="ctr">
              <a:defRPr sz="900" b="1">
                <a:solidFill>
                  <a:srgbClr val="323232"/>
                </a:solidFill>
                <a:latin typeface="Calibri"/>
              </a:defRPr>
            </a:pPr>
            <a:r>
              <a:t>196-400 hrs</a:t>
            </a:r>
          </a:p>
        </p:txBody>
      </p:sp>
      <p:sp>
        <p:nvSpPr>
          <p:cNvPr id="196" name="Rectangle 195"/>
          <p:cNvSpPr/>
          <p:nvPr/>
        </p:nvSpPr>
        <p:spPr>
          <a:xfrm>
            <a:off x="3200400" y="6035040"/>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3200400" y="6035040"/>
            <a:ext cx="1325880" cy="256032"/>
          </a:xfrm>
          <a:prstGeom prst="rect">
            <a:avLst/>
          </a:prstGeom>
          <a:noFill/>
        </p:spPr>
        <p:txBody>
          <a:bodyPr wrap="square">
            <a:spAutoFit/>
          </a:bodyPr>
          <a:lstStyle/>
          <a:p>
            <a:pPr algn="ctr">
              <a:defRPr sz="900" b="1">
                <a:solidFill>
                  <a:srgbClr val="323232"/>
                </a:solidFill>
                <a:latin typeface="Calibri"/>
              </a:defRPr>
            </a:pPr>
            <a:r>
              <a:t>4-8 hrs</a:t>
            </a:r>
          </a:p>
        </p:txBody>
      </p:sp>
      <p:sp>
        <p:nvSpPr>
          <p:cNvPr id="198" name="Rectangle 197"/>
          <p:cNvSpPr/>
          <p:nvPr/>
        </p:nvSpPr>
        <p:spPr>
          <a:xfrm>
            <a:off x="4526280" y="6035040"/>
            <a:ext cx="132588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4526280" y="6035040"/>
            <a:ext cx="1325880" cy="256032"/>
          </a:xfrm>
          <a:prstGeom prst="rect">
            <a:avLst/>
          </a:prstGeom>
          <a:noFill/>
        </p:spPr>
        <p:txBody>
          <a:bodyPr wrap="square">
            <a:spAutoFit/>
          </a:bodyPr>
          <a:lstStyle/>
          <a:p>
            <a:pPr algn="ctr">
              <a:defRPr sz="900" b="1">
                <a:solidFill>
                  <a:srgbClr val="323232"/>
                </a:solidFill>
                <a:latin typeface="Calibri"/>
              </a:defRPr>
            </a:pPr>
            <a:r>
              <a:t>192-392 hrs</a:t>
            </a:r>
          </a:p>
        </p:txBody>
      </p:sp>
      <p:sp>
        <p:nvSpPr>
          <p:cNvPr id="200" name="TextBox 199"/>
          <p:cNvSpPr txBox="1"/>
          <p:nvPr/>
        </p:nvSpPr>
        <p:spPr>
          <a:xfrm>
            <a:off x="6217920" y="4434840"/>
            <a:ext cx="5486400" cy="274320"/>
          </a:xfrm>
          <a:prstGeom prst="rect">
            <a:avLst/>
          </a:prstGeom>
          <a:noFill/>
        </p:spPr>
        <p:txBody>
          <a:bodyPr wrap="square">
            <a:spAutoFit/>
          </a:bodyPr>
          <a:lstStyle/>
          <a:p>
            <a:pPr algn="l">
              <a:defRPr sz="1400" b="1">
                <a:solidFill>
                  <a:srgbClr val="002952"/>
                </a:solidFill>
                <a:latin typeface="Calibri"/>
              </a:defRPr>
            </a:pPr>
            <a:r>
              <a:t>Output Volume Comparison</a:t>
            </a:r>
          </a:p>
        </p:txBody>
      </p:sp>
      <p:sp>
        <p:nvSpPr>
          <p:cNvPr id="201" name="Rectangle 200"/>
          <p:cNvSpPr/>
          <p:nvPr/>
        </p:nvSpPr>
        <p:spPr>
          <a:xfrm>
            <a:off x="6217920" y="4754880"/>
            <a:ext cx="176784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6217920" y="4754880"/>
            <a:ext cx="1767840" cy="256032"/>
          </a:xfrm>
          <a:prstGeom prst="rect">
            <a:avLst/>
          </a:prstGeom>
          <a:noFill/>
        </p:spPr>
        <p:txBody>
          <a:bodyPr wrap="square">
            <a:spAutoFit/>
          </a:bodyPr>
          <a:lstStyle/>
          <a:p>
            <a:pPr algn="ctr">
              <a:defRPr sz="900" b="1">
                <a:solidFill>
                  <a:srgbClr val="FFFFFF"/>
                </a:solidFill>
                <a:latin typeface="Calibri"/>
              </a:defRPr>
            </a:pPr>
            <a:r>
              <a:t>Artifact</a:t>
            </a:r>
          </a:p>
        </p:txBody>
      </p:sp>
      <p:sp>
        <p:nvSpPr>
          <p:cNvPr id="203" name="Rectangle 202"/>
          <p:cNvSpPr/>
          <p:nvPr/>
        </p:nvSpPr>
        <p:spPr>
          <a:xfrm>
            <a:off x="7985760" y="4754880"/>
            <a:ext cx="176784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7985760" y="4754880"/>
            <a:ext cx="1767840" cy="256032"/>
          </a:xfrm>
          <a:prstGeom prst="rect">
            <a:avLst/>
          </a:prstGeom>
          <a:noFill/>
        </p:spPr>
        <p:txBody>
          <a:bodyPr wrap="square">
            <a:spAutoFit/>
          </a:bodyPr>
          <a:lstStyle/>
          <a:p>
            <a:pPr algn="ctr">
              <a:defRPr sz="900" b="1">
                <a:solidFill>
                  <a:srgbClr val="FFFFFF"/>
                </a:solidFill>
                <a:latin typeface="Calibri"/>
              </a:defRPr>
            </a:pPr>
            <a:r>
              <a:t>BTA</a:t>
            </a:r>
          </a:p>
        </p:txBody>
      </p:sp>
      <p:sp>
        <p:nvSpPr>
          <p:cNvPr id="205" name="Rectangle 204"/>
          <p:cNvSpPr/>
          <p:nvPr/>
        </p:nvSpPr>
        <p:spPr>
          <a:xfrm>
            <a:off x="9753600" y="4754880"/>
            <a:ext cx="1767840"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9753600" y="4754880"/>
            <a:ext cx="1767840" cy="256032"/>
          </a:xfrm>
          <a:prstGeom prst="rect">
            <a:avLst/>
          </a:prstGeom>
          <a:noFill/>
        </p:spPr>
        <p:txBody>
          <a:bodyPr wrap="square">
            <a:spAutoFit/>
          </a:bodyPr>
          <a:lstStyle/>
          <a:p>
            <a:pPr algn="ctr">
              <a:defRPr sz="900" b="1">
                <a:solidFill>
                  <a:srgbClr val="FFFFFF"/>
                </a:solidFill>
                <a:latin typeface="Calibri"/>
              </a:defRPr>
            </a:pPr>
            <a:r>
              <a:t>Traditional</a:t>
            </a:r>
          </a:p>
        </p:txBody>
      </p:sp>
      <p:sp>
        <p:nvSpPr>
          <p:cNvPr id="207" name="Rectangle 206"/>
          <p:cNvSpPr/>
          <p:nvPr/>
        </p:nvSpPr>
        <p:spPr>
          <a:xfrm>
            <a:off x="6217920" y="5010912"/>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6217920" y="5010912"/>
            <a:ext cx="1767840" cy="256032"/>
          </a:xfrm>
          <a:prstGeom prst="rect">
            <a:avLst/>
          </a:prstGeom>
          <a:noFill/>
        </p:spPr>
        <p:txBody>
          <a:bodyPr wrap="square">
            <a:spAutoFit/>
          </a:bodyPr>
          <a:lstStyle/>
          <a:p>
            <a:pPr algn="ctr">
              <a:defRPr sz="900" b="0">
                <a:solidFill>
                  <a:srgbClr val="323232"/>
                </a:solidFill>
                <a:latin typeface="Calibri"/>
              </a:defRPr>
            </a:pPr>
            <a:r>
              <a:t>Financial KPIs</a:t>
            </a:r>
          </a:p>
        </p:txBody>
      </p:sp>
      <p:sp>
        <p:nvSpPr>
          <p:cNvPr id="209" name="Rectangle 208"/>
          <p:cNvSpPr/>
          <p:nvPr/>
        </p:nvSpPr>
        <p:spPr>
          <a:xfrm>
            <a:off x="7985760" y="5010912"/>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7985760" y="5010912"/>
            <a:ext cx="1767840" cy="256032"/>
          </a:xfrm>
          <a:prstGeom prst="rect">
            <a:avLst/>
          </a:prstGeom>
          <a:noFill/>
        </p:spPr>
        <p:txBody>
          <a:bodyPr wrap="square">
            <a:spAutoFit/>
          </a:bodyPr>
          <a:lstStyle/>
          <a:p>
            <a:pPr algn="ctr">
              <a:defRPr sz="900" b="0">
                <a:solidFill>
                  <a:srgbClr val="323232"/>
                </a:solidFill>
                <a:latin typeface="Calibri"/>
              </a:defRPr>
            </a:pPr>
            <a:r>
              <a:t>20+ auto-extracted</a:t>
            </a:r>
          </a:p>
        </p:txBody>
      </p:sp>
      <p:sp>
        <p:nvSpPr>
          <p:cNvPr id="211" name="Rectangle 210"/>
          <p:cNvSpPr/>
          <p:nvPr/>
        </p:nvSpPr>
        <p:spPr>
          <a:xfrm>
            <a:off x="9753600" y="5010912"/>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9753600" y="5010912"/>
            <a:ext cx="1767840" cy="256032"/>
          </a:xfrm>
          <a:prstGeom prst="rect">
            <a:avLst/>
          </a:prstGeom>
          <a:noFill/>
        </p:spPr>
        <p:txBody>
          <a:bodyPr wrap="square">
            <a:spAutoFit/>
          </a:bodyPr>
          <a:lstStyle/>
          <a:p>
            <a:pPr algn="ctr">
              <a:defRPr sz="900" b="0">
                <a:solidFill>
                  <a:srgbClr val="323232"/>
                </a:solidFill>
                <a:latin typeface="Calibri"/>
              </a:defRPr>
            </a:pPr>
            <a:r>
              <a:t>5-8 manual</a:t>
            </a:r>
          </a:p>
        </p:txBody>
      </p:sp>
      <p:sp>
        <p:nvSpPr>
          <p:cNvPr id="213" name="Rectangle 212"/>
          <p:cNvSpPr/>
          <p:nvPr/>
        </p:nvSpPr>
        <p:spPr>
          <a:xfrm>
            <a:off x="6217920" y="5266944"/>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6217920" y="5266944"/>
            <a:ext cx="1767840" cy="256032"/>
          </a:xfrm>
          <a:prstGeom prst="rect">
            <a:avLst/>
          </a:prstGeom>
          <a:noFill/>
        </p:spPr>
        <p:txBody>
          <a:bodyPr wrap="square">
            <a:spAutoFit/>
          </a:bodyPr>
          <a:lstStyle/>
          <a:p>
            <a:pPr algn="ctr">
              <a:defRPr sz="900" b="0">
                <a:solidFill>
                  <a:srgbClr val="323232"/>
                </a:solidFill>
                <a:latin typeface="Calibri"/>
              </a:defRPr>
            </a:pPr>
            <a:r>
              <a:t>Strategy layers</a:t>
            </a:r>
          </a:p>
        </p:txBody>
      </p:sp>
      <p:sp>
        <p:nvSpPr>
          <p:cNvPr id="215" name="Rectangle 214"/>
          <p:cNvSpPr/>
          <p:nvPr/>
        </p:nvSpPr>
        <p:spPr>
          <a:xfrm>
            <a:off x="7985760" y="5266944"/>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7985760" y="5266944"/>
            <a:ext cx="1767840" cy="256032"/>
          </a:xfrm>
          <a:prstGeom prst="rect">
            <a:avLst/>
          </a:prstGeom>
          <a:noFill/>
        </p:spPr>
        <p:txBody>
          <a:bodyPr wrap="square">
            <a:spAutoFit/>
          </a:bodyPr>
          <a:lstStyle/>
          <a:p>
            <a:pPr algn="ctr">
              <a:defRPr sz="900" b="0">
                <a:solidFill>
                  <a:srgbClr val="323232"/>
                </a:solidFill>
                <a:latin typeface="Calibri"/>
              </a:defRPr>
            </a:pPr>
            <a:r>
              <a:t>4 always</a:t>
            </a:r>
          </a:p>
        </p:txBody>
      </p:sp>
      <p:sp>
        <p:nvSpPr>
          <p:cNvPr id="217" name="Rectangle 216"/>
          <p:cNvSpPr/>
          <p:nvPr/>
        </p:nvSpPr>
        <p:spPr>
          <a:xfrm>
            <a:off x="9753600" y="5266944"/>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9753600" y="5266944"/>
            <a:ext cx="1767840" cy="256032"/>
          </a:xfrm>
          <a:prstGeom prst="rect">
            <a:avLst/>
          </a:prstGeom>
          <a:noFill/>
        </p:spPr>
        <p:txBody>
          <a:bodyPr wrap="square">
            <a:spAutoFit/>
          </a:bodyPr>
          <a:lstStyle/>
          <a:p>
            <a:pPr algn="ctr">
              <a:defRPr sz="900" b="0">
                <a:solidFill>
                  <a:srgbClr val="323232"/>
                </a:solidFill>
                <a:latin typeface="Calibri"/>
              </a:defRPr>
            </a:pPr>
            <a:r>
              <a:t>1-2 typical</a:t>
            </a:r>
          </a:p>
        </p:txBody>
      </p:sp>
      <p:sp>
        <p:nvSpPr>
          <p:cNvPr id="219" name="Rectangle 218"/>
          <p:cNvSpPr/>
          <p:nvPr/>
        </p:nvSpPr>
        <p:spPr>
          <a:xfrm>
            <a:off x="6217920" y="5522976"/>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6217920" y="5522976"/>
            <a:ext cx="1767840" cy="256032"/>
          </a:xfrm>
          <a:prstGeom prst="rect">
            <a:avLst/>
          </a:prstGeom>
          <a:noFill/>
        </p:spPr>
        <p:txBody>
          <a:bodyPr wrap="square">
            <a:spAutoFit/>
          </a:bodyPr>
          <a:lstStyle/>
          <a:p>
            <a:pPr algn="ctr">
              <a:defRPr sz="900" b="0">
                <a:solidFill>
                  <a:srgbClr val="323232"/>
                </a:solidFill>
                <a:latin typeface="Calibri"/>
              </a:defRPr>
            </a:pPr>
            <a:r>
              <a:t>OKR cascade</a:t>
            </a:r>
          </a:p>
        </p:txBody>
      </p:sp>
      <p:sp>
        <p:nvSpPr>
          <p:cNvPr id="221" name="Rectangle 220"/>
          <p:cNvSpPr/>
          <p:nvPr/>
        </p:nvSpPr>
        <p:spPr>
          <a:xfrm>
            <a:off x="7985760" y="5522976"/>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7985760" y="5522976"/>
            <a:ext cx="1767840" cy="256032"/>
          </a:xfrm>
          <a:prstGeom prst="rect">
            <a:avLst/>
          </a:prstGeom>
          <a:noFill/>
        </p:spPr>
        <p:txBody>
          <a:bodyPr wrap="square">
            <a:spAutoFit/>
          </a:bodyPr>
          <a:lstStyle/>
          <a:p>
            <a:pPr algn="ctr">
              <a:defRPr sz="900" b="0">
                <a:solidFill>
                  <a:srgbClr val="323232"/>
                </a:solidFill>
                <a:latin typeface="Calibri"/>
              </a:defRPr>
            </a:pPr>
            <a:r>
              <a:t>3-tier (Strat→Prod→Del)</a:t>
            </a:r>
          </a:p>
        </p:txBody>
      </p:sp>
      <p:sp>
        <p:nvSpPr>
          <p:cNvPr id="223" name="Rectangle 222"/>
          <p:cNvSpPr/>
          <p:nvPr/>
        </p:nvSpPr>
        <p:spPr>
          <a:xfrm>
            <a:off x="9753600" y="5522976"/>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9753600" y="5522976"/>
            <a:ext cx="1767840" cy="256032"/>
          </a:xfrm>
          <a:prstGeom prst="rect">
            <a:avLst/>
          </a:prstGeom>
          <a:noFill/>
        </p:spPr>
        <p:txBody>
          <a:bodyPr wrap="square">
            <a:spAutoFit/>
          </a:bodyPr>
          <a:lstStyle/>
          <a:p>
            <a:pPr algn="ctr">
              <a:defRPr sz="900" b="0">
                <a:solidFill>
                  <a:srgbClr val="323232"/>
                </a:solidFill>
                <a:latin typeface="Calibri"/>
              </a:defRPr>
            </a:pPr>
            <a:r>
              <a:t>Strategic only</a:t>
            </a:r>
          </a:p>
        </p:txBody>
      </p:sp>
      <p:sp>
        <p:nvSpPr>
          <p:cNvPr id="225" name="Rectangle 224"/>
          <p:cNvSpPr/>
          <p:nvPr/>
        </p:nvSpPr>
        <p:spPr>
          <a:xfrm>
            <a:off x="6217920" y="5779008"/>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6217920" y="5779008"/>
            <a:ext cx="1767840" cy="256032"/>
          </a:xfrm>
          <a:prstGeom prst="rect">
            <a:avLst/>
          </a:prstGeom>
          <a:noFill/>
        </p:spPr>
        <p:txBody>
          <a:bodyPr wrap="square">
            <a:spAutoFit/>
          </a:bodyPr>
          <a:lstStyle/>
          <a:p>
            <a:pPr algn="ctr">
              <a:defRPr sz="900" b="0">
                <a:solidFill>
                  <a:srgbClr val="323232"/>
                </a:solidFill>
                <a:latin typeface="Calibri"/>
              </a:defRPr>
            </a:pPr>
            <a:r>
              <a:t>RICE-scored initiatives</a:t>
            </a:r>
          </a:p>
        </p:txBody>
      </p:sp>
      <p:sp>
        <p:nvSpPr>
          <p:cNvPr id="227" name="Rectangle 226"/>
          <p:cNvSpPr/>
          <p:nvPr/>
        </p:nvSpPr>
        <p:spPr>
          <a:xfrm>
            <a:off x="7985760" y="5779008"/>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7985760" y="5779008"/>
            <a:ext cx="1767840" cy="256032"/>
          </a:xfrm>
          <a:prstGeom prst="rect">
            <a:avLst/>
          </a:prstGeom>
          <a:noFill/>
        </p:spPr>
        <p:txBody>
          <a:bodyPr wrap="square">
            <a:spAutoFit/>
          </a:bodyPr>
          <a:lstStyle/>
          <a:p>
            <a:pPr algn="ctr">
              <a:defRPr sz="900" b="0">
                <a:solidFill>
                  <a:srgbClr val="323232"/>
                </a:solidFill>
                <a:latin typeface="Calibri"/>
              </a:defRPr>
            </a:pPr>
            <a:r>
              <a:t>8 quantitative</a:t>
            </a:r>
          </a:p>
        </p:txBody>
      </p:sp>
      <p:sp>
        <p:nvSpPr>
          <p:cNvPr id="229" name="Rectangle 228"/>
          <p:cNvSpPr/>
          <p:nvPr/>
        </p:nvSpPr>
        <p:spPr>
          <a:xfrm>
            <a:off x="9753600" y="5779008"/>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TextBox 229"/>
          <p:cNvSpPr txBox="1"/>
          <p:nvPr/>
        </p:nvSpPr>
        <p:spPr>
          <a:xfrm>
            <a:off x="9753600" y="5779008"/>
            <a:ext cx="1767840" cy="256032"/>
          </a:xfrm>
          <a:prstGeom prst="rect">
            <a:avLst/>
          </a:prstGeom>
          <a:noFill/>
        </p:spPr>
        <p:txBody>
          <a:bodyPr wrap="square">
            <a:spAutoFit/>
          </a:bodyPr>
          <a:lstStyle/>
          <a:p>
            <a:pPr algn="ctr">
              <a:defRPr sz="900" b="0">
                <a:solidFill>
                  <a:srgbClr val="323232"/>
                </a:solidFill>
                <a:latin typeface="Calibri"/>
              </a:defRPr>
            </a:pPr>
            <a:r>
              <a:t>5-8 subjective</a:t>
            </a:r>
          </a:p>
        </p:txBody>
      </p:sp>
      <p:sp>
        <p:nvSpPr>
          <p:cNvPr id="231" name="Rectangle 230"/>
          <p:cNvSpPr/>
          <p:nvPr/>
        </p:nvSpPr>
        <p:spPr>
          <a:xfrm>
            <a:off x="6217920" y="6035040"/>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6217920" y="6035040"/>
            <a:ext cx="1767840" cy="256032"/>
          </a:xfrm>
          <a:prstGeom prst="rect">
            <a:avLst/>
          </a:prstGeom>
          <a:noFill/>
        </p:spPr>
        <p:txBody>
          <a:bodyPr wrap="square">
            <a:spAutoFit/>
          </a:bodyPr>
          <a:lstStyle/>
          <a:p>
            <a:pPr algn="ctr">
              <a:defRPr sz="900" b="0">
                <a:solidFill>
                  <a:srgbClr val="323232"/>
                </a:solidFill>
                <a:latin typeface="Calibri"/>
              </a:defRPr>
            </a:pPr>
            <a:r>
              <a:t>Sprint-ready features</a:t>
            </a:r>
          </a:p>
        </p:txBody>
      </p:sp>
      <p:sp>
        <p:nvSpPr>
          <p:cNvPr id="233" name="Rectangle 232"/>
          <p:cNvSpPr/>
          <p:nvPr/>
        </p:nvSpPr>
        <p:spPr>
          <a:xfrm>
            <a:off x="7985760" y="6035040"/>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7985760" y="6035040"/>
            <a:ext cx="1767840" cy="256032"/>
          </a:xfrm>
          <a:prstGeom prst="rect">
            <a:avLst/>
          </a:prstGeom>
          <a:noFill/>
        </p:spPr>
        <p:txBody>
          <a:bodyPr wrap="square">
            <a:spAutoFit/>
          </a:bodyPr>
          <a:lstStyle/>
          <a:p>
            <a:pPr algn="ctr">
              <a:defRPr sz="900" b="0">
                <a:solidFill>
                  <a:srgbClr val="323232"/>
                </a:solidFill>
                <a:latin typeface="Calibri"/>
              </a:defRPr>
            </a:pPr>
            <a:r>
              <a:t>15 with acceptance</a:t>
            </a:r>
          </a:p>
        </p:txBody>
      </p:sp>
      <p:sp>
        <p:nvSpPr>
          <p:cNvPr id="235" name="Rectangle 234"/>
          <p:cNvSpPr/>
          <p:nvPr/>
        </p:nvSpPr>
        <p:spPr>
          <a:xfrm>
            <a:off x="9753600" y="6035040"/>
            <a:ext cx="176784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9753600" y="6035040"/>
            <a:ext cx="1767840" cy="256032"/>
          </a:xfrm>
          <a:prstGeom prst="rect">
            <a:avLst/>
          </a:prstGeom>
          <a:noFill/>
        </p:spPr>
        <p:txBody>
          <a:bodyPr wrap="square">
            <a:spAutoFit/>
          </a:bodyPr>
          <a:lstStyle/>
          <a:p>
            <a:pPr algn="ctr">
              <a:defRPr sz="900" b="0">
                <a:solidFill>
                  <a:srgbClr val="323232"/>
                </a:solidFill>
                <a:latin typeface="Calibri"/>
              </a:defRPr>
            </a:pPr>
            <a:r>
              <a:t>4-8 weeks to create</a:t>
            </a:r>
          </a:p>
        </p:txBody>
      </p:sp>
      <p:sp>
        <p:nvSpPr>
          <p:cNvPr id="237" name="Rectangle 236"/>
          <p:cNvSpPr/>
          <p:nvPr/>
        </p:nvSpPr>
        <p:spPr>
          <a:xfrm>
            <a:off x="6217920" y="6291072"/>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6217920" y="6291072"/>
            <a:ext cx="1767840" cy="256032"/>
          </a:xfrm>
          <a:prstGeom prst="rect">
            <a:avLst/>
          </a:prstGeom>
          <a:noFill/>
        </p:spPr>
        <p:txBody>
          <a:bodyPr wrap="square">
            <a:spAutoFit/>
          </a:bodyPr>
          <a:lstStyle/>
          <a:p>
            <a:pPr algn="ctr">
              <a:defRPr sz="900" b="1">
                <a:solidFill>
                  <a:srgbClr val="323232"/>
                </a:solidFill>
                <a:latin typeface="Calibri"/>
              </a:defRPr>
            </a:pPr>
            <a:r>
              <a:t>Total artifacts</a:t>
            </a:r>
          </a:p>
        </p:txBody>
      </p:sp>
      <p:sp>
        <p:nvSpPr>
          <p:cNvPr id="239" name="Rectangle 238"/>
          <p:cNvSpPr/>
          <p:nvPr/>
        </p:nvSpPr>
        <p:spPr>
          <a:xfrm>
            <a:off x="7985760" y="6291072"/>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7985760" y="6291072"/>
            <a:ext cx="1767840" cy="256032"/>
          </a:xfrm>
          <a:prstGeom prst="rect">
            <a:avLst/>
          </a:prstGeom>
          <a:noFill/>
        </p:spPr>
        <p:txBody>
          <a:bodyPr wrap="square">
            <a:spAutoFit/>
          </a:bodyPr>
          <a:lstStyle/>
          <a:p>
            <a:pPr algn="ctr">
              <a:defRPr sz="900" b="1">
                <a:solidFill>
                  <a:srgbClr val="323232"/>
                </a:solidFill>
                <a:latin typeface="Calibri"/>
              </a:defRPr>
            </a:pPr>
            <a:r>
              <a:t>200+ interconnected</a:t>
            </a:r>
          </a:p>
        </p:txBody>
      </p:sp>
      <p:sp>
        <p:nvSpPr>
          <p:cNvPr id="241" name="Rectangle 240"/>
          <p:cNvSpPr/>
          <p:nvPr/>
        </p:nvSpPr>
        <p:spPr>
          <a:xfrm>
            <a:off x="9753600" y="6291072"/>
            <a:ext cx="17678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9753600" y="6291072"/>
            <a:ext cx="1767840" cy="256032"/>
          </a:xfrm>
          <a:prstGeom prst="rect">
            <a:avLst/>
          </a:prstGeom>
          <a:noFill/>
        </p:spPr>
        <p:txBody>
          <a:bodyPr wrap="square">
            <a:spAutoFit/>
          </a:bodyPr>
          <a:lstStyle/>
          <a:p>
            <a:pPr algn="ctr">
              <a:defRPr sz="900" b="1">
                <a:solidFill>
                  <a:srgbClr val="323232"/>
                </a:solidFill>
                <a:latin typeface="Calibri"/>
              </a:defRPr>
            </a:pPr>
            <a:r>
              <a:t>50-80 disconnected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48640"/>
          </a:xfrm>
          <a:prstGeom prst="rect">
            <a:avLst/>
          </a:prstGeom>
          <a:noFill/>
        </p:spPr>
        <p:txBody>
          <a:bodyPr wrap="square">
            <a:spAutoFit/>
          </a:bodyPr>
          <a:lstStyle/>
          <a:p>
            <a:pPr algn="l">
              <a:defRPr sz="2800" b="1">
                <a:solidFill>
                  <a:srgbClr val="002952"/>
                </a:solidFill>
                <a:latin typeface="Calibri"/>
              </a:defRPr>
            </a:pPr>
            <a:r>
              <a:t>Key Differentiators</a:t>
            </a:r>
          </a:p>
        </p:txBody>
      </p:sp>
      <p:sp>
        <p:nvSpPr>
          <p:cNvPr id="4" name="TextBox 3"/>
          <p:cNvSpPr txBox="1"/>
          <p:nvPr/>
        </p:nvSpPr>
        <p:spPr>
          <a:xfrm>
            <a:off x="548640" y="777240"/>
            <a:ext cx="10972800" cy="411480"/>
          </a:xfrm>
          <a:prstGeom prst="rect">
            <a:avLst/>
          </a:prstGeom>
          <a:noFill/>
        </p:spPr>
        <p:txBody>
          <a:bodyPr wrap="square">
            <a:spAutoFit/>
          </a:bodyPr>
          <a:lstStyle/>
          <a:p>
            <a:pPr algn="l">
              <a:defRPr sz="1300" b="0">
                <a:solidFill>
                  <a:srgbClr val="787878"/>
                </a:solidFill>
                <a:latin typeface="Calibri"/>
              </a:defRPr>
            </a:pPr>
            <a:r>
              <a:t>BTA is not a faster version of the same consulting playbook — it’s a fundamentally different model</a:t>
            </a:r>
          </a:p>
        </p:txBody>
      </p:sp>
      <p:sp>
        <p:nvSpPr>
          <p:cNvPr id="5" name="Rounded Rectangle 4"/>
          <p:cNvSpPr/>
          <p:nvPr/>
        </p:nvSpPr>
        <p:spPr>
          <a:xfrm>
            <a:off x="457200" y="1280160"/>
            <a:ext cx="3611880" cy="2194560"/>
          </a:xfrm>
          <a:prstGeom prst="roundRect">
            <a:avLst/>
          </a:prstGeom>
          <a:solidFill>
            <a:srgbClr val="F0F4F8"/>
          </a:solidFill>
          <a:ln w="12700">
            <a:solidFill>
              <a:srgbClr val="0066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80160"/>
            <a:ext cx="3611880" cy="73152"/>
          </a:xfrm>
          <a:prstGeom prst="rect">
            <a:avLst/>
          </a:prstGeom>
          <a:solidFill>
            <a:srgbClr val="00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3246120" cy="548640"/>
          </a:xfrm>
          <a:prstGeom prst="rect">
            <a:avLst/>
          </a:prstGeom>
          <a:noFill/>
        </p:spPr>
        <p:txBody>
          <a:bodyPr wrap="square">
            <a:spAutoFit/>
          </a:bodyPr>
          <a:lstStyle/>
          <a:p>
            <a:pPr algn="l">
              <a:defRPr sz="1400" b="1">
                <a:solidFill>
                  <a:srgbClr val="0066B2"/>
                </a:solidFill>
                <a:latin typeface="Calibri"/>
              </a:defRPr>
            </a:pPr>
            <a:r>
              <a:t>Data-Driven</a:t>
            </a:r>
            <a:br/>
            <a:r>
              <a:t>vs. Opinion-Driven</a:t>
            </a:r>
          </a:p>
        </p:txBody>
      </p:sp>
      <p:sp>
        <p:nvSpPr>
          <p:cNvPr id="8" name="TextBox 7"/>
          <p:cNvSpPr txBox="1"/>
          <p:nvPr/>
        </p:nvSpPr>
        <p:spPr>
          <a:xfrm>
            <a:off x="640080" y="2057400"/>
            <a:ext cx="3246120" cy="1280160"/>
          </a:xfrm>
          <a:prstGeom prst="rect">
            <a:avLst/>
          </a:prstGeom>
          <a:noFill/>
        </p:spPr>
        <p:txBody>
          <a:bodyPr wrap="square">
            <a:spAutoFit/>
          </a:bodyPr>
          <a:lstStyle/>
          <a:p>
            <a:pPr algn="l">
              <a:defRPr sz="1150" b="0">
                <a:solidFill>
                  <a:srgbClr val="323232"/>
                </a:solidFill>
                <a:latin typeface="Calibri"/>
              </a:defRPr>
            </a:pPr>
            <a:r>
              <a:t>Every SWOT entry, OKR target, and RICE score cites actual financial metrics and benchmarks. No groupthink, no HiPPO effect, no post-it note subjectivity.</a:t>
            </a:r>
          </a:p>
        </p:txBody>
      </p:sp>
      <p:sp>
        <p:nvSpPr>
          <p:cNvPr id="9" name="Rounded Rectangle 8"/>
          <p:cNvSpPr/>
          <p:nvPr/>
        </p:nvSpPr>
        <p:spPr>
          <a:xfrm>
            <a:off x="4251960" y="1280160"/>
            <a:ext cx="3611880" cy="2194560"/>
          </a:xfrm>
          <a:prstGeom prst="roundRect">
            <a:avLst/>
          </a:prstGeom>
          <a:solidFill>
            <a:srgbClr val="F0F4F8"/>
          </a:solidFill>
          <a:ln w="12700">
            <a:solidFill>
              <a:srgbClr val="007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51960" y="1280160"/>
            <a:ext cx="3611880" cy="73152"/>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1463040"/>
            <a:ext cx="3246120" cy="548640"/>
          </a:xfrm>
          <a:prstGeom prst="rect">
            <a:avLst/>
          </a:prstGeom>
          <a:noFill/>
        </p:spPr>
        <p:txBody>
          <a:bodyPr wrap="square">
            <a:spAutoFit/>
          </a:bodyPr>
          <a:lstStyle/>
          <a:p>
            <a:pPr algn="l">
              <a:defRPr sz="1400" b="1">
                <a:solidFill>
                  <a:srgbClr val="00796B"/>
                </a:solidFill>
                <a:latin typeface="Calibri"/>
              </a:defRPr>
            </a:pPr>
            <a:r>
              <a:t>4-Layer Strategy</a:t>
            </a:r>
            <a:br/>
            <a:r>
              <a:t>Model</a:t>
            </a:r>
          </a:p>
        </p:txBody>
      </p:sp>
      <p:sp>
        <p:nvSpPr>
          <p:cNvPr id="12" name="TextBox 11"/>
          <p:cNvSpPr txBox="1"/>
          <p:nvPr/>
        </p:nvSpPr>
        <p:spPr>
          <a:xfrm>
            <a:off x="4434840" y="2057400"/>
            <a:ext cx="3246120" cy="1280160"/>
          </a:xfrm>
          <a:prstGeom prst="rect">
            <a:avLst/>
          </a:prstGeom>
          <a:noFill/>
        </p:spPr>
        <p:txBody>
          <a:bodyPr wrap="square">
            <a:spAutoFit/>
          </a:bodyPr>
          <a:lstStyle/>
          <a:p>
            <a:pPr algn="l">
              <a:defRPr sz="1150" b="0">
                <a:solidFill>
                  <a:srgbClr val="323232"/>
                </a:solidFill>
                <a:latin typeface="Calibri"/>
              </a:defRPr>
            </a:pPr>
            <a:r>
              <a:t>Always covers Business + Digital + Data + Gen AI with cross-layer alignment notes. Traditional consulting covers 1-2 layers at best.</a:t>
            </a:r>
          </a:p>
        </p:txBody>
      </p:sp>
      <p:sp>
        <p:nvSpPr>
          <p:cNvPr id="13" name="Rounded Rectangle 12"/>
          <p:cNvSpPr/>
          <p:nvPr/>
        </p:nvSpPr>
        <p:spPr>
          <a:xfrm>
            <a:off x="8046720" y="1280160"/>
            <a:ext cx="3611880" cy="2194560"/>
          </a:xfrm>
          <a:prstGeom prst="roundRect">
            <a:avLst/>
          </a:prstGeom>
          <a:solidFill>
            <a:srgbClr val="F0F4F8"/>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280160"/>
            <a:ext cx="3611880" cy="731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463040"/>
            <a:ext cx="3246120" cy="548640"/>
          </a:xfrm>
          <a:prstGeom prst="rect">
            <a:avLst/>
          </a:prstGeom>
          <a:noFill/>
        </p:spPr>
        <p:txBody>
          <a:bodyPr wrap="square">
            <a:spAutoFit/>
          </a:bodyPr>
          <a:lstStyle/>
          <a:p>
            <a:pPr algn="l">
              <a:defRPr sz="1400" b="1">
                <a:solidFill>
                  <a:srgbClr val="2E7D32"/>
                </a:solidFill>
                <a:latin typeface="Calibri"/>
              </a:defRPr>
            </a:pPr>
            <a:r>
              <a:t>Quantitative RICE</a:t>
            </a:r>
            <a:br/>
            <a:r>
              <a:t>Prioritization</a:t>
            </a:r>
          </a:p>
        </p:txBody>
      </p:sp>
      <p:sp>
        <p:nvSpPr>
          <p:cNvPr id="16" name="TextBox 15"/>
          <p:cNvSpPr txBox="1"/>
          <p:nvPr/>
        </p:nvSpPr>
        <p:spPr>
          <a:xfrm>
            <a:off x="8229600" y="2057400"/>
            <a:ext cx="3246120" cy="1280160"/>
          </a:xfrm>
          <a:prstGeom prst="rect">
            <a:avLst/>
          </a:prstGeom>
          <a:noFill/>
        </p:spPr>
        <p:txBody>
          <a:bodyPr wrap="square">
            <a:spAutoFit/>
          </a:bodyPr>
          <a:lstStyle/>
          <a:p>
            <a:pPr algn="l">
              <a:defRPr sz="1150" b="0">
                <a:solidFill>
                  <a:srgbClr val="323232"/>
                </a:solidFill>
                <a:latin typeface="Calibri"/>
              </a:defRPr>
            </a:pPr>
            <a:r>
              <a:t>Formula-driven: Reach × Impact × Confidence / Effort. Roadmap phasing is algorithmic, not political. No dot voting.</a:t>
            </a:r>
          </a:p>
        </p:txBody>
      </p:sp>
      <p:sp>
        <p:nvSpPr>
          <p:cNvPr id="17" name="Rounded Rectangle 16"/>
          <p:cNvSpPr/>
          <p:nvPr/>
        </p:nvSpPr>
        <p:spPr>
          <a:xfrm>
            <a:off x="457200" y="3703320"/>
            <a:ext cx="3611880" cy="2194560"/>
          </a:xfrm>
          <a:prstGeom prst="roundRect">
            <a:avLst/>
          </a:prstGeom>
          <a:solidFill>
            <a:srgbClr val="F0F4F8"/>
          </a:solidFill>
          <a:ln w="12700">
            <a:solidFill>
              <a:srgbClr val="7B1F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703320"/>
            <a:ext cx="3611880" cy="73152"/>
          </a:xfrm>
          <a:prstGeom prst="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886200"/>
            <a:ext cx="3246120" cy="548640"/>
          </a:xfrm>
          <a:prstGeom prst="rect">
            <a:avLst/>
          </a:prstGeom>
          <a:noFill/>
        </p:spPr>
        <p:txBody>
          <a:bodyPr wrap="square">
            <a:spAutoFit/>
          </a:bodyPr>
          <a:lstStyle/>
          <a:p>
            <a:pPr algn="l">
              <a:defRPr sz="1400" b="1">
                <a:solidFill>
                  <a:srgbClr val="7B1FA2"/>
                </a:solidFill>
                <a:latin typeface="Calibri"/>
              </a:defRPr>
            </a:pPr>
            <a:r>
              <a:t>Complete OKR</a:t>
            </a:r>
            <a:br/>
            <a:r>
              <a:t>Cascade</a:t>
            </a:r>
          </a:p>
        </p:txBody>
      </p:sp>
      <p:sp>
        <p:nvSpPr>
          <p:cNvPr id="20" name="TextBox 19"/>
          <p:cNvSpPr txBox="1"/>
          <p:nvPr/>
        </p:nvSpPr>
        <p:spPr>
          <a:xfrm>
            <a:off x="640080" y="4480560"/>
            <a:ext cx="3246120" cy="1280160"/>
          </a:xfrm>
          <a:prstGeom prst="rect">
            <a:avLst/>
          </a:prstGeom>
          <a:noFill/>
        </p:spPr>
        <p:txBody>
          <a:bodyPr wrap="square">
            <a:spAutoFit/>
          </a:bodyPr>
          <a:lstStyle/>
          <a:p>
            <a:pPr algn="l">
              <a:defRPr sz="1150" b="0">
                <a:solidFill>
                  <a:srgbClr val="323232"/>
                </a:solidFill>
                <a:latin typeface="Calibri"/>
              </a:defRPr>
            </a:pPr>
            <a:r>
              <a:t>3-tier cascade: Strategic → Product → Delivery. Every team’s sprint goals ladder up to a board-level objective. Traditional: strategic OKRs only (if any).</a:t>
            </a:r>
          </a:p>
        </p:txBody>
      </p:sp>
      <p:sp>
        <p:nvSpPr>
          <p:cNvPr id="21" name="Rounded Rectangle 20"/>
          <p:cNvSpPr/>
          <p:nvPr/>
        </p:nvSpPr>
        <p:spPr>
          <a:xfrm>
            <a:off x="4251960" y="3703320"/>
            <a:ext cx="3611880" cy="2194560"/>
          </a:xfrm>
          <a:prstGeom prst="roundRect">
            <a:avLst/>
          </a:prstGeom>
          <a:solidFill>
            <a:srgbClr val="F0F4F8"/>
          </a:solidFill>
          <a:ln w="12700">
            <a:solidFill>
              <a:srgbClr val="D35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51960" y="3703320"/>
            <a:ext cx="3611880" cy="73152"/>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4840" y="3886200"/>
            <a:ext cx="3246120" cy="548640"/>
          </a:xfrm>
          <a:prstGeom prst="rect">
            <a:avLst/>
          </a:prstGeom>
          <a:noFill/>
        </p:spPr>
        <p:txBody>
          <a:bodyPr wrap="square">
            <a:spAutoFit/>
          </a:bodyPr>
          <a:lstStyle/>
          <a:p>
            <a:pPr algn="l">
              <a:defRPr sz="1400" b="1">
                <a:solidFill>
                  <a:srgbClr val="D35400"/>
                </a:solidFill>
                <a:latin typeface="Calibri"/>
              </a:defRPr>
            </a:pPr>
            <a:r>
              <a:t>End-to-End</a:t>
            </a:r>
            <a:br/>
            <a:r>
              <a:t>Traceability</a:t>
            </a:r>
          </a:p>
        </p:txBody>
      </p:sp>
      <p:sp>
        <p:nvSpPr>
          <p:cNvPr id="24" name="TextBox 23"/>
          <p:cNvSpPr txBox="1"/>
          <p:nvPr/>
        </p:nvSpPr>
        <p:spPr>
          <a:xfrm>
            <a:off x="4434840" y="4480560"/>
            <a:ext cx="3246120" cy="1280160"/>
          </a:xfrm>
          <a:prstGeom prst="rect">
            <a:avLst/>
          </a:prstGeom>
          <a:noFill/>
        </p:spPr>
        <p:txBody>
          <a:bodyPr wrap="square">
            <a:spAutoFit/>
          </a:bodyPr>
          <a:lstStyle/>
          <a:p>
            <a:pPr algn="l">
              <a:defRPr sz="1150" b="0">
                <a:solidFill>
                  <a:srgbClr val="323232"/>
                </a:solidFill>
                <a:latin typeface="Calibri"/>
              </a:defRPr>
            </a:pPr>
            <a:r>
              <a:t>Strategy → OKR → Initiative → Epic → Feature → Acceptance Criteria. When priorities shift, trace impact in both directions. Traditional: PowerPoint → ??? → Jira.</a:t>
            </a:r>
          </a:p>
        </p:txBody>
      </p:sp>
      <p:sp>
        <p:nvSpPr>
          <p:cNvPr id="25" name="Rounded Rectangle 24"/>
          <p:cNvSpPr/>
          <p:nvPr/>
        </p:nvSpPr>
        <p:spPr>
          <a:xfrm>
            <a:off x="8046720" y="3703320"/>
            <a:ext cx="3611880" cy="2194560"/>
          </a:xfrm>
          <a:prstGeom prst="roundRect">
            <a:avLst/>
          </a:prstGeom>
          <a:solidFill>
            <a:srgbClr val="F0F4F8"/>
          </a:solidFill>
          <a:ln w="12700">
            <a:solidFill>
              <a:srgbClr val="B7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46720" y="3703320"/>
            <a:ext cx="3611880" cy="73152"/>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3886200"/>
            <a:ext cx="3246120" cy="548640"/>
          </a:xfrm>
          <a:prstGeom prst="rect">
            <a:avLst/>
          </a:prstGeom>
          <a:noFill/>
        </p:spPr>
        <p:txBody>
          <a:bodyPr wrap="square">
            <a:spAutoFit/>
          </a:bodyPr>
          <a:lstStyle/>
          <a:p>
            <a:pPr algn="l">
              <a:defRPr sz="1400" b="1">
                <a:solidFill>
                  <a:srgbClr val="B71C1C"/>
                </a:solidFill>
                <a:latin typeface="Calibri"/>
              </a:defRPr>
            </a:pPr>
            <a:r>
              <a:t>$0.05 Iterative</a:t>
            </a:r>
            <a:br/>
            <a:r>
              <a:t>Refinement</a:t>
            </a:r>
          </a:p>
        </p:txBody>
      </p:sp>
      <p:sp>
        <p:nvSpPr>
          <p:cNvPr id="28" name="TextBox 27"/>
          <p:cNvSpPr txBox="1"/>
          <p:nvPr/>
        </p:nvSpPr>
        <p:spPr>
          <a:xfrm>
            <a:off x="8229600" y="4480560"/>
            <a:ext cx="3246120" cy="1280160"/>
          </a:xfrm>
          <a:prstGeom prst="rect">
            <a:avLst/>
          </a:prstGeom>
          <a:noFill/>
        </p:spPr>
        <p:txBody>
          <a:bodyPr wrap="square">
            <a:spAutoFit/>
          </a:bodyPr>
          <a:lstStyle/>
          <a:p>
            <a:pPr algn="l">
              <a:defRPr sz="1150" b="0">
                <a:solidFill>
                  <a:srgbClr val="323232"/>
                </a:solidFill>
                <a:latin typeface="Calibri"/>
              </a:defRPr>
            </a:pPr>
            <a:r>
              <a:t>Re-run entire analysis after any market change for cents. Continuous transformation replaces periodic consulting engagements ($50K+ to re-engage).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48640"/>
          </a:xfrm>
          <a:prstGeom prst="rect">
            <a:avLst/>
          </a:prstGeom>
          <a:noFill/>
        </p:spPr>
        <p:txBody>
          <a:bodyPr wrap="square">
            <a:spAutoFit/>
          </a:bodyPr>
          <a:lstStyle/>
          <a:p>
            <a:pPr algn="l">
              <a:defRPr sz="2800" b="1">
                <a:solidFill>
                  <a:srgbClr val="002952"/>
                </a:solidFill>
                <a:latin typeface="Calibri"/>
              </a:defRPr>
            </a:pPr>
            <a:r>
              <a:t>Human-in-the-Loop Governance</a:t>
            </a:r>
          </a:p>
        </p:txBody>
      </p:sp>
      <p:sp>
        <p:nvSpPr>
          <p:cNvPr id="4" name="TextBox 3"/>
          <p:cNvSpPr txBox="1"/>
          <p:nvPr/>
        </p:nvSpPr>
        <p:spPr>
          <a:xfrm>
            <a:off x="548640" y="777240"/>
            <a:ext cx="10972800" cy="411480"/>
          </a:xfrm>
          <a:prstGeom prst="rect">
            <a:avLst/>
          </a:prstGeom>
          <a:noFill/>
        </p:spPr>
        <p:txBody>
          <a:bodyPr wrap="square">
            <a:spAutoFit/>
          </a:bodyPr>
          <a:lstStyle/>
          <a:p>
            <a:pPr algn="l">
              <a:defRPr sz="1300" b="0">
                <a:solidFill>
                  <a:srgbClr val="787878"/>
                </a:solidFill>
                <a:latin typeface="Calibri"/>
              </a:defRPr>
            </a:pPr>
            <a:r>
              <a:t>AI accelerates analysis. Humans retain full decision authority. 7 review gates with complete audit trail.</a:t>
            </a:r>
          </a:p>
        </p:txBody>
      </p:sp>
      <p:sp>
        <p:nvSpPr>
          <p:cNvPr id="5" name="TextBox 4"/>
          <p:cNvSpPr txBox="1"/>
          <p:nvPr/>
        </p:nvSpPr>
        <p:spPr>
          <a:xfrm>
            <a:off x="548640" y="1234440"/>
            <a:ext cx="10972800" cy="640080"/>
          </a:xfrm>
          <a:prstGeom prst="rect">
            <a:avLst/>
          </a:prstGeom>
          <a:noFill/>
        </p:spPr>
        <p:txBody>
          <a:bodyPr wrap="square">
            <a:spAutoFit/>
          </a:bodyPr>
          <a:lstStyle/>
          <a:p>
            <a:pPr algn="l">
              <a:defRPr sz="1300" b="0">
                <a:solidFill>
                  <a:srgbClr val="323232"/>
                </a:solidFill>
                <a:latin typeface="Calibri"/>
              </a:defRPr>
            </a:pPr>
            <a:r>
              <a:t>In banking, AI cannot make autonomous decisions about strategy or resource allocation. OCC, Fed, and FDIC expect human accountability for every material decision. Model risk management frameworks require documented oversight of AI-generated outputs. BTA addresses this with mandatory review gates — a designated senior leader must approve or reject outputs before they flow downstream.</a:t>
            </a:r>
          </a:p>
        </p:txBody>
      </p:sp>
      <p:sp>
        <p:nvSpPr>
          <p:cNvPr id="6" name="Rectangle 5"/>
          <p:cNvSpPr/>
          <p:nvPr/>
        </p:nvSpPr>
        <p:spPr>
          <a:xfrm>
            <a:off x="548640" y="2103120"/>
            <a:ext cx="2212848"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03120"/>
            <a:ext cx="2212848" cy="256032"/>
          </a:xfrm>
          <a:prstGeom prst="rect">
            <a:avLst/>
          </a:prstGeom>
          <a:noFill/>
        </p:spPr>
        <p:txBody>
          <a:bodyPr wrap="square">
            <a:spAutoFit/>
          </a:bodyPr>
          <a:lstStyle/>
          <a:p>
            <a:pPr algn="ctr">
              <a:defRPr sz="950" b="1">
                <a:solidFill>
                  <a:srgbClr val="FFFFFF"/>
                </a:solidFill>
                <a:latin typeface="Calibri"/>
              </a:defRPr>
            </a:pPr>
            <a:r>
              <a:t>Gate</a:t>
            </a:r>
          </a:p>
        </p:txBody>
      </p:sp>
      <p:sp>
        <p:nvSpPr>
          <p:cNvPr id="8" name="Rectangle 7"/>
          <p:cNvSpPr/>
          <p:nvPr/>
        </p:nvSpPr>
        <p:spPr>
          <a:xfrm>
            <a:off x="2761488" y="2103120"/>
            <a:ext cx="2212848"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1488" y="2103120"/>
            <a:ext cx="2212848" cy="256032"/>
          </a:xfrm>
          <a:prstGeom prst="rect">
            <a:avLst/>
          </a:prstGeom>
          <a:noFill/>
        </p:spPr>
        <p:txBody>
          <a:bodyPr wrap="square">
            <a:spAutoFit/>
          </a:bodyPr>
          <a:lstStyle/>
          <a:p>
            <a:pPr algn="ctr">
              <a:defRPr sz="950" b="1">
                <a:solidFill>
                  <a:srgbClr val="FFFFFF"/>
                </a:solidFill>
                <a:latin typeface="Calibri"/>
              </a:defRPr>
            </a:pPr>
            <a:r>
              <a:t>Step</a:t>
            </a:r>
          </a:p>
        </p:txBody>
      </p:sp>
      <p:sp>
        <p:nvSpPr>
          <p:cNvPr id="10" name="Rectangle 9"/>
          <p:cNvSpPr/>
          <p:nvPr/>
        </p:nvSpPr>
        <p:spPr>
          <a:xfrm>
            <a:off x="4974336" y="2103120"/>
            <a:ext cx="2212848"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74336" y="2103120"/>
            <a:ext cx="2212848" cy="256032"/>
          </a:xfrm>
          <a:prstGeom prst="rect">
            <a:avLst/>
          </a:prstGeom>
          <a:noFill/>
        </p:spPr>
        <p:txBody>
          <a:bodyPr wrap="square">
            <a:spAutoFit/>
          </a:bodyPr>
          <a:lstStyle/>
          <a:p>
            <a:pPr algn="ctr">
              <a:defRPr sz="950" b="1">
                <a:solidFill>
                  <a:srgbClr val="FFFFFF"/>
                </a:solidFill>
                <a:latin typeface="Calibri"/>
              </a:defRPr>
            </a:pPr>
            <a:r>
              <a:t>Reviewer</a:t>
            </a:r>
          </a:p>
        </p:txBody>
      </p:sp>
      <p:sp>
        <p:nvSpPr>
          <p:cNvPr id="12" name="Rectangle 11"/>
          <p:cNvSpPr/>
          <p:nvPr/>
        </p:nvSpPr>
        <p:spPr>
          <a:xfrm>
            <a:off x="7187184" y="2103120"/>
            <a:ext cx="2212848"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87184" y="2103120"/>
            <a:ext cx="2212848" cy="256032"/>
          </a:xfrm>
          <a:prstGeom prst="rect">
            <a:avLst/>
          </a:prstGeom>
          <a:noFill/>
        </p:spPr>
        <p:txBody>
          <a:bodyPr wrap="square">
            <a:spAutoFit/>
          </a:bodyPr>
          <a:lstStyle/>
          <a:p>
            <a:pPr algn="ctr">
              <a:defRPr sz="950" b="1">
                <a:solidFill>
                  <a:srgbClr val="FFFFFF"/>
                </a:solidFill>
                <a:latin typeface="Calibri"/>
              </a:defRPr>
            </a:pPr>
            <a:r>
              <a:t>What They Validate</a:t>
            </a:r>
          </a:p>
        </p:txBody>
      </p:sp>
      <p:sp>
        <p:nvSpPr>
          <p:cNvPr id="14" name="Rectangle 13"/>
          <p:cNvSpPr/>
          <p:nvPr/>
        </p:nvSpPr>
        <p:spPr>
          <a:xfrm>
            <a:off x="9400032" y="2103120"/>
            <a:ext cx="2212848" cy="256032"/>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00032" y="2103120"/>
            <a:ext cx="2212848" cy="256032"/>
          </a:xfrm>
          <a:prstGeom prst="rect">
            <a:avLst/>
          </a:prstGeom>
          <a:noFill/>
        </p:spPr>
        <p:txBody>
          <a:bodyPr wrap="square">
            <a:spAutoFit/>
          </a:bodyPr>
          <a:lstStyle/>
          <a:p>
            <a:pPr algn="ctr">
              <a:defRPr sz="950" b="1">
                <a:solidFill>
                  <a:srgbClr val="FFFFFF"/>
                </a:solidFill>
                <a:latin typeface="Calibri"/>
              </a:defRPr>
            </a:pPr>
            <a:r>
              <a:t>USB Status</a:t>
            </a:r>
          </a:p>
        </p:txBody>
      </p:sp>
      <p:sp>
        <p:nvSpPr>
          <p:cNvPr id="16" name="Rectangle 15"/>
          <p:cNvSpPr/>
          <p:nvPr/>
        </p:nvSpPr>
        <p:spPr>
          <a:xfrm>
            <a:off x="548640" y="2359152"/>
            <a:ext cx="2212848"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359152"/>
            <a:ext cx="2212848" cy="256032"/>
          </a:xfrm>
          <a:prstGeom prst="rect">
            <a:avLst/>
          </a:prstGeom>
          <a:noFill/>
        </p:spPr>
        <p:txBody>
          <a:bodyPr wrap="square">
            <a:spAutoFit/>
          </a:bodyPr>
          <a:lstStyle/>
          <a:p>
            <a:pPr algn="ctr">
              <a:defRPr sz="950" b="0">
                <a:solidFill>
                  <a:srgbClr val="323232"/>
                </a:solidFill>
                <a:latin typeface="Calibri"/>
              </a:defRPr>
            </a:pPr>
            <a:r>
              <a:t>Gate 1</a:t>
            </a:r>
          </a:p>
        </p:txBody>
      </p:sp>
      <p:sp>
        <p:nvSpPr>
          <p:cNvPr id="18" name="Rectangle 17"/>
          <p:cNvSpPr/>
          <p:nvPr/>
        </p:nvSpPr>
        <p:spPr>
          <a:xfrm>
            <a:off x="2761488" y="2359152"/>
            <a:ext cx="2212848"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1488" y="2359152"/>
            <a:ext cx="2212848" cy="256032"/>
          </a:xfrm>
          <a:prstGeom prst="rect">
            <a:avLst/>
          </a:prstGeom>
          <a:noFill/>
        </p:spPr>
        <p:txBody>
          <a:bodyPr wrap="square">
            <a:spAutoFit/>
          </a:bodyPr>
          <a:lstStyle/>
          <a:p>
            <a:pPr algn="ctr">
              <a:defRPr sz="950" b="0">
                <a:solidFill>
                  <a:srgbClr val="323232"/>
                </a:solidFill>
                <a:latin typeface="Calibri"/>
              </a:defRPr>
            </a:pPr>
            <a:r>
              <a:t>Financial Data &amp; KPIs</a:t>
            </a:r>
          </a:p>
        </p:txBody>
      </p:sp>
      <p:sp>
        <p:nvSpPr>
          <p:cNvPr id="20" name="Rectangle 19"/>
          <p:cNvSpPr/>
          <p:nvPr/>
        </p:nvSpPr>
        <p:spPr>
          <a:xfrm>
            <a:off x="4974336" y="2359152"/>
            <a:ext cx="2212848"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74336" y="2359152"/>
            <a:ext cx="2212848" cy="256032"/>
          </a:xfrm>
          <a:prstGeom prst="rect">
            <a:avLst/>
          </a:prstGeom>
          <a:noFill/>
        </p:spPr>
        <p:txBody>
          <a:bodyPr wrap="square">
            <a:spAutoFit/>
          </a:bodyPr>
          <a:lstStyle/>
          <a:p>
            <a:pPr algn="ctr">
              <a:defRPr sz="950" b="0">
                <a:solidFill>
                  <a:srgbClr val="323232"/>
                </a:solidFill>
                <a:latin typeface="Calibri"/>
              </a:defRPr>
            </a:pPr>
            <a:r>
              <a:t>CFO Office</a:t>
            </a:r>
          </a:p>
        </p:txBody>
      </p:sp>
      <p:sp>
        <p:nvSpPr>
          <p:cNvPr id="22" name="Rectangle 21"/>
          <p:cNvSpPr/>
          <p:nvPr/>
        </p:nvSpPr>
        <p:spPr>
          <a:xfrm>
            <a:off x="7187184" y="2359152"/>
            <a:ext cx="2212848"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87184" y="2359152"/>
            <a:ext cx="2212848" cy="256032"/>
          </a:xfrm>
          <a:prstGeom prst="rect">
            <a:avLst/>
          </a:prstGeom>
          <a:noFill/>
        </p:spPr>
        <p:txBody>
          <a:bodyPr wrap="square">
            <a:spAutoFit/>
          </a:bodyPr>
          <a:lstStyle/>
          <a:p>
            <a:pPr algn="ctr">
              <a:defRPr sz="950" b="0">
                <a:solidFill>
                  <a:srgbClr val="323232"/>
                </a:solidFill>
                <a:latin typeface="Calibri"/>
              </a:defRPr>
            </a:pPr>
            <a:r>
              <a:t>KPIs match internal reporting and 10-K filings</a:t>
            </a:r>
          </a:p>
        </p:txBody>
      </p:sp>
      <p:sp>
        <p:nvSpPr>
          <p:cNvPr id="24" name="Rectangle 23"/>
          <p:cNvSpPr/>
          <p:nvPr/>
        </p:nvSpPr>
        <p:spPr>
          <a:xfrm>
            <a:off x="9400032" y="2359152"/>
            <a:ext cx="2212848"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00032" y="2359152"/>
            <a:ext cx="2212848" cy="256032"/>
          </a:xfrm>
          <a:prstGeom prst="rect">
            <a:avLst/>
          </a:prstGeom>
          <a:noFill/>
        </p:spPr>
        <p:txBody>
          <a:bodyPr wrap="square">
            <a:spAutoFit/>
          </a:bodyPr>
          <a:lstStyle/>
          <a:p>
            <a:pPr algn="ctr">
              <a:defRPr sz="950" b="0">
                <a:solidFill>
                  <a:srgbClr val="323232"/>
                </a:solidFill>
                <a:latin typeface="Calibri"/>
              </a:defRPr>
            </a:pPr>
            <a:r>
              <a:t>Approved</a:t>
            </a:r>
          </a:p>
        </p:txBody>
      </p:sp>
      <p:sp>
        <p:nvSpPr>
          <p:cNvPr id="26" name="Rectangle 25"/>
          <p:cNvSpPr/>
          <p:nvPr/>
        </p:nvSpPr>
        <p:spPr>
          <a:xfrm>
            <a:off x="548640" y="2615184"/>
            <a:ext cx="2212848"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2615184"/>
            <a:ext cx="2212848" cy="256032"/>
          </a:xfrm>
          <a:prstGeom prst="rect">
            <a:avLst/>
          </a:prstGeom>
          <a:noFill/>
        </p:spPr>
        <p:txBody>
          <a:bodyPr wrap="square">
            <a:spAutoFit/>
          </a:bodyPr>
          <a:lstStyle/>
          <a:p>
            <a:pPr algn="ctr">
              <a:defRPr sz="950" b="0">
                <a:solidFill>
                  <a:srgbClr val="323232"/>
                </a:solidFill>
                <a:latin typeface="Calibri"/>
              </a:defRPr>
            </a:pPr>
            <a:r>
              <a:t>Gate 2</a:t>
            </a:r>
          </a:p>
        </p:txBody>
      </p:sp>
      <p:sp>
        <p:nvSpPr>
          <p:cNvPr id="28" name="Rectangle 27"/>
          <p:cNvSpPr/>
          <p:nvPr/>
        </p:nvSpPr>
        <p:spPr>
          <a:xfrm>
            <a:off x="2761488" y="2615184"/>
            <a:ext cx="2212848"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1488" y="2615184"/>
            <a:ext cx="2212848" cy="256032"/>
          </a:xfrm>
          <a:prstGeom prst="rect">
            <a:avLst/>
          </a:prstGeom>
          <a:noFill/>
        </p:spPr>
        <p:txBody>
          <a:bodyPr wrap="square">
            <a:spAutoFit/>
          </a:bodyPr>
          <a:lstStyle/>
          <a:p>
            <a:pPr algn="ctr">
              <a:defRPr sz="950" b="0">
                <a:solidFill>
                  <a:srgbClr val="323232"/>
                </a:solidFill>
                <a:latin typeface="Calibri"/>
              </a:defRPr>
            </a:pPr>
            <a:r>
              <a:t>KPI Validation</a:t>
            </a:r>
          </a:p>
        </p:txBody>
      </p:sp>
      <p:sp>
        <p:nvSpPr>
          <p:cNvPr id="30" name="Rectangle 29"/>
          <p:cNvSpPr/>
          <p:nvPr/>
        </p:nvSpPr>
        <p:spPr>
          <a:xfrm>
            <a:off x="4974336" y="2615184"/>
            <a:ext cx="2212848"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74336" y="2615184"/>
            <a:ext cx="2212848" cy="256032"/>
          </a:xfrm>
          <a:prstGeom prst="rect">
            <a:avLst/>
          </a:prstGeom>
          <a:noFill/>
        </p:spPr>
        <p:txBody>
          <a:bodyPr wrap="square">
            <a:spAutoFit/>
          </a:bodyPr>
          <a:lstStyle/>
          <a:p>
            <a:pPr algn="ctr">
              <a:defRPr sz="950" b="0">
                <a:solidFill>
                  <a:srgbClr val="323232"/>
                </a:solidFill>
                <a:latin typeface="Calibri"/>
              </a:defRPr>
            </a:pPr>
            <a:r>
              <a:t>Head of FP&amp;A</a:t>
            </a:r>
          </a:p>
        </p:txBody>
      </p:sp>
      <p:sp>
        <p:nvSpPr>
          <p:cNvPr id="32" name="Rectangle 31"/>
          <p:cNvSpPr/>
          <p:nvPr/>
        </p:nvSpPr>
        <p:spPr>
          <a:xfrm>
            <a:off x="7187184" y="2615184"/>
            <a:ext cx="2212848"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87184" y="2615184"/>
            <a:ext cx="2212848" cy="256032"/>
          </a:xfrm>
          <a:prstGeom prst="rect">
            <a:avLst/>
          </a:prstGeom>
          <a:noFill/>
        </p:spPr>
        <p:txBody>
          <a:bodyPr wrap="square">
            <a:spAutoFit/>
          </a:bodyPr>
          <a:lstStyle/>
          <a:p>
            <a:pPr algn="ctr">
              <a:defRPr sz="950" b="0">
                <a:solidFill>
                  <a:srgbClr val="323232"/>
                </a:solidFill>
                <a:latin typeface="Calibri"/>
              </a:defRPr>
            </a:pPr>
            <a:r>
              <a:t>Ops metrics align with internal reporting</a:t>
            </a:r>
          </a:p>
        </p:txBody>
      </p:sp>
      <p:sp>
        <p:nvSpPr>
          <p:cNvPr id="34" name="Rectangle 33"/>
          <p:cNvSpPr/>
          <p:nvPr/>
        </p:nvSpPr>
        <p:spPr>
          <a:xfrm>
            <a:off x="9400032" y="2615184"/>
            <a:ext cx="2212848"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00032" y="2615184"/>
            <a:ext cx="2212848" cy="256032"/>
          </a:xfrm>
          <a:prstGeom prst="rect">
            <a:avLst/>
          </a:prstGeom>
          <a:noFill/>
        </p:spPr>
        <p:txBody>
          <a:bodyPr wrap="square">
            <a:spAutoFit/>
          </a:bodyPr>
          <a:lstStyle/>
          <a:p>
            <a:pPr algn="ctr">
              <a:defRPr sz="950" b="0">
                <a:solidFill>
                  <a:srgbClr val="323232"/>
                </a:solidFill>
                <a:latin typeface="Calibri"/>
              </a:defRPr>
            </a:pPr>
            <a:r>
              <a:t>Approved</a:t>
            </a:r>
          </a:p>
        </p:txBody>
      </p:sp>
      <p:sp>
        <p:nvSpPr>
          <p:cNvPr id="36" name="Rectangle 35"/>
          <p:cNvSpPr/>
          <p:nvPr/>
        </p:nvSpPr>
        <p:spPr>
          <a:xfrm>
            <a:off x="548640" y="2871216"/>
            <a:ext cx="2212848"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2871216"/>
            <a:ext cx="2212848" cy="256032"/>
          </a:xfrm>
          <a:prstGeom prst="rect">
            <a:avLst/>
          </a:prstGeom>
          <a:noFill/>
        </p:spPr>
        <p:txBody>
          <a:bodyPr wrap="square">
            <a:spAutoFit/>
          </a:bodyPr>
          <a:lstStyle/>
          <a:p>
            <a:pPr algn="ctr">
              <a:defRPr sz="950" b="0">
                <a:solidFill>
                  <a:srgbClr val="323232"/>
                </a:solidFill>
                <a:latin typeface="Calibri"/>
              </a:defRPr>
            </a:pPr>
            <a:r>
              <a:t>Gate 3</a:t>
            </a:r>
          </a:p>
        </p:txBody>
      </p:sp>
      <p:sp>
        <p:nvSpPr>
          <p:cNvPr id="38" name="Rectangle 37"/>
          <p:cNvSpPr/>
          <p:nvPr/>
        </p:nvSpPr>
        <p:spPr>
          <a:xfrm>
            <a:off x="2761488" y="2871216"/>
            <a:ext cx="2212848"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761488" y="2871216"/>
            <a:ext cx="2212848" cy="256032"/>
          </a:xfrm>
          <a:prstGeom prst="rect">
            <a:avLst/>
          </a:prstGeom>
          <a:noFill/>
        </p:spPr>
        <p:txBody>
          <a:bodyPr wrap="square">
            <a:spAutoFit/>
          </a:bodyPr>
          <a:lstStyle/>
          <a:p>
            <a:pPr algn="ctr">
              <a:defRPr sz="950" b="0">
                <a:solidFill>
                  <a:srgbClr val="323232"/>
                </a:solidFill>
                <a:latin typeface="Calibri"/>
              </a:defRPr>
            </a:pPr>
            <a:r>
              <a:t>Value Stream Mapping</a:t>
            </a:r>
          </a:p>
        </p:txBody>
      </p:sp>
      <p:sp>
        <p:nvSpPr>
          <p:cNvPr id="40" name="Rectangle 39"/>
          <p:cNvSpPr/>
          <p:nvPr/>
        </p:nvSpPr>
        <p:spPr>
          <a:xfrm>
            <a:off x="4974336" y="2871216"/>
            <a:ext cx="2212848"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74336" y="2871216"/>
            <a:ext cx="2212848" cy="256032"/>
          </a:xfrm>
          <a:prstGeom prst="rect">
            <a:avLst/>
          </a:prstGeom>
          <a:noFill/>
        </p:spPr>
        <p:txBody>
          <a:bodyPr wrap="square">
            <a:spAutoFit/>
          </a:bodyPr>
          <a:lstStyle/>
          <a:p>
            <a:pPr algn="ctr">
              <a:defRPr sz="950" b="0">
                <a:solidFill>
                  <a:srgbClr val="323232"/>
                </a:solidFill>
                <a:latin typeface="Calibri"/>
              </a:defRPr>
            </a:pPr>
            <a:r>
              <a:t>COO</a:t>
            </a:r>
          </a:p>
        </p:txBody>
      </p:sp>
      <p:sp>
        <p:nvSpPr>
          <p:cNvPr id="42" name="Rectangle 41"/>
          <p:cNvSpPr/>
          <p:nvPr/>
        </p:nvSpPr>
        <p:spPr>
          <a:xfrm>
            <a:off x="7187184" y="2871216"/>
            <a:ext cx="2212848"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87184" y="2871216"/>
            <a:ext cx="2212848" cy="256032"/>
          </a:xfrm>
          <a:prstGeom prst="rect">
            <a:avLst/>
          </a:prstGeom>
          <a:noFill/>
        </p:spPr>
        <p:txBody>
          <a:bodyPr wrap="square">
            <a:spAutoFit/>
          </a:bodyPr>
          <a:lstStyle/>
          <a:p>
            <a:pPr algn="ctr">
              <a:defRPr sz="950" b="0">
                <a:solidFill>
                  <a:srgbClr val="323232"/>
                </a:solidFill>
                <a:latin typeface="Calibri"/>
              </a:defRPr>
            </a:pPr>
            <a:r>
              <a:t>Process maps and bottleneck identification accurate</a:t>
            </a:r>
          </a:p>
        </p:txBody>
      </p:sp>
      <p:sp>
        <p:nvSpPr>
          <p:cNvPr id="44" name="Rectangle 43"/>
          <p:cNvSpPr/>
          <p:nvPr/>
        </p:nvSpPr>
        <p:spPr>
          <a:xfrm>
            <a:off x="9400032" y="2871216"/>
            <a:ext cx="2212848"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400032" y="2871216"/>
            <a:ext cx="2212848" cy="256032"/>
          </a:xfrm>
          <a:prstGeom prst="rect">
            <a:avLst/>
          </a:prstGeom>
          <a:noFill/>
        </p:spPr>
        <p:txBody>
          <a:bodyPr wrap="square">
            <a:spAutoFit/>
          </a:bodyPr>
          <a:lstStyle/>
          <a:p>
            <a:pPr algn="ctr">
              <a:defRPr sz="950" b="0">
                <a:solidFill>
                  <a:srgbClr val="323232"/>
                </a:solidFill>
                <a:latin typeface="Calibri"/>
              </a:defRPr>
            </a:pPr>
            <a:r>
              <a:t>Approved</a:t>
            </a:r>
          </a:p>
        </p:txBody>
      </p:sp>
      <p:sp>
        <p:nvSpPr>
          <p:cNvPr id="46" name="Rectangle 45"/>
          <p:cNvSpPr/>
          <p:nvPr/>
        </p:nvSpPr>
        <p:spPr>
          <a:xfrm>
            <a:off x="548640" y="3127248"/>
            <a:ext cx="2212848"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3127248"/>
            <a:ext cx="2212848" cy="256032"/>
          </a:xfrm>
          <a:prstGeom prst="rect">
            <a:avLst/>
          </a:prstGeom>
          <a:noFill/>
        </p:spPr>
        <p:txBody>
          <a:bodyPr wrap="square">
            <a:spAutoFit/>
          </a:bodyPr>
          <a:lstStyle/>
          <a:p>
            <a:pPr algn="ctr">
              <a:defRPr sz="950" b="0">
                <a:solidFill>
                  <a:srgbClr val="323232"/>
                </a:solidFill>
                <a:latin typeface="Calibri"/>
              </a:defRPr>
            </a:pPr>
            <a:r>
              <a:t>Gate 4</a:t>
            </a:r>
          </a:p>
        </p:txBody>
      </p:sp>
      <p:sp>
        <p:nvSpPr>
          <p:cNvPr id="48" name="Rectangle 47"/>
          <p:cNvSpPr/>
          <p:nvPr/>
        </p:nvSpPr>
        <p:spPr>
          <a:xfrm>
            <a:off x="2761488" y="3127248"/>
            <a:ext cx="2212848"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61488" y="3127248"/>
            <a:ext cx="2212848" cy="256032"/>
          </a:xfrm>
          <a:prstGeom prst="rect">
            <a:avLst/>
          </a:prstGeom>
          <a:noFill/>
        </p:spPr>
        <p:txBody>
          <a:bodyPr wrap="square">
            <a:spAutoFit/>
          </a:bodyPr>
          <a:lstStyle/>
          <a:p>
            <a:pPr algn="ctr">
              <a:defRPr sz="950" b="0">
                <a:solidFill>
                  <a:srgbClr val="323232"/>
                </a:solidFill>
                <a:latin typeface="Calibri"/>
              </a:defRPr>
            </a:pPr>
            <a:r>
              <a:t>SWOT/TOWS Analysis</a:t>
            </a:r>
          </a:p>
        </p:txBody>
      </p:sp>
      <p:sp>
        <p:nvSpPr>
          <p:cNvPr id="50" name="Rectangle 49"/>
          <p:cNvSpPr/>
          <p:nvPr/>
        </p:nvSpPr>
        <p:spPr>
          <a:xfrm>
            <a:off x="4974336" y="3127248"/>
            <a:ext cx="2212848"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974336" y="3127248"/>
            <a:ext cx="2212848" cy="256032"/>
          </a:xfrm>
          <a:prstGeom prst="rect">
            <a:avLst/>
          </a:prstGeom>
          <a:noFill/>
        </p:spPr>
        <p:txBody>
          <a:bodyPr wrap="square">
            <a:spAutoFit/>
          </a:bodyPr>
          <a:lstStyle/>
          <a:p>
            <a:pPr algn="ctr">
              <a:defRPr sz="950" b="0">
                <a:solidFill>
                  <a:srgbClr val="323232"/>
                </a:solidFill>
                <a:latin typeface="Calibri"/>
              </a:defRPr>
            </a:pPr>
            <a:r>
              <a:t>Chief Strategy Officer</a:t>
            </a:r>
          </a:p>
        </p:txBody>
      </p:sp>
      <p:sp>
        <p:nvSpPr>
          <p:cNvPr id="52" name="Rectangle 51"/>
          <p:cNvSpPr/>
          <p:nvPr/>
        </p:nvSpPr>
        <p:spPr>
          <a:xfrm>
            <a:off x="7187184" y="3127248"/>
            <a:ext cx="2212848"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87184" y="3127248"/>
            <a:ext cx="2212848" cy="256032"/>
          </a:xfrm>
          <a:prstGeom prst="rect">
            <a:avLst/>
          </a:prstGeom>
          <a:noFill/>
        </p:spPr>
        <p:txBody>
          <a:bodyPr wrap="square">
            <a:spAutoFit/>
          </a:bodyPr>
          <a:lstStyle/>
          <a:p>
            <a:pPr algn="ctr">
              <a:defRPr sz="950" b="0">
                <a:solidFill>
                  <a:srgbClr val="323232"/>
                </a:solidFill>
                <a:latin typeface="Calibri"/>
              </a:defRPr>
            </a:pPr>
            <a:r>
              <a:t>Analysis reflects organizational reality</a:t>
            </a:r>
          </a:p>
        </p:txBody>
      </p:sp>
      <p:sp>
        <p:nvSpPr>
          <p:cNvPr id="54" name="Rectangle 53"/>
          <p:cNvSpPr/>
          <p:nvPr/>
        </p:nvSpPr>
        <p:spPr>
          <a:xfrm>
            <a:off x="9400032" y="3127248"/>
            <a:ext cx="2212848"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00032" y="3127248"/>
            <a:ext cx="2212848" cy="256032"/>
          </a:xfrm>
          <a:prstGeom prst="rect">
            <a:avLst/>
          </a:prstGeom>
          <a:noFill/>
        </p:spPr>
        <p:txBody>
          <a:bodyPr wrap="square">
            <a:spAutoFit/>
          </a:bodyPr>
          <a:lstStyle/>
          <a:p>
            <a:pPr algn="ctr">
              <a:defRPr sz="950" b="0">
                <a:solidFill>
                  <a:srgbClr val="323232"/>
                </a:solidFill>
                <a:latin typeface="Calibri"/>
              </a:defRPr>
            </a:pPr>
            <a:r>
              <a:t>Approved</a:t>
            </a:r>
          </a:p>
        </p:txBody>
      </p:sp>
      <p:sp>
        <p:nvSpPr>
          <p:cNvPr id="56" name="Rectangle 55"/>
          <p:cNvSpPr/>
          <p:nvPr/>
        </p:nvSpPr>
        <p:spPr>
          <a:xfrm>
            <a:off x="548640" y="3383280"/>
            <a:ext cx="2212848"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8640" y="3383280"/>
            <a:ext cx="2212848" cy="256032"/>
          </a:xfrm>
          <a:prstGeom prst="rect">
            <a:avLst/>
          </a:prstGeom>
          <a:noFill/>
        </p:spPr>
        <p:txBody>
          <a:bodyPr wrap="square">
            <a:spAutoFit/>
          </a:bodyPr>
          <a:lstStyle/>
          <a:p>
            <a:pPr algn="ctr">
              <a:defRPr sz="950" b="0">
                <a:solidFill>
                  <a:srgbClr val="323232"/>
                </a:solidFill>
                <a:latin typeface="Calibri"/>
              </a:defRPr>
            </a:pPr>
            <a:r>
              <a:t>Gate 5</a:t>
            </a:r>
          </a:p>
        </p:txBody>
      </p:sp>
      <p:sp>
        <p:nvSpPr>
          <p:cNvPr id="58" name="Rectangle 57"/>
          <p:cNvSpPr/>
          <p:nvPr/>
        </p:nvSpPr>
        <p:spPr>
          <a:xfrm>
            <a:off x="2761488" y="3383280"/>
            <a:ext cx="2212848"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761488" y="3383280"/>
            <a:ext cx="2212848" cy="256032"/>
          </a:xfrm>
          <a:prstGeom prst="rect">
            <a:avLst/>
          </a:prstGeom>
          <a:noFill/>
        </p:spPr>
        <p:txBody>
          <a:bodyPr wrap="square">
            <a:spAutoFit/>
          </a:bodyPr>
          <a:lstStyle/>
          <a:p>
            <a:pPr algn="ctr">
              <a:defRPr sz="950" b="0">
                <a:solidFill>
                  <a:srgbClr val="323232"/>
                </a:solidFill>
                <a:latin typeface="Calibri"/>
              </a:defRPr>
            </a:pPr>
            <a:r>
              <a:t>Strategy &amp; OKR Alignment</a:t>
            </a:r>
          </a:p>
        </p:txBody>
      </p:sp>
      <p:sp>
        <p:nvSpPr>
          <p:cNvPr id="60" name="Rectangle 59"/>
          <p:cNvSpPr/>
          <p:nvPr/>
        </p:nvSpPr>
        <p:spPr>
          <a:xfrm>
            <a:off x="4974336" y="3383280"/>
            <a:ext cx="2212848"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974336" y="3383280"/>
            <a:ext cx="2212848" cy="256032"/>
          </a:xfrm>
          <a:prstGeom prst="rect">
            <a:avLst/>
          </a:prstGeom>
          <a:noFill/>
        </p:spPr>
        <p:txBody>
          <a:bodyPr wrap="square">
            <a:spAutoFit/>
          </a:bodyPr>
          <a:lstStyle/>
          <a:p>
            <a:pPr algn="ctr">
              <a:defRPr sz="950" b="0">
                <a:solidFill>
                  <a:srgbClr val="323232"/>
                </a:solidFill>
                <a:latin typeface="Calibri"/>
              </a:defRPr>
            </a:pPr>
            <a:r>
              <a:t>CEO</a:t>
            </a:r>
          </a:p>
        </p:txBody>
      </p:sp>
      <p:sp>
        <p:nvSpPr>
          <p:cNvPr id="62" name="Rectangle 61"/>
          <p:cNvSpPr/>
          <p:nvPr/>
        </p:nvSpPr>
        <p:spPr>
          <a:xfrm>
            <a:off x="7187184" y="3383280"/>
            <a:ext cx="2212848"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187184" y="3383280"/>
            <a:ext cx="2212848" cy="256032"/>
          </a:xfrm>
          <a:prstGeom prst="rect">
            <a:avLst/>
          </a:prstGeom>
          <a:noFill/>
        </p:spPr>
        <p:txBody>
          <a:bodyPr wrap="square">
            <a:spAutoFit/>
          </a:bodyPr>
          <a:lstStyle/>
          <a:p>
            <a:pPr algn="ctr">
              <a:defRPr sz="950" b="0">
                <a:solidFill>
                  <a:srgbClr val="323232"/>
                </a:solidFill>
                <a:latin typeface="Calibri"/>
              </a:defRPr>
            </a:pPr>
            <a:r>
              <a:t>Direction aligns with board objectives</a:t>
            </a:r>
          </a:p>
        </p:txBody>
      </p:sp>
      <p:sp>
        <p:nvSpPr>
          <p:cNvPr id="64" name="Rectangle 63"/>
          <p:cNvSpPr/>
          <p:nvPr/>
        </p:nvSpPr>
        <p:spPr>
          <a:xfrm>
            <a:off x="9400032" y="3383280"/>
            <a:ext cx="2212848"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400032" y="3383280"/>
            <a:ext cx="2212848" cy="256032"/>
          </a:xfrm>
          <a:prstGeom prst="rect">
            <a:avLst/>
          </a:prstGeom>
          <a:noFill/>
        </p:spPr>
        <p:txBody>
          <a:bodyPr wrap="square">
            <a:spAutoFit/>
          </a:bodyPr>
          <a:lstStyle/>
          <a:p>
            <a:pPr algn="ctr">
              <a:defRPr sz="950" b="0">
                <a:solidFill>
                  <a:srgbClr val="323232"/>
                </a:solidFill>
                <a:latin typeface="Calibri"/>
              </a:defRPr>
            </a:pPr>
            <a:r>
              <a:t>Approved</a:t>
            </a:r>
          </a:p>
        </p:txBody>
      </p:sp>
      <p:sp>
        <p:nvSpPr>
          <p:cNvPr id="66" name="Rectangle 65"/>
          <p:cNvSpPr/>
          <p:nvPr/>
        </p:nvSpPr>
        <p:spPr>
          <a:xfrm>
            <a:off x="548640" y="3639312"/>
            <a:ext cx="2212848"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48640" y="3639312"/>
            <a:ext cx="2212848" cy="256032"/>
          </a:xfrm>
          <a:prstGeom prst="rect">
            <a:avLst/>
          </a:prstGeom>
          <a:noFill/>
        </p:spPr>
        <p:txBody>
          <a:bodyPr wrap="square">
            <a:spAutoFit/>
          </a:bodyPr>
          <a:lstStyle/>
          <a:p>
            <a:pPr algn="ctr">
              <a:defRPr sz="950" b="0">
                <a:solidFill>
                  <a:srgbClr val="323232"/>
                </a:solidFill>
                <a:latin typeface="Calibri"/>
              </a:defRPr>
            </a:pPr>
            <a:r>
              <a:t>Gate 6</a:t>
            </a:r>
          </a:p>
        </p:txBody>
      </p:sp>
      <p:sp>
        <p:nvSpPr>
          <p:cNvPr id="68" name="Rectangle 67"/>
          <p:cNvSpPr/>
          <p:nvPr/>
        </p:nvSpPr>
        <p:spPr>
          <a:xfrm>
            <a:off x="2761488" y="3639312"/>
            <a:ext cx="2212848"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761488" y="3639312"/>
            <a:ext cx="2212848" cy="256032"/>
          </a:xfrm>
          <a:prstGeom prst="rect">
            <a:avLst/>
          </a:prstGeom>
          <a:noFill/>
        </p:spPr>
        <p:txBody>
          <a:bodyPr wrap="square">
            <a:spAutoFit/>
          </a:bodyPr>
          <a:lstStyle/>
          <a:p>
            <a:pPr algn="ctr">
              <a:defRPr sz="950" b="0">
                <a:solidFill>
                  <a:srgbClr val="323232"/>
                </a:solidFill>
                <a:latin typeface="Calibri"/>
              </a:defRPr>
            </a:pPr>
            <a:r>
              <a:t>RICE Prioritization</a:t>
            </a:r>
          </a:p>
        </p:txBody>
      </p:sp>
      <p:sp>
        <p:nvSpPr>
          <p:cNvPr id="70" name="Rectangle 69"/>
          <p:cNvSpPr/>
          <p:nvPr/>
        </p:nvSpPr>
        <p:spPr>
          <a:xfrm>
            <a:off x="4974336" y="3639312"/>
            <a:ext cx="2212848"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974336" y="3639312"/>
            <a:ext cx="2212848" cy="256032"/>
          </a:xfrm>
          <a:prstGeom prst="rect">
            <a:avLst/>
          </a:prstGeom>
          <a:noFill/>
        </p:spPr>
        <p:txBody>
          <a:bodyPr wrap="square">
            <a:spAutoFit/>
          </a:bodyPr>
          <a:lstStyle/>
          <a:p>
            <a:pPr algn="ctr">
              <a:defRPr sz="950" b="0">
                <a:solidFill>
                  <a:srgbClr val="323232"/>
                </a:solidFill>
                <a:latin typeface="Calibri"/>
              </a:defRPr>
            </a:pPr>
            <a:r>
              <a:t>CTO</a:t>
            </a:r>
          </a:p>
        </p:txBody>
      </p:sp>
      <p:sp>
        <p:nvSpPr>
          <p:cNvPr id="72" name="Rectangle 71"/>
          <p:cNvSpPr/>
          <p:nvPr/>
        </p:nvSpPr>
        <p:spPr>
          <a:xfrm>
            <a:off x="7187184" y="3639312"/>
            <a:ext cx="2212848"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187184" y="3639312"/>
            <a:ext cx="2212848" cy="256032"/>
          </a:xfrm>
          <a:prstGeom prst="rect">
            <a:avLst/>
          </a:prstGeom>
          <a:noFill/>
        </p:spPr>
        <p:txBody>
          <a:bodyPr wrap="square">
            <a:spAutoFit/>
          </a:bodyPr>
          <a:lstStyle/>
          <a:p>
            <a:pPr algn="ctr">
              <a:defRPr sz="950" b="0">
                <a:solidFill>
                  <a:srgbClr val="323232"/>
                </a:solidFill>
                <a:latin typeface="Calibri"/>
              </a:defRPr>
            </a:pPr>
            <a:r>
              <a:t>RICE scores reasonable; priorities feasible</a:t>
            </a:r>
          </a:p>
        </p:txBody>
      </p:sp>
      <p:sp>
        <p:nvSpPr>
          <p:cNvPr id="74" name="Rectangle 73"/>
          <p:cNvSpPr/>
          <p:nvPr/>
        </p:nvSpPr>
        <p:spPr>
          <a:xfrm>
            <a:off x="9400032" y="3639312"/>
            <a:ext cx="2212848"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400032" y="3639312"/>
            <a:ext cx="2212848" cy="256032"/>
          </a:xfrm>
          <a:prstGeom prst="rect">
            <a:avLst/>
          </a:prstGeom>
          <a:noFill/>
        </p:spPr>
        <p:txBody>
          <a:bodyPr wrap="square">
            <a:spAutoFit/>
          </a:bodyPr>
          <a:lstStyle/>
          <a:p>
            <a:pPr algn="ctr">
              <a:defRPr sz="950" b="0">
                <a:solidFill>
                  <a:srgbClr val="323232"/>
                </a:solidFill>
                <a:latin typeface="Calibri"/>
              </a:defRPr>
            </a:pPr>
            <a:r>
              <a:t>Approved</a:t>
            </a:r>
          </a:p>
        </p:txBody>
      </p:sp>
      <p:sp>
        <p:nvSpPr>
          <p:cNvPr id="76" name="Rectangle 75"/>
          <p:cNvSpPr/>
          <p:nvPr/>
        </p:nvSpPr>
        <p:spPr>
          <a:xfrm>
            <a:off x="548640" y="3895344"/>
            <a:ext cx="2212848"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48640" y="3895344"/>
            <a:ext cx="2212848" cy="256032"/>
          </a:xfrm>
          <a:prstGeom prst="rect">
            <a:avLst/>
          </a:prstGeom>
          <a:noFill/>
        </p:spPr>
        <p:txBody>
          <a:bodyPr wrap="square">
            <a:spAutoFit/>
          </a:bodyPr>
          <a:lstStyle/>
          <a:p>
            <a:pPr algn="ctr">
              <a:defRPr sz="950" b="0">
                <a:solidFill>
                  <a:srgbClr val="323232"/>
                </a:solidFill>
                <a:latin typeface="Calibri"/>
              </a:defRPr>
            </a:pPr>
            <a:r>
              <a:t>Gate 7</a:t>
            </a:r>
          </a:p>
        </p:txBody>
      </p:sp>
      <p:sp>
        <p:nvSpPr>
          <p:cNvPr id="78" name="Rectangle 77"/>
          <p:cNvSpPr/>
          <p:nvPr/>
        </p:nvSpPr>
        <p:spPr>
          <a:xfrm>
            <a:off x="2761488" y="3895344"/>
            <a:ext cx="2212848"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761488" y="3895344"/>
            <a:ext cx="2212848" cy="256032"/>
          </a:xfrm>
          <a:prstGeom prst="rect">
            <a:avLst/>
          </a:prstGeom>
          <a:noFill/>
        </p:spPr>
        <p:txBody>
          <a:bodyPr wrap="square">
            <a:spAutoFit/>
          </a:bodyPr>
          <a:lstStyle/>
          <a:p>
            <a:pPr algn="ctr">
              <a:defRPr sz="950" b="0">
                <a:solidFill>
                  <a:srgbClr val="323232"/>
                </a:solidFill>
                <a:latin typeface="Calibri"/>
              </a:defRPr>
            </a:pPr>
            <a:r>
              <a:t>Epic &amp; Team Allocation</a:t>
            </a:r>
          </a:p>
        </p:txBody>
      </p:sp>
      <p:sp>
        <p:nvSpPr>
          <p:cNvPr id="80" name="Rectangle 79"/>
          <p:cNvSpPr/>
          <p:nvPr/>
        </p:nvSpPr>
        <p:spPr>
          <a:xfrm>
            <a:off x="4974336" y="3895344"/>
            <a:ext cx="2212848"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974336" y="3895344"/>
            <a:ext cx="2212848" cy="256032"/>
          </a:xfrm>
          <a:prstGeom prst="rect">
            <a:avLst/>
          </a:prstGeom>
          <a:noFill/>
        </p:spPr>
        <p:txBody>
          <a:bodyPr wrap="square">
            <a:spAutoFit/>
          </a:bodyPr>
          <a:lstStyle/>
          <a:p>
            <a:pPr algn="ctr">
              <a:defRPr sz="950" b="0">
                <a:solidFill>
                  <a:srgbClr val="323232"/>
                </a:solidFill>
                <a:latin typeface="Calibri"/>
              </a:defRPr>
            </a:pPr>
            <a:r>
              <a:t>VP Engineering</a:t>
            </a:r>
          </a:p>
        </p:txBody>
      </p:sp>
      <p:sp>
        <p:nvSpPr>
          <p:cNvPr id="82" name="Rectangle 81"/>
          <p:cNvSpPr/>
          <p:nvPr/>
        </p:nvSpPr>
        <p:spPr>
          <a:xfrm>
            <a:off x="7187184" y="3895344"/>
            <a:ext cx="2212848"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187184" y="3895344"/>
            <a:ext cx="2212848" cy="256032"/>
          </a:xfrm>
          <a:prstGeom prst="rect">
            <a:avLst/>
          </a:prstGeom>
          <a:noFill/>
        </p:spPr>
        <p:txBody>
          <a:bodyPr wrap="square">
            <a:spAutoFit/>
          </a:bodyPr>
          <a:lstStyle/>
          <a:p>
            <a:pPr algn="ctr">
              <a:defRPr sz="950" b="0">
                <a:solidFill>
                  <a:srgbClr val="323232"/>
                </a:solidFill>
                <a:latin typeface="Calibri"/>
              </a:defRPr>
            </a:pPr>
            <a:r>
              <a:t>Capacity realistic; dependencies correct</a:t>
            </a:r>
          </a:p>
        </p:txBody>
      </p:sp>
      <p:sp>
        <p:nvSpPr>
          <p:cNvPr id="84" name="Rectangle 83"/>
          <p:cNvSpPr/>
          <p:nvPr/>
        </p:nvSpPr>
        <p:spPr>
          <a:xfrm>
            <a:off x="9400032" y="3895344"/>
            <a:ext cx="2212848"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400032" y="3895344"/>
            <a:ext cx="2212848" cy="256032"/>
          </a:xfrm>
          <a:prstGeom prst="rect">
            <a:avLst/>
          </a:prstGeom>
          <a:noFill/>
        </p:spPr>
        <p:txBody>
          <a:bodyPr wrap="square">
            <a:spAutoFit/>
          </a:bodyPr>
          <a:lstStyle/>
          <a:p>
            <a:pPr algn="ctr">
              <a:defRPr sz="950" b="0">
                <a:solidFill>
                  <a:srgbClr val="323232"/>
                </a:solidFill>
                <a:latin typeface="Calibri"/>
              </a:defRPr>
            </a:pPr>
            <a:r>
              <a:t>Pending</a:t>
            </a:r>
          </a:p>
        </p:txBody>
      </p:sp>
      <p:sp>
        <p:nvSpPr>
          <p:cNvPr id="86" name="Rectangle 85"/>
          <p:cNvSpPr/>
          <p:nvPr/>
        </p:nvSpPr>
        <p:spPr>
          <a:xfrm>
            <a:off x="548640" y="4151376"/>
            <a:ext cx="2212848"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48640" y="4151376"/>
            <a:ext cx="2212848" cy="256032"/>
          </a:xfrm>
          <a:prstGeom prst="rect">
            <a:avLst/>
          </a:prstGeom>
          <a:noFill/>
        </p:spPr>
        <p:txBody>
          <a:bodyPr wrap="square">
            <a:spAutoFit/>
          </a:bodyPr>
          <a:lstStyle/>
          <a:p>
            <a:pPr algn="ctr">
              <a:defRPr sz="950" b="1">
                <a:solidFill>
                  <a:srgbClr val="323232"/>
                </a:solidFill>
                <a:latin typeface="Calibri"/>
              </a:defRPr>
            </a:pPr>
            <a:r>
              <a:t>Gate 8</a:t>
            </a:r>
          </a:p>
        </p:txBody>
      </p:sp>
      <p:sp>
        <p:nvSpPr>
          <p:cNvPr id="88" name="Rectangle 87"/>
          <p:cNvSpPr/>
          <p:nvPr/>
        </p:nvSpPr>
        <p:spPr>
          <a:xfrm>
            <a:off x="2761488" y="4151376"/>
            <a:ext cx="2212848"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761488" y="4151376"/>
            <a:ext cx="2212848" cy="256032"/>
          </a:xfrm>
          <a:prstGeom prst="rect">
            <a:avLst/>
          </a:prstGeom>
          <a:noFill/>
        </p:spPr>
        <p:txBody>
          <a:bodyPr wrap="square">
            <a:spAutoFit/>
          </a:bodyPr>
          <a:lstStyle/>
          <a:p>
            <a:pPr algn="ctr">
              <a:defRPr sz="950" b="1">
                <a:solidFill>
                  <a:srgbClr val="323232"/>
                </a:solidFill>
                <a:latin typeface="Calibri"/>
              </a:defRPr>
            </a:pPr>
            <a:r>
              <a:t>Feature Backlog</a:t>
            </a:r>
          </a:p>
        </p:txBody>
      </p:sp>
      <p:sp>
        <p:nvSpPr>
          <p:cNvPr id="90" name="Rectangle 89"/>
          <p:cNvSpPr/>
          <p:nvPr/>
        </p:nvSpPr>
        <p:spPr>
          <a:xfrm>
            <a:off x="4974336" y="4151376"/>
            <a:ext cx="2212848"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974336" y="4151376"/>
            <a:ext cx="2212848" cy="256032"/>
          </a:xfrm>
          <a:prstGeom prst="rect">
            <a:avLst/>
          </a:prstGeom>
          <a:noFill/>
        </p:spPr>
        <p:txBody>
          <a:bodyPr wrap="square">
            <a:spAutoFit/>
          </a:bodyPr>
          <a:lstStyle/>
          <a:p>
            <a:pPr algn="ctr">
              <a:defRPr sz="950" b="1">
                <a:solidFill>
                  <a:srgbClr val="323232"/>
                </a:solidFill>
                <a:latin typeface="Calibri"/>
              </a:defRPr>
            </a:pPr>
            <a:r>
              <a:t>Product Council</a:t>
            </a:r>
          </a:p>
        </p:txBody>
      </p:sp>
      <p:sp>
        <p:nvSpPr>
          <p:cNvPr id="92" name="Rectangle 91"/>
          <p:cNvSpPr/>
          <p:nvPr/>
        </p:nvSpPr>
        <p:spPr>
          <a:xfrm>
            <a:off x="7187184" y="4151376"/>
            <a:ext cx="2212848"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187184" y="4151376"/>
            <a:ext cx="2212848" cy="256032"/>
          </a:xfrm>
          <a:prstGeom prst="rect">
            <a:avLst/>
          </a:prstGeom>
          <a:noFill/>
        </p:spPr>
        <p:txBody>
          <a:bodyPr wrap="square">
            <a:spAutoFit/>
          </a:bodyPr>
          <a:lstStyle/>
          <a:p>
            <a:pPr algn="ctr">
              <a:defRPr sz="950" b="1">
                <a:solidFill>
                  <a:srgbClr val="323232"/>
                </a:solidFill>
                <a:latin typeface="Calibri"/>
              </a:defRPr>
            </a:pPr>
            <a:r>
              <a:t>Features sprint-ready; criteria testable</a:t>
            </a:r>
          </a:p>
        </p:txBody>
      </p:sp>
      <p:sp>
        <p:nvSpPr>
          <p:cNvPr id="94" name="Rectangle 93"/>
          <p:cNvSpPr/>
          <p:nvPr/>
        </p:nvSpPr>
        <p:spPr>
          <a:xfrm>
            <a:off x="9400032" y="4151376"/>
            <a:ext cx="2212848"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400032" y="4151376"/>
            <a:ext cx="2212848" cy="256032"/>
          </a:xfrm>
          <a:prstGeom prst="rect">
            <a:avLst/>
          </a:prstGeom>
          <a:noFill/>
        </p:spPr>
        <p:txBody>
          <a:bodyPr wrap="square">
            <a:spAutoFit/>
          </a:bodyPr>
          <a:lstStyle/>
          <a:p>
            <a:pPr algn="ctr">
              <a:defRPr sz="950" b="1">
                <a:solidFill>
                  <a:srgbClr val="323232"/>
                </a:solidFill>
                <a:latin typeface="Calibri"/>
              </a:defRPr>
            </a:pPr>
            <a:r>
              <a:t>Pending</a:t>
            </a:r>
          </a:p>
        </p:txBody>
      </p:sp>
      <p:sp>
        <p:nvSpPr>
          <p:cNvPr id="96" name="TextBox 95"/>
          <p:cNvSpPr txBox="1"/>
          <p:nvPr/>
        </p:nvSpPr>
        <p:spPr>
          <a:xfrm>
            <a:off x="548640" y="4754880"/>
            <a:ext cx="10972800" cy="320040"/>
          </a:xfrm>
          <a:prstGeom prst="rect">
            <a:avLst/>
          </a:prstGeom>
          <a:noFill/>
        </p:spPr>
        <p:txBody>
          <a:bodyPr wrap="square">
            <a:spAutoFit/>
          </a:bodyPr>
          <a:lstStyle/>
          <a:p>
            <a:pPr algn="l">
              <a:defRPr sz="1400" b="1">
                <a:solidFill>
                  <a:srgbClr val="002952"/>
                </a:solidFill>
                <a:latin typeface="Calibri"/>
              </a:defRPr>
            </a:pPr>
            <a:r>
              <a:t>Why This Matters for Banking:</a:t>
            </a:r>
          </a:p>
        </p:txBody>
      </p:sp>
      <p:sp>
        <p:nvSpPr>
          <p:cNvPr id="97" name="TextBox 96"/>
          <p:cNvSpPr txBox="1"/>
          <p:nvPr/>
        </p:nvSpPr>
        <p:spPr>
          <a:xfrm>
            <a:off x="640080" y="5120640"/>
            <a:ext cx="10972800" cy="365760"/>
          </a:xfrm>
          <a:prstGeom prst="rect">
            <a:avLst/>
          </a:prstGeom>
          <a:noFill/>
        </p:spPr>
        <p:txBody>
          <a:bodyPr wrap="square">
            <a:spAutoFit/>
          </a:bodyPr>
          <a:lstStyle/>
          <a:p>
            <a:pPr algn="l">
              <a:defRPr sz="1200" b="0">
                <a:solidFill>
                  <a:srgbClr val="323232"/>
                </a:solidFill>
                <a:latin typeface="Calibri"/>
              </a:defRPr>
            </a:pPr>
            <a:r>
              <a:rPr sz="1200">
                <a:solidFill>
                  <a:srgbClr val="2E7D32"/>
                </a:solidFill>
                <a:latin typeface="Calibri"/>
              </a:rPr>
              <a:t>▸  </a:t>
            </a:r>
            <a:r>
              <a:rPr sz="1200" b="1">
                <a:solidFill>
                  <a:srgbClr val="323232"/>
                </a:solidFill>
                <a:latin typeface="Calibri"/>
              </a:rPr>
              <a:t>Regulatory compliance: </a:t>
            </a:r>
            <a:r>
              <a:rPr sz="1200">
                <a:solidFill>
                  <a:srgbClr val="323232"/>
                </a:solidFill>
                <a:latin typeface="Calibri"/>
              </a:rPr>
              <a:t>Every AI output reviewed by a qualified human before informing downstream decisions. Satisfies OCC/Fed model risk expectations.</a:t>
            </a:r>
          </a:p>
        </p:txBody>
      </p:sp>
      <p:sp>
        <p:nvSpPr>
          <p:cNvPr id="98" name="TextBox 97"/>
          <p:cNvSpPr txBox="1"/>
          <p:nvPr/>
        </p:nvSpPr>
        <p:spPr>
          <a:xfrm>
            <a:off x="640080" y="5504688"/>
            <a:ext cx="10972800" cy="365760"/>
          </a:xfrm>
          <a:prstGeom prst="rect">
            <a:avLst/>
          </a:prstGeom>
          <a:noFill/>
        </p:spPr>
        <p:txBody>
          <a:bodyPr wrap="square">
            <a:spAutoFit/>
          </a:bodyPr>
          <a:lstStyle/>
          <a:p>
            <a:pPr algn="l">
              <a:defRPr sz="1200" b="0">
                <a:solidFill>
                  <a:srgbClr val="323232"/>
                </a:solidFill>
                <a:latin typeface="Calibri"/>
              </a:defRPr>
            </a:pPr>
            <a:r>
              <a:rPr sz="1200">
                <a:solidFill>
                  <a:srgbClr val="2E7D32"/>
                </a:solidFill>
                <a:latin typeface="Calibri"/>
              </a:rPr>
              <a:t>▸  </a:t>
            </a:r>
            <a:r>
              <a:rPr sz="1200" b="1">
                <a:solidFill>
                  <a:srgbClr val="323232"/>
                </a:solidFill>
                <a:latin typeface="Calibri"/>
              </a:rPr>
              <a:t>Organizational alignment: </a:t>
            </a:r>
            <a:r>
              <a:rPr sz="1200">
                <a:solidFill>
                  <a:srgbClr val="323232"/>
                </a:solidFill>
                <a:latin typeface="Calibri"/>
              </a:rPr>
              <a:t>Review gates are natural checkpoints for executive alignment — ensuring the plan reflects leadership’s priorities, not just what AI optimized for.</a:t>
            </a:r>
          </a:p>
        </p:txBody>
      </p:sp>
      <p:sp>
        <p:nvSpPr>
          <p:cNvPr id="99" name="TextBox 98"/>
          <p:cNvSpPr txBox="1"/>
          <p:nvPr/>
        </p:nvSpPr>
        <p:spPr>
          <a:xfrm>
            <a:off x="640080" y="5888736"/>
            <a:ext cx="10972800" cy="365760"/>
          </a:xfrm>
          <a:prstGeom prst="rect">
            <a:avLst/>
          </a:prstGeom>
          <a:noFill/>
        </p:spPr>
        <p:txBody>
          <a:bodyPr wrap="square">
            <a:spAutoFit/>
          </a:bodyPr>
          <a:lstStyle/>
          <a:p>
            <a:pPr algn="l">
              <a:defRPr sz="1200" b="0">
                <a:solidFill>
                  <a:srgbClr val="323232"/>
                </a:solidFill>
                <a:latin typeface="Calibri"/>
              </a:defRPr>
            </a:pPr>
            <a:r>
              <a:rPr sz="1200">
                <a:solidFill>
                  <a:srgbClr val="2E7D32"/>
                </a:solidFill>
                <a:latin typeface="Calibri"/>
              </a:rPr>
              <a:t>▸  </a:t>
            </a:r>
            <a:r>
              <a:rPr sz="1200" b="1">
                <a:solidFill>
                  <a:srgbClr val="323232"/>
                </a:solidFill>
                <a:latin typeface="Calibri"/>
              </a:rPr>
              <a:t>Audit trail: </a:t>
            </a:r>
            <a:r>
              <a:rPr sz="1200">
                <a:solidFill>
                  <a:srgbClr val="323232"/>
                </a:solidFill>
                <a:latin typeface="Calibri"/>
              </a:rPr>
              <a:t>Every approval, rejection, and modification is logged with timestamp and reviewer identity — ready for regulatory examination.</a:t>
            </a:r>
          </a:p>
        </p:txBody>
      </p:sp>
      <p:sp>
        <p:nvSpPr>
          <p:cNvPr id="100" name="TextBox 99"/>
          <p:cNvSpPr txBox="1"/>
          <p:nvPr/>
        </p:nvSpPr>
        <p:spPr>
          <a:xfrm>
            <a:off x="640080" y="6272784"/>
            <a:ext cx="10972800" cy="365760"/>
          </a:xfrm>
          <a:prstGeom prst="rect">
            <a:avLst/>
          </a:prstGeom>
          <a:noFill/>
        </p:spPr>
        <p:txBody>
          <a:bodyPr wrap="square">
            <a:spAutoFit/>
          </a:bodyPr>
          <a:lstStyle/>
          <a:p>
            <a:pPr algn="l">
              <a:defRPr sz="1200" b="0">
                <a:solidFill>
                  <a:srgbClr val="323232"/>
                </a:solidFill>
                <a:latin typeface="Calibri"/>
              </a:defRPr>
            </a:pPr>
            <a:r>
              <a:rPr sz="1200">
                <a:solidFill>
                  <a:srgbClr val="2E7D32"/>
                </a:solidFill>
                <a:latin typeface="Calibri"/>
              </a:rPr>
              <a:t>▸  </a:t>
            </a:r>
            <a:r>
              <a:rPr sz="1200" b="1">
                <a:solidFill>
                  <a:srgbClr val="323232"/>
                </a:solidFill>
                <a:latin typeface="Calibri"/>
              </a:rPr>
              <a:t>Not replacement — acceleration: </a:t>
            </a:r>
            <a:r>
              <a:rPr sz="1200">
                <a:solidFill>
                  <a:srgbClr val="323232"/>
                </a:solidFill>
                <a:latin typeface="Calibri"/>
              </a:rPr>
              <a:t>BTA compresses months of analytical work into minutes. Humans retain full authority over strategic direction and resource allocation.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48640"/>
          </a:xfrm>
          <a:prstGeom prst="rect">
            <a:avLst/>
          </a:prstGeom>
          <a:noFill/>
        </p:spPr>
        <p:txBody>
          <a:bodyPr wrap="square">
            <a:spAutoFit/>
          </a:bodyPr>
          <a:lstStyle/>
          <a:p>
            <a:pPr algn="l">
              <a:defRPr sz="2800" b="1">
                <a:solidFill>
                  <a:srgbClr val="002952"/>
                </a:solidFill>
                <a:latin typeface="Calibri"/>
              </a:defRPr>
            </a:pPr>
            <a:r>
              <a:t>Architecture: How the Agents Collaborate</a:t>
            </a:r>
          </a:p>
        </p:txBody>
      </p:sp>
      <p:sp>
        <p:nvSpPr>
          <p:cNvPr id="4" name="TextBox 3"/>
          <p:cNvSpPr txBox="1"/>
          <p:nvPr/>
        </p:nvSpPr>
        <p:spPr>
          <a:xfrm>
            <a:off x="548640" y="777240"/>
            <a:ext cx="10972800" cy="411480"/>
          </a:xfrm>
          <a:prstGeom prst="rect">
            <a:avLst/>
          </a:prstGeom>
          <a:noFill/>
        </p:spPr>
        <p:txBody>
          <a:bodyPr wrap="square">
            <a:spAutoFit/>
          </a:bodyPr>
          <a:lstStyle/>
          <a:p>
            <a:pPr algn="l">
              <a:defRPr sz="1300" b="0">
                <a:solidFill>
                  <a:srgbClr val="787878"/>
                </a:solidFill>
                <a:latin typeface="Calibri"/>
              </a:defRPr>
            </a:pPr>
            <a:r>
              <a:t>Sequential pipeline with RAG knowledge injection, fallback resilience, and complete data lineage</a:t>
            </a:r>
          </a:p>
        </p:txBody>
      </p:sp>
      <p:sp>
        <p:nvSpPr>
          <p:cNvPr id="5" name="Rounded Rectangle 4"/>
          <p:cNvSpPr/>
          <p:nvPr/>
        </p:nvSpPr>
        <p:spPr>
          <a:xfrm>
            <a:off x="548640" y="1234440"/>
            <a:ext cx="11064240" cy="640080"/>
          </a:xfrm>
          <a:prstGeom prst="roundRect">
            <a:avLst/>
          </a:prstGeom>
          <a:solidFill>
            <a:srgbClr val="E8F4F8"/>
          </a:solidFill>
          <a:ln w="12700">
            <a:solidFill>
              <a:srgbClr val="0066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298448"/>
            <a:ext cx="10698480" cy="502920"/>
          </a:xfrm>
          <a:prstGeom prst="rect">
            <a:avLst/>
          </a:prstGeom>
          <a:noFill/>
        </p:spPr>
        <p:txBody>
          <a:bodyPr wrap="square">
            <a:spAutoFit/>
          </a:bodyPr>
          <a:lstStyle/>
          <a:p>
            <a:pPr algn="ctr">
              <a:defRPr sz="1300" b="1">
                <a:solidFill>
                  <a:srgbClr val="0066B2"/>
                </a:solidFill>
                <a:latin typeface="Calibri"/>
              </a:defRPr>
            </a:pPr>
            <a:r>
              <a:t>RAG Knowledge Base  —  Org docs, industry reports, regulatory guidance  —  Context injected at every step</a:t>
            </a:r>
          </a:p>
        </p:txBody>
      </p:sp>
      <p:sp>
        <p:nvSpPr>
          <p:cNvPr id="7" name="Rounded Rectangle 6"/>
          <p:cNvSpPr/>
          <p:nvPr/>
        </p:nvSpPr>
        <p:spPr>
          <a:xfrm>
            <a:off x="548640" y="2194560"/>
            <a:ext cx="1417320" cy="914400"/>
          </a:xfrm>
          <a:prstGeom prst="roundRect">
            <a:avLst/>
          </a:prstGeom>
          <a:solidFill>
            <a:srgbClr val="00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331720"/>
            <a:ext cx="1417320" cy="640080"/>
          </a:xfrm>
          <a:prstGeom prst="rect">
            <a:avLst/>
          </a:prstGeom>
          <a:noFill/>
        </p:spPr>
        <p:txBody>
          <a:bodyPr wrap="square">
            <a:spAutoFit/>
          </a:bodyPr>
          <a:lstStyle/>
          <a:p>
            <a:pPr algn="ctr">
              <a:defRPr sz="1100" b="1">
                <a:solidFill>
                  <a:srgbClr val="FFFFFF"/>
                </a:solidFill>
                <a:latin typeface="Calibri"/>
              </a:defRPr>
            </a:pPr>
            <a:r>
              <a:t>Financial</a:t>
            </a:r>
            <a:br/>
            <a:r>
              <a:t>Analysis</a:t>
            </a:r>
          </a:p>
        </p:txBody>
      </p:sp>
      <p:sp>
        <p:nvSpPr>
          <p:cNvPr id="9" name="TextBox 8"/>
          <p:cNvSpPr txBox="1"/>
          <p:nvPr/>
        </p:nvSpPr>
        <p:spPr>
          <a:xfrm>
            <a:off x="1965960" y="2423160"/>
            <a:ext cx="182880" cy="274320"/>
          </a:xfrm>
          <a:prstGeom prst="rect">
            <a:avLst/>
          </a:prstGeom>
          <a:noFill/>
        </p:spPr>
        <p:txBody>
          <a:bodyPr wrap="square">
            <a:spAutoFit/>
          </a:bodyPr>
          <a:lstStyle/>
          <a:p>
            <a:pPr algn="ctr">
              <a:defRPr sz="1400" b="1">
                <a:solidFill>
                  <a:srgbClr val="0066B2"/>
                </a:solidFill>
                <a:latin typeface="Calibri"/>
              </a:defRPr>
            </a:pPr>
            <a:r>
              <a:t>▶</a:t>
            </a:r>
          </a:p>
        </p:txBody>
      </p:sp>
      <p:sp>
        <p:nvSpPr>
          <p:cNvPr id="10" name="Rectangle 9"/>
          <p:cNvSpPr/>
          <p:nvPr/>
        </p:nvSpPr>
        <p:spPr>
          <a:xfrm>
            <a:off x="822960" y="3200400"/>
            <a:ext cx="868680" cy="274320"/>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200400"/>
            <a:ext cx="868680" cy="274320"/>
          </a:xfrm>
          <a:prstGeom prst="rect">
            <a:avLst/>
          </a:prstGeom>
          <a:noFill/>
        </p:spPr>
        <p:txBody>
          <a:bodyPr wrap="square">
            <a:spAutoFit/>
          </a:bodyPr>
          <a:lstStyle/>
          <a:p>
            <a:pPr algn="ctr">
              <a:defRPr sz="900" b="1">
                <a:solidFill>
                  <a:srgbClr val="2E7D32"/>
                </a:solidFill>
                <a:latin typeface="Calibri"/>
              </a:defRPr>
            </a:pPr>
            <a:r>
              <a:t>✓ Gate</a:t>
            </a:r>
          </a:p>
        </p:txBody>
      </p:sp>
      <p:sp>
        <p:nvSpPr>
          <p:cNvPr id="12" name="Rounded Rectangle 11"/>
          <p:cNvSpPr/>
          <p:nvPr/>
        </p:nvSpPr>
        <p:spPr>
          <a:xfrm>
            <a:off x="2130552" y="2194560"/>
            <a:ext cx="1417320" cy="914400"/>
          </a:xfrm>
          <a:prstGeom prst="round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30552" y="2331720"/>
            <a:ext cx="1417320" cy="640080"/>
          </a:xfrm>
          <a:prstGeom prst="rect">
            <a:avLst/>
          </a:prstGeom>
          <a:noFill/>
        </p:spPr>
        <p:txBody>
          <a:bodyPr wrap="square">
            <a:spAutoFit/>
          </a:bodyPr>
          <a:lstStyle/>
          <a:p>
            <a:pPr algn="ctr">
              <a:defRPr sz="1100" b="1">
                <a:solidFill>
                  <a:srgbClr val="FFFFFF"/>
                </a:solidFill>
                <a:latin typeface="Calibri"/>
              </a:defRPr>
            </a:pPr>
            <a:r>
              <a:t>Value</a:t>
            </a:r>
            <a:br/>
            <a:r>
              <a:t>Streams</a:t>
            </a:r>
          </a:p>
        </p:txBody>
      </p:sp>
      <p:sp>
        <p:nvSpPr>
          <p:cNvPr id="14" name="TextBox 13"/>
          <p:cNvSpPr txBox="1"/>
          <p:nvPr/>
        </p:nvSpPr>
        <p:spPr>
          <a:xfrm>
            <a:off x="3547872" y="2423160"/>
            <a:ext cx="182880" cy="274320"/>
          </a:xfrm>
          <a:prstGeom prst="rect">
            <a:avLst/>
          </a:prstGeom>
          <a:noFill/>
        </p:spPr>
        <p:txBody>
          <a:bodyPr wrap="square">
            <a:spAutoFit/>
          </a:bodyPr>
          <a:lstStyle/>
          <a:p>
            <a:pPr algn="ctr">
              <a:defRPr sz="1400" b="1">
                <a:solidFill>
                  <a:srgbClr val="0066B2"/>
                </a:solidFill>
                <a:latin typeface="Calibri"/>
              </a:defRPr>
            </a:pPr>
            <a:r>
              <a:t>▶</a:t>
            </a:r>
          </a:p>
        </p:txBody>
      </p:sp>
      <p:sp>
        <p:nvSpPr>
          <p:cNvPr id="15" name="Rectangle 14"/>
          <p:cNvSpPr/>
          <p:nvPr/>
        </p:nvSpPr>
        <p:spPr>
          <a:xfrm>
            <a:off x="2404872" y="3200400"/>
            <a:ext cx="868680" cy="274320"/>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04872" y="3200400"/>
            <a:ext cx="868680" cy="274320"/>
          </a:xfrm>
          <a:prstGeom prst="rect">
            <a:avLst/>
          </a:prstGeom>
          <a:noFill/>
        </p:spPr>
        <p:txBody>
          <a:bodyPr wrap="square">
            <a:spAutoFit/>
          </a:bodyPr>
          <a:lstStyle/>
          <a:p>
            <a:pPr algn="ctr">
              <a:defRPr sz="900" b="1">
                <a:solidFill>
                  <a:srgbClr val="2E7D32"/>
                </a:solidFill>
                <a:latin typeface="Calibri"/>
              </a:defRPr>
            </a:pPr>
            <a:r>
              <a:t>✓ Gate</a:t>
            </a:r>
          </a:p>
        </p:txBody>
      </p:sp>
      <p:sp>
        <p:nvSpPr>
          <p:cNvPr id="17" name="Rounded Rectangle 16"/>
          <p:cNvSpPr/>
          <p:nvPr/>
        </p:nvSpPr>
        <p:spPr>
          <a:xfrm>
            <a:off x="3712464" y="2194560"/>
            <a:ext cx="1417320" cy="9144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12464" y="2331720"/>
            <a:ext cx="1417320" cy="640080"/>
          </a:xfrm>
          <a:prstGeom prst="rect">
            <a:avLst/>
          </a:prstGeom>
          <a:noFill/>
        </p:spPr>
        <p:txBody>
          <a:bodyPr wrap="square">
            <a:spAutoFit/>
          </a:bodyPr>
          <a:lstStyle/>
          <a:p>
            <a:pPr algn="ctr">
              <a:defRPr sz="1100" b="1">
                <a:solidFill>
                  <a:srgbClr val="FFFFFF"/>
                </a:solidFill>
                <a:latin typeface="Calibri"/>
              </a:defRPr>
            </a:pPr>
            <a:r>
              <a:t>SWOT</a:t>
            </a:r>
            <a:br/>
            <a:r>
              <a:t>TOWS</a:t>
            </a:r>
          </a:p>
        </p:txBody>
      </p:sp>
      <p:sp>
        <p:nvSpPr>
          <p:cNvPr id="19" name="TextBox 18"/>
          <p:cNvSpPr txBox="1"/>
          <p:nvPr/>
        </p:nvSpPr>
        <p:spPr>
          <a:xfrm>
            <a:off x="5129784" y="2423160"/>
            <a:ext cx="182880" cy="274320"/>
          </a:xfrm>
          <a:prstGeom prst="rect">
            <a:avLst/>
          </a:prstGeom>
          <a:noFill/>
        </p:spPr>
        <p:txBody>
          <a:bodyPr wrap="square">
            <a:spAutoFit/>
          </a:bodyPr>
          <a:lstStyle/>
          <a:p>
            <a:pPr algn="ctr">
              <a:defRPr sz="1400" b="1">
                <a:solidFill>
                  <a:srgbClr val="0066B2"/>
                </a:solidFill>
                <a:latin typeface="Calibri"/>
              </a:defRPr>
            </a:pPr>
            <a:r>
              <a:t>▶</a:t>
            </a:r>
          </a:p>
        </p:txBody>
      </p:sp>
      <p:sp>
        <p:nvSpPr>
          <p:cNvPr id="20" name="Rectangle 19"/>
          <p:cNvSpPr/>
          <p:nvPr/>
        </p:nvSpPr>
        <p:spPr>
          <a:xfrm>
            <a:off x="3986784" y="3200400"/>
            <a:ext cx="868680" cy="274320"/>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86784" y="3200400"/>
            <a:ext cx="868680" cy="274320"/>
          </a:xfrm>
          <a:prstGeom prst="rect">
            <a:avLst/>
          </a:prstGeom>
          <a:noFill/>
        </p:spPr>
        <p:txBody>
          <a:bodyPr wrap="square">
            <a:spAutoFit/>
          </a:bodyPr>
          <a:lstStyle/>
          <a:p>
            <a:pPr algn="ctr">
              <a:defRPr sz="900" b="1">
                <a:solidFill>
                  <a:srgbClr val="2E7D32"/>
                </a:solidFill>
                <a:latin typeface="Calibri"/>
              </a:defRPr>
            </a:pPr>
            <a:r>
              <a:t>✓ Gate</a:t>
            </a:r>
          </a:p>
        </p:txBody>
      </p:sp>
      <p:sp>
        <p:nvSpPr>
          <p:cNvPr id="22" name="Rounded Rectangle 21"/>
          <p:cNvSpPr/>
          <p:nvPr/>
        </p:nvSpPr>
        <p:spPr>
          <a:xfrm>
            <a:off x="5294376" y="2194560"/>
            <a:ext cx="1417320" cy="914400"/>
          </a:xfrm>
          <a:prstGeom prst="round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94376" y="2331720"/>
            <a:ext cx="1417320" cy="640080"/>
          </a:xfrm>
          <a:prstGeom prst="rect">
            <a:avLst/>
          </a:prstGeom>
          <a:noFill/>
        </p:spPr>
        <p:txBody>
          <a:bodyPr wrap="square">
            <a:spAutoFit/>
          </a:bodyPr>
          <a:lstStyle/>
          <a:p>
            <a:pPr algn="ctr">
              <a:defRPr sz="1100" b="1">
                <a:solidFill>
                  <a:srgbClr val="FFFFFF"/>
                </a:solidFill>
                <a:latin typeface="Calibri"/>
              </a:defRPr>
            </a:pPr>
            <a:r>
              <a:t>Strategy</a:t>
            </a:r>
            <a:br/>
            <a:r>
              <a:t>OKRs</a:t>
            </a:r>
          </a:p>
        </p:txBody>
      </p:sp>
      <p:sp>
        <p:nvSpPr>
          <p:cNvPr id="24" name="TextBox 23"/>
          <p:cNvSpPr txBox="1"/>
          <p:nvPr/>
        </p:nvSpPr>
        <p:spPr>
          <a:xfrm>
            <a:off x="6711696" y="2423160"/>
            <a:ext cx="182880" cy="274320"/>
          </a:xfrm>
          <a:prstGeom prst="rect">
            <a:avLst/>
          </a:prstGeom>
          <a:noFill/>
        </p:spPr>
        <p:txBody>
          <a:bodyPr wrap="square">
            <a:spAutoFit/>
          </a:bodyPr>
          <a:lstStyle/>
          <a:p>
            <a:pPr algn="ctr">
              <a:defRPr sz="1400" b="1">
                <a:solidFill>
                  <a:srgbClr val="0066B2"/>
                </a:solidFill>
                <a:latin typeface="Calibri"/>
              </a:defRPr>
            </a:pPr>
            <a:r>
              <a:t>▶</a:t>
            </a:r>
          </a:p>
        </p:txBody>
      </p:sp>
      <p:sp>
        <p:nvSpPr>
          <p:cNvPr id="25" name="Rectangle 24"/>
          <p:cNvSpPr/>
          <p:nvPr/>
        </p:nvSpPr>
        <p:spPr>
          <a:xfrm>
            <a:off x="5568696" y="3200400"/>
            <a:ext cx="868680" cy="274320"/>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68696" y="3200400"/>
            <a:ext cx="868680" cy="274320"/>
          </a:xfrm>
          <a:prstGeom prst="rect">
            <a:avLst/>
          </a:prstGeom>
          <a:noFill/>
        </p:spPr>
        <p:txBody>
          <a:bodyPr wrap="square">
            <a:spAutoFit/>
          </a:bodyPr>
          <a:lstStyle/>
          <a:p>
            <a:pPr algn="ctr">
              <a:defRPr sz="900" b="1">
                <a:solidFill>
                  <a:srgbClr val="2E7D32"/>
                </a:solidFill>
                <a:latin typeface="Calibri"/>
              </a:defRPr>
            </a:pPr>
            <a:r>
              <a:t>✓ Gate</a:t>
            </a:r>
          </a:p>
        </p:txBody>
      </p:sp>
      <p:sp>
        <p:nvSpPr>
          <p:cNvPr id="27" name="Rounded Rectangle 26"/>
          <p:cNvSpPr/>
          <p:nvPr/>
        </p:nvSpPr>
        <p:spPr>
          <a:xfrm>
            <a:off x="6876288" y="2194560"/>
            <a:ext cx="1417320" cy="914400"/>
          </a:xfrm>
          <a:prstGeom prst="round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76288" y="2331720"/>
            <a:ext cx="1417320" cy="640080"/>
          </a:xfrm>
          <a:prstGeom prst="rect">
            <a:avLst/>
          </a:prstGeom>
          <a:noFill/>
        </p:spPr>
        <p:txBody>
          <a:bodyPr wrap="square">
            <a:spAutoFit/>
          </a:bodyPr>
          <a:lstStyle/>
          <a:p>
            <a:pPr algn="ctr">
              <a:defRPr sz="1100" b="1">
                <a:solidFill>
                  <a:srgbClr val="FFFFFF"/>
                </a:solidFill>
                <a:latin typeface="Calibri"/>
              </a:defRPr>
            </a:pPr>
            <a:r>
              <a:t>Initiatives</a:t>
            </a:r>
            <a:br/>
            <a:r>
              <a:t>RICE</a:t>
            </a:r>
          </a:p>
        </p:txBody>
      </p:sp>
      <p:sp>
        <p:nvSpPr>
          <p:cNvPr id="29" name="TextBox 28"/>
          <p:cNvSpPr txBox="1"/>
          <p:nvPr/>
        </p:nvSpPr>
        <p:spPr>
          <a:xfrm>
            <a:off x="8293608" y="2423160"/>
            <a:ext cx="182880" cy="274320"/>
          </a:xfrm>
          <a:prstGeom prst="rect">
            <a:avLst/>
          </a:prstGeom>
          <a:noFill/>
        </p:spPr>
        <p:txBody>
          <a:bodyPr wrap="square">
            <a:spAutoFit/>
          </a:bodyPr>
          <a:lstStyle/>
          <a:p>
            <a:pPr algn="ctr">
              <a:defRPr sz="1400" b="1">
                <a:solidFill>
                  <a:srgbClr val="0066B2"/>
                </a:solidFill>
                <a:latin typeface="Calibri"/>
              </a:defRPr>
            </a:pPr>
            <a:r>
              <a:t>▶</a:t>
            </a:r>
          </a:p>
        </p:txBody>
      </p:sp>
      <p:sp>
        <p:nvSpPr>
          <p:cNvPr id="30" name="Rectangle 29"/>
          <p:cNvSpPr/>
          <p:nvPr/>
        </p:nvSpPr>
        <p:spPr>
          <a:xfrm>
            <a:off x="7150608" y="3200400"/>
            <a:ext cx="868680" cy="274320"/>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50608" y="3200400"/>
            <a:ext cx="868680" cy="274320"/>
          </a:xfrm>
          <a:prstGeom prst="rect">
            <a:avLst/>
          </a:prstGeom>
          <a:noFill/>
        </p:spPr>
        <p:txBody>
          <a:bodyPr wrap="square">
            <a:spAutoFit/>
          </a:bodyPr>
          <a:lstStyle/>
          <a:p>
            <a:pPr algn="ctr">
              <a:defRPr sz="900" b="1">
                <a:solidFill>
                  <a:srgbClr val="2E7D32"/>
                </a:solidFill>
                <a:latin typeface="Calibri"/>
              </a:defRPr>
            </a:pPr>
            <a:r>
              <a:t>✓ Gate</a:t>
            </a:r>
          </a:p>
        </p:txBody>
      </p:sp>
      <p:sp>
        <p:nvSpPr>
          <p:cNvPr id="32" name="Rounded Rectangle 31"/>
          <p:cNvSpPr/>
          <p:nvPr/>
        </p:nvSpPr>
        <p:spPr>
          <a:xfrm>
            <a:off x="8458200" y="2194560"/>
            <a:ext cx="1417320" cy="914400"/>
          </a:xfrm>
          <a:prstGeom prst="round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58200" y="2331720"/>
            <a:ext cx="1417320" cy="640080"/>
          </a:xfrm>
          <a:prstGeom prst="rect">
            <a:avLst/>
          </a:prstGeom>
          <a:noFill/>
        </p:spPr>
        <p:txBody>
          <a:bodyPr wrap="square">
            <a:spAutoFit/>
          </a:bodyPr>
          <a:lstStyle/>
          <a:p>
            <a:pPr algn="ctr">
              <a:defRPr sz="1100" b="1">
                <a:solidFill>
                  <a:srgbClr val="FFFFFF"/>
                </a:solidFill>
                <a:latin typeface="Calibri"/>
              </a:defRPr>
            </a:pPr>
            <a:r>
              <a:t>Epics</a:t>
            </a:r>
            <a:br/>
            <a:r>
              <a:t>Teams</a:t>
            </a:r>
          </a:p>
        </p:txBody>
      </p:sp>
      <p:sp>
        <p:nvSpPr>
          <p:cNvPr id="34" name="TextBox 33"/>
          <p:cNvSpPr txBox="1"/>
          <p:nvPr/>
        </p:nvSpPr>
        <p:spPr>
          <a:xfrm>
            <a:off x="9875520" y="2423160"/>
            <a:ext cx="182880" cy="274320"/>
          </a:xfrm>
          <a:prstGeom prst="rect">
            <a:avLst/>
          </a:prstGeom>
          <a:noFill/>
        </p:spPr>
        <p:txBody>
          <a:bodyPr wrap="square">
            <a:spAutoFit/>
          </a:bodyPr>
          <a:lstStyle/>
          <a:p>
            <a:pPr algn="ctr">
              <a:defRPr sz="1400" b="1">
                <a:solidFill>
                  <a:srgbClr val="0066B2"/>
                </a:solidFill>
                <a:latin typeface="Calibri"/>
              </a:defRPr>
            </a:pPr>
            <a:r>
              <a:t>▶</a:t>
            </a:r>
          </a:p>
        </p:txBody>
      </p:sp>
      <p:sp>
        <p:nvSpPr>
          <p:cNvPr id="35" name="Rectangle 34"/>
          <p:cNvSpPr/>
          <p:nvPr/>
        </p:nvSpPr>
        <p:spPr>
          <a:xfrm>
            <a:off x="8732520" y="3200400"/>
            <a:ext cx="868680" cy="274320"/>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732520" y="3200400"/>
            <a:ext cx="868680" cy="274320"/>
          </a:xfrm>
          <a:prstGeom prst="rect">
            <a:avLst/>
          </a:prstGeom>
          <a:noFill/>
        </p:spPr>
        <p:txBody>
          <a:bodyPr wrap="square">
            <a:spAutoFit/>
          </a:bodyPr>
          <a:lstStyle/>
          <a:p>
            <a:pPr algn="ctr">
              <a:defRPr sz="900" b="1">
                <a:solidFill>
                  <a:srgbClr val="2E7D32"/>
                </a:solidFill>
                <a:latin typeface="Calibri"/>
              </a:defRPr>
            </a:pPr>
            <a:r>
              <a:t>✓ Gate</a:t>
            </a:r>
          </a:p>
        </p:txBody>
      </p:sp>
      <p:sp>
        <p:nvSpPr>
          <p:cNvPr id="37" name="Rounded Rectangle 36"/>
          <p:cNvSpPr/>
          <p:nvPr/>
        </p:nvSpPr>
        <p:spPr>
          <a:xfrm>
            <a:off x="10040112" y="2194560"/>
            <a:ext cx="1417320" cy="914400"/>
          </a:xfrm>
          <a:prstGeom prst="round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40112" y="2331720"/>
            <a:ext cx="1417320" cy="640080"/>
          </a:xfrm>
          <a:prstGeom prst="rect">
            <a:avLst/>
          </a:prstGeom>
          <a:noFill/>
        </p:spPr>
        <p:txBody>
          <a:bodyPr wrap="square">
            <a:spAutoFit/>
          </a:bodyPr>
          <a:lstStyle/>
          <a:p>
            <a:pPr algn="ctr">
              <a:defRPr sz="1100" b="1">
                <a:solidFill>
                  <a:srgbClr val="FFFFFF"/>
                </a:solidFill>
                <a:latin typeface="Calibri"/>
              </a:defRPr>
            </a:pPr>
            <a:r>
              <a:t>Features</a:t>
            </a:r>
            <a:br/>
            <a:r>
              <a:t>Backlog</a:t>
            </a:r>
          </a:p>
        </p:txBody>
      </p:sp>
      <p:sp>
        <p:nvSpPr>
          <p:cNvPr id="39" name="Rectangle 38"/>
          <p:cNvSpPr/>
          <p:nvPr/>
        </p:nvSpPr>
        <p:spPr>
          <a:xfrm>
            <a:off x="10314432" y="3200400"/>
            <a:ext cx="868680" cy="274320"/>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14432" y="3200400"/>
            <a:ext cx="868680" cy="274320"/>
          </a:xfrm>
          <a:prstGeom prst="rect">
            <a:avLst/>
          </a:prstGeom>
          <a:noFill/>
        </p:spPr>
        <p:txBody>
          <a:bodyPr wrap="square">
            <a:spAutoFit/>
          </a:bodyPr>
          <a:lstStyle/>
          <a:p>
            <a:pPr algn="ctr">
              <a:defRPr sz="900" b="1">
                <a:solidFill>
                  <a:srgbClr val="2E7D32"/>
                </a:solidFill>
                <a:latin typeface="Calibri"/>
              </a:defRPr>
            </a:pPr>
            <a:r>
              <a:t>✓ Gate</a:t>
            </a:r>
          </a:p>
        </p:txBody>
      </p:sp>
      <p:sp>
        <p:nvSpPr>
          <p:cNvPr id="41" name="Rectangle 40"/>
          <p:cNvSpPr/>
          <p:nvPr/>
        </p:nvSpPr>
        <p:spPr>
          <a:xfrm>
            <a:off x="5029200" y="3749039"/>
            <a:ext cx="2103120" cy="27432"/>
          </a:xfrm>
          <a:prstGeom prst="rect">
            <a:avLst/>
          </a:prstGeom>
          <a:solidFill>
            <a:srgbClr val="00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0" y="3840480"/>
            <a:ext cx="4846320" cy="320040"/>
          </a:xfrm>
          <a:prstGeom prst="rect">
            <a:avLst/>
          </a:prstGeom>
          <a:noFill/>
        </p:spPr>
        <p:txBody>
          <a:bodyPr wrap="square">
            <a:spAutoFit/>
          </a:bodyPr>
          <a:lstStyle/>
          <a:p>
            <a:pPr algn="ctr">
              <a:defRPr sz="1300" b="1">
                <a:solidFill>
                  <a:srgbClr val="002952"/>
                </a:solidFill>
                <a:latin typeface="Calibri"/>
              </a:defRPr>
            </a:pPr>
            <a:r>
              <a:t>Sprint-Ready Delivery Plan (200+ artifacts)</a:t>
            </a:r>
          </a:p>
        </p:txBody>
      </p:sp>
      <p:sp>
        <p:nvSpPr>
          <p:cNvPr id="43" name="Rounded Rectangle 42"/>
          <p:cNvSpPr/>
          <p:nvPr/>
        </p:nvSpPr>
        <p:spPr>
          <a:xfrm>
            <a:off x="457200" y="4389120"/>
            <a:ext cx="3611880" cy="2103120"/>
          </a:xfrm>
          <a:prstGeom prst="roundRect">
            <a:avLst/>
          </a:prstGeom>
          <a:solidFill>
            <a:srgbClr val="F0F4F8"/>
          </a:solidFill>
          <a:ln w="12700">
            <a:solidFill>
              <a:srgbClr val="0066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7200" y="4389120"/>
            <a:ext cx="3611880" cy="54864"/>
          </a:xfrm>
          <a:prstGeom prst="rect">
            <a:avLst/>
          </a:prstGeom>
          <a:solidFill>
            <a:srgbClr val="00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 y="4526280"/>
            <a:ext cx="3246120" cy="320040"/>
          </a:xfrm>
          <a:prstGeom prst="rect">
            <a:avLst/>
          </a:prstGeom>
          <a:noFill/>
        </p:spPr>
        <p:txBody>
          <a:bodyPr wrap="square">
            <a:spAutoFit/>
          </a:bodyPr>
          <a:lstStyle/>
          <a:p>
            <a:pPr algn="l">
              <a:defRPr sz="1300" b="1">
                <a:solidFill>
                  <a:srgbClr val="0066B2"/>
                </a:solidFill>
                <a:latin typeface="Calibri"/>
              </a:defRPr>
            </a:pPr>
            <a:r>
              <a:t>Agent Handoff Pattern</a:t>
            </a:r>
          </a:p>
        </p:txBody>
      </p:sp>
      <p:sp>
        <p:nvSpPr>
          <p:cNvPr id="46" name="TextBox 45"/>
          <p:cNvSpPr txBox="1"/>
          <p:nvPr/>
        </p:nvSpPr>
        <p:spPr>
          <a:xfrm>
            <a:off x="640080" y="4892040"/>
            <a:ext cx="3246120" cy="1463040"/>
          </a:xfrm>
          <a:prstGeom prst="rect">
            <a:avLst/>
          </a:prstGeom>
          <a:noFill/>
        </p:spPr>
        <p:txBody>
          <a:bodyPr wrap="square">
            <a:spAutoFit/>
          </a:bodyPr>
          <a:lstStyle/>
          <a:p>
            <a:pPr algn="l">
              <a:defRPr sz="1100" b="0">
                <a:solidFill>
                  <a:srgbClr val="323232"/>
                </a:solidFill>
                <a:latin typeface="Calibri"/>
              </a:defRPr>
            </a:pPr>
            <a:r>
              <a:t>Each agent’s output becomes the next agent’s structured context. Step 3 SWOT receives Step 1 financial gaps + Step 2 bottlenecks. Step 4 strategies receive TOWS actions. Nothing is generated from general knowledge alone.</a:t>
            </a:r>
          </a:p>
        </p:txBody>
      </p:sp>
      <p:sp>
        <p:nvSpPr>
          <p:cNvPr id="47" name="Rounded Rectangle 46"/>
          <p:cNvSpPr/>
          <p:nvPr/>
        </p:nvSpPr>
        <p:spPr>
          <a:xfrm>
            <a:off x="4297680" y="4389120"/>
            <a:ext cx="3611880" cy="2103120"/>
          </a:xfrm>
          <a:prstGeom prst="roundRect">
            <a:avLst/>
          </a:prstGeom>
          <a:solidFill>
            <a:srgbClr val="F0F4F8"/>
          </a:solidFill>
          <a:ln w="12700">
            <a:solidFill>
              <a:srgbClr val="007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297680" y="4389120"/>
            <a:ext cx="3611880" cy="54864"/>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480560" y="4526280"/>
            <a:ext cx="3246120" cy="320040"/>
          </a:xfrm>
          <a:prstGeom prst="rect">
            <a:avLst/>
          </a:prstGeom>
          <a:noFill/>
        </p:spPr>
        <p:txBody>
          <a:bodyPr wrap="square">
            <a:spAutoFit/>
          </a:bodyPr>
          <a:lstStyle/>
          <a:p>
            <a:pPr algn="l">
              <a:defRPr sz="1300" b="1">
                <a:solidFill>
                  <a:srgbClr val="00796B"/>
                </a:solidFill>
                <a:latin typeface="Calibri"/>
              </a:defRPr>
            </a:pPr>
            <a:r>
              <a:t>Fallback Mechanism</a:t>
            </a:r>
          </a:p>
        </p:txBody>
      </p:sp>
      <p:sp>
        <p:nvSpPr>
          <p:cNvPr id="50" name="TextBox 49"/>
          <p:cNvSpPr txBox="1"/>
          <p:nvPr/>
        </p:nvSpPr>
        <p:spPr>
          <a:xfrm>
            <a:off x="4480560" y="4892040"/>
            <a:ext cx="3246120" cy="1463040"/>
          </a:xfrm>
          <a:prstGeom prst="rect">
            <a:avLst/>
          </a:prstGeom>
          <a:noFill/>
        </p:spPr>
        <p:txBody>
          <a:bodyPr wrap="square">
            <a:spAutoFit/>
          </a:bodyPr>
          <a:lstStyle/>
          <a:p>
            <a:pPr algn="l">
              <a:defRPr sz="1100" b="0">
                <a:solidFill>
                  <a:srgbClr val="323232"/>
                </a:solidFill>
                <a:latin typeface="Calibri"/>
              </a:defRPr>
            </a:pPr>
            <a:r>
              <a:t>3-tier resilience for data ingestion:</a:t>
            </a:r>
            <a:br/>
            <a:r>
              <a:t>1. Live API (Finnhub, Alpha Vantage)</a:t>
            </a:r>
            <a:br/>
            <a:r>
              <a:t>2. AI Analysis (from available context + RAG)</a:t>
            </a:r>
            <a:br/>
            <a:r>
              <a:t>3. Template Default (baseline output)</a:t>
            </a:r>
            <a:br/>
            <a:r>
              <a:t>Pipeline always completes for any company.</a:t>
            </a:r>
          </a:p>
        </p:txBody>
      </p:sp>
      <p:sp>
        <p:nvSpPr>
          <p:cNvPr id="51" name="Rounded Rectangle 50"/>
          <p:cNvSpPr/>
          <p:nvPr/>
        </p:nvSpPr>
        <p:spPr>
          <a:xfrm>
            <a:off x="8138160" y="4389120"/>
            <a:ext cx="3611880" cy="2103120"/>
          </a:xfrm>
          <a:prstGeom prst="roundRect">
            <a:avLst/>
          </a:prstGeom>
          <a:solidFill>
            <a:srgbClr val="F0F4F8"/>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138160" y="4389120"/>
            <a:ext cx="3611880" cy="5486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321040" y="4526280"/>
            <a:ext cx="3246120" cy="320040"/>
          </a:xfrm>
          <a:prstGeom prst="rect">
            <a:avLst/>
          </a:prstGeom>
          <a:noFill/>
        </p:spPr>
        <p:txBody>
          <a:bodyPr wrap="square">
            <a:spAutoFit/>
          </a:bodyPr>
          <a:lstStyle/>
          <a:p>
            <a:pPr algn="l">
              <a:defRPr sz="1300" b="1">
                <a:solidFill>
                  <a:srgbClr val="2E7D32"/>
                </a:solidFill>
                <a:latin typeface="Calibri"/>
              </a:defRPr>
            </a:pPr>
            <a:r>
              <a:t>RAG Context Injection</a:t>
            </a:r>
          </a:p>
        </p:txBody>
      </p:sp>
      <p:sp>
        <p:nvSpPr>
          <p:cNvPr id="54" name="TextBox 53"/>
          <p:cNvSpPr txBox="1"/>
          <p:nvPr/>
        </p:nvSpPr>
        <p:spPr>
          <a:xfrm>
            <a:off x="8321040" y="4892040"/>
            <a:ext cx="3246120" cy="1463040"/>
          </a:xfrm>
          <a:prstGeom prst="rect">
            <a:avLst/>
          </a:prstGeom>
          <a:noFill/>
        </p:spPr>
        <p:txBody>
          <a:bodyPr wrap="square">
            <a:spAutoFit/>
          </a:bodyPr>
          <a:lstStyle/>
          <a:p>
            <a:pPr algn="l">
              <a:defRPr sz="1100" b="0">
                <a:solidFill>
                  <a:srgbClr val="323232"/>
                </a:solidFill>
                <a:latin typeface="Calibri"/>
              </a:defRPr>
            </a:pPr>
            <a:r>
              <a:t>Every agent queries a centralized knowledge base of uploaded documents — annual reports, OCC exams, McKinsey reports, internal strategy docs. Organizational context informs every output.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48640"/>
          </a:xfrm>
          <a:prstGeom prst="rect">
            <a:avLst/>
          </a:prstGeom>
          <a:noFill/>
        </p:spPr>
        <p:txBody>
          <a:bodyPr wrap="square">
            <a:spAutoFit/>
          </a:bodyPr>
          <a:lstStyle/>
          <a:p>
            <a:pPr algn="l">
              <a:defRPr sz="2800" b="1">
                <a:solidFill>
                  <a:srgbClr val="002952"/>
                </a:solidFill>
                <a:latin typeface="Calibri"/>
              </a:defRPr>
            </a:pPr>
            <a:r>
              <a:t>Implications for the Banking Industry</a:t>
            </a:r>
          </a:p>
        </p:txBody>
      </p:sp>
      <p:sp>
        <p:nvSpPr>
          <p:cNvPr id="4" name="TextBox 3"/>
          <p:cNvSpPr txBox="1"/>
          <p:nvPr/>
        </p:nvSpPr>
        <p:spPr>
          <a:xfrm>
            <a:off x="548640" y="777240"/>
            <a:ext cx="10972800" cy="411480"/>
          </a:xfrm>
          <a:prstGeom prst="rect">
            <a:avLst/>
          </a:prstGeom>
          <a:noFill/>
        </p:spPr>
        <p:txBody>
          <a:bodyPr wrap="square">
            <a:spAutoFit/>
          </a:bodyPr>
          <a:lstStyle/>
          <a:p>
            <a:pPr algn="l">
              <a:defRPr sz="1300" b="0">
                <a:solidFill>
                  <a:srgbClr val="787878"/>
                </a:solidFill>
                <a:latin typeface="Calibri"/>
              </a:defRPr>
            </a:pPr>
            <a:r>
              <a:t>When planning cost and time collapse by 99%+, the competitive dynamics of transformation shift</a:t>
            </a:r>
          </a:p>
        </p:txBody>
      </p:sp>
      <p:sp>
        <p:nvSpPr>
          <p:cNvPr id="5" name="Rounded Rectangle 4"/>
          <p:cNvSpPr/>
          <p:nvPr/>
        </p:nvSpPr>
        <p:spPr>
          <a:xfrm>
            <a:off x="457200" y="1188720"/>
            <a:ext cx="5486400" cy="2423160"/>
          </a:xfrm>
          <a:prstGeom prst="roundRect">
            <a:avLst/>
          </a:prstGeom>
          <a:solidFill>
            <a:srgbClr val="F0F4F8"/>
          </a:solidFill>
          <a:ln w="12700">
            <a:solidFill>
              <a:srgbClr val="0066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73152" cy="2423160"/>
          </a:xfrm>
          <a:prstGeom prst="rect">
            <a:avLst/>
          </a:prstGeom>
          <a:solidFill>
            <a:srgbClr val="00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98448"/>
            <a:ext cx="5029200" cy="502920"/>
          </a:xfrm>
          <a:prstGeom prst="rect">
            <a:avLst/>
          </a:prstGeom>
          <a:noFill/>
        </p:spPr>
        <p:txBody>
          <a:bodyPr wrap="square">
            <a:spAutoFit/>
          </a:bodyPr>
          <a:lstStyle/>
          <a:p>
            <a:pPr algn="l">
              <a:defRPr sz="1500" b="1">
                <a:solidFill>
                  <a:srgbClr val="0066B2"/>
                </a:solidFill>
                <a:latin typeface="Calibri"/>
              </a:defRPr>
            </a:pPr>
            <a:r>
              <a:t>Democratized</a:t>
            </a:r>
            <a:br/>
            <a:r>
              <a:t>Strategy Consulting</a:t>
            </a:r>
          </a:p>
        </p:txBody>
      </p:sp>
      <p:sp>
        <p:nvSpPr>
          <p:cNvPr id="8" name="TextBox 7"/>
          <p:cNvSpPr txBox="1"/>
          <p:nvPr/>
        </p:nvSpPr>
        <p:spPr>
          <a:xfrm>
            <a:off x="685800" y="1828800"/>
            <a:ext cx="5029200" cy="1645920"/>
          </a:xfrm>
          <a:prstGeom prst="rect">
            <a:avLst/>
          </a:prstGeom>
          <a:noFill/>
        </p:spPr>
        <p:txBody>
          <a:bodyPr wrap="square">
            <a:spAutoFit/>
          </a:bodyPr>
          <a:lstStyle/>
          <a:p>
            <a:pPr algn="l">
              <a:defRPr sz="1100" b="0">
                <a:solidFill>
                  <a:srgbClr val="323232"/>
                </a:solidFill>
                <a:latin typeface="Calibri"/>
              </a:defRPr>
            </a:pPr>
            <a:r>
              <a:t>Comprehensive transformation planning has been accessible only to the largest banks. A $500K McKinsey engagement is routine for JPMorgan but prohibitive for a $10B community bank facing the same fintech pressures.</a:t>
            </a:r>
            <a:br/>
            <a:br/>
            <a:r>
              <a:t>BTA makes enterprise-grade analysis available at commodity pricing. A community bank gets the same depth — 4-layer strategy, RICE prioritization, sprint-ready backlogs — as a tier-1 institution.</a:t>
            </a:r>
          </a:p>
        </p:txBody>
      </p:sp>
      <p:sp>
        <p:nvSpPr>
          <p:cNvPr id="9" name="Rounded Rectangle 8"/>
          <p:cNvSpPr/>
          <p:nvPr/>
        </p:nvSpPr>
        <p:spPr>
          <a:xfrm>
            <a:off x="6217920" y="1188720"/>
            <a:ext cx="5486400" cy="2423160"/>
          </a:xfrm>
          <a:prstGeom prst="roundRect">
            <a:avLst/>
          </a:prstGeom>
          <a:solidFill>
            <a:srgbClr val="F0F4F8"/>
          </a:solidFill>
          <a:ln w="12700">
            <a:solidFill>
              <a:srgbClr val="007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188720"/>
            <a:ext cx="73152" cy="242316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298448"/>
            <a:ext cx="5029200" cy="502920"/>
          </a:xfrm>
          <a:prstGeom prst="rect">
            <a:avLst/>
          </a:prstGeom>
          <a:noFill/>
        </p:spPr>
        <p:txBody>
          <a:bodyPr wrap="square">
            <a:spAutoFit/>
          </a:bodyPr>
          <a:lstStyle/>
          <a:p>
            <a:pPr algn="l">
              <a:defRPr sz="1500" b="1">
                <a:solidFill>
                  <a:srgbClr val="00796B"/>
                </a:solidFill>
                <a:latin typeface="Calibri"/>
              </a:defRPr>
            </a:pPr>
            <a:r>
              <a:t>Continuous</a:t>
            </a:r>
            <a:br/>
            <a:r>
              <a:t>Transformation</a:t>
            </a:r>
          </a:p>
        </p:txBody>
      </p:sp>
      <p:sp>
        <p:nvSpPr>
          <p:cNvPr id="12" name="TextBox 11"/>
          <p:cNvSpPr txBox="1"/>
          <p:nvPr/>
        </p:nvSpPr>
        <p:spPr>
          <a:xfrm>
            <a:off x="6446520" y="1828800"/>
            <a:ext cx="5029200" cy="1645920"/>
          </a:xfrm>
          <a:prstGeom prst="rect">
            <a:avLst/>
          </a:prstGeom>
          <a:noFill/>
        </p:spPr>
        <p:txBody>
          <a:bodyPr wrap="square">
            <a:spAutoFit/>
          </a:bodyPr>
          <a:lstStyle/>
          <a:p>
            <a:pPr algn="l">
              <a:defRPr sz="1100" b="0">
                <a:solidFill>
                  <a:srgbClr val="323232"/>
                </a:solidFill>
                <a:latin typeface="Calibri"/>
              </a:defRPr>
            </a:pPr>
            <a:r>
              <a:t>Traditional consulting treats transformation as a periodic event — a 6-12 month engagement followed by years of execution. But markets move faster than consulting cycles.</a:t>
            </a:r>
            <a:br/>
            <a:br/>
            <a:r>
              <a:t>At $0.05 per run, transformation planning becomes continuous. Re-analyze after every earnings cycle, rate change, or competitive move. Pivot in days, not quarters. Strategy becomes a living, breathing capability.</a:t>
            </a:r>
          </a:p>
        </p:txBody>
      </p:sp>
      <p:sp>
        <p:nvSpPr>
          <p:cNvPr id="13" name="Rounded Rectangle 12"/>
          <p:cNvSpPr/>
          <p:nvPr/>
        </p:nvSpPr>
        <p:spPr>
          <a:xfrm>
            <a:off x="457200" y="3794760"/>
            <a:ext cx="5486400" cy="2423160"/>
          </a:xfrm>
          <a:prstGeom prst="roundRect">
            <a:avLst/>
          </a:prstGeom>
          <a:solidFill>
            <a:srgbClr val="F0F4F8"/>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794760"/>
            <a:ext cx="73152" cy="24231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904488"/>
            <a:ext cx="5029200" cy="502920"/>
          </a:xfrm>
          <a:prstGeom prst="rect">
            <a:avLst/>
          </a:prstGeom>
          <a:noFill/>
        </p:spPr>
        <p:txBody>
          <a:bodyPr wrap="square">
            <a:spAutoFit/>
          </a:bodyPr>
          <a:lstStyle/>
          <a:p>
            <a:pPr algn="l">
              <a:defRPr sz="1500" b="1">
                <a:solidFill>
                  <a:srgbClr val="2E7D32"/>
                </a:solidFill>
                <a:latin typeface="Calibri"/>
              </a:defRPr>
            </a:pPr>
            <a:r>
              <a:t>Speed-to-Insight as</a:t>
            </a:r>
            <a:br/>
            <a:r>
              <a:t>Competitive Advantage</a:t>
            </a:r>
          </a:p>
        </p:txBody>
      </p:sp>
      <p:sp>
        <p:nvSpPr>
          <p:cNvPr id="16" name="TextBox 15"/>
          <p:cNvSpPr txBox="1"/>
          <p:nvPr/>
        </p:nvSpPr>
        <p:spPr>
          <a:xfrm>
            <a:off x="685800" y="4434840"/>
            <a:ext cx="5029200" cy="1645920"/>
          </a:xfrm>
          <a:prstGeom prst="rect">
            <a:avLst/>
          </a:prstGeom>
          <a:noFill/>
        </p:spPr>
        <p:txBody>
          <a:bodyPr wrap="square">
            <a:spAutoFit/>
          </a:bodyPr>
          <a:lstStyle/>
          <a:p>
            <a:pPr algn="l">
              <a:defRPr sz="1100" b="0">
                <a:solidFill>
                  <a:srgbClr val="323232"/>
                </a:solidFill>
                <a:latin typeface="Calibri"/>
              </a:defRPr>
            </a:pPr>
            <a:r>
              <a:t>The bank that identifies a strategic gap, formulates a response, and translates it into an engineering backlog in 5 minutes has a structural advantage over one that requires 5 months.</a:t>
            </a:r>
            <a:br/>
            <a:br/>
            <a:r>
              <a:t>This compounds with every strategy cycle. Speed is not just efficiency — it’s a moat that widens over time.</a:t>
            </a:r>
          </a:p>
        </p:txBody>
      </p:sp>
      <p:sp>
        <p:nvSpPr>
          <p:cNvPr id="17" name="Rounded Rectangle 16"/>
          <p:cNvSpPr/>
          <p:nvPr/>
        </p:nvSpPr>
        <p:spPr>
          <a:xfrm>
            <a:off x="6217920" y="3794760"/>
            <a:ext cx="5486400" cy="2423160"/>
          </a:xfrm>
          <a:prstGeom prst="roundRect">
            <a:avLst/>
          </a:prstGeom>
          <a:solidFill>
            <a:srgbClr val="F0F4F8"/>
          </a:solidFill>
          <a:ln w="12700">
            <a:solidFill>
              <a:srgbClr val="7B1F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3794760"/>
            <a:ext cx="73152" cy="2423160"/>
          </a:xfrm>
          <a:prstGeom prst="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904488"/>
            <a:ext cx="5029200" cy="502920"/>
          </a:xfrm>
          <a:prstGeom prst="rect">
            <a:avLst/>
          </a:prstGeom>
          <a:noFill/>
        </p:spPr>
        <p:txBody>
          <a:bodyPr wrap="square">
            <a:spAutoFit/>
          </a:bodyPr>
          <a:lstStyle/>
          <a:p>
            <a:pPr algn="l">
              <a:defRPr sz="1500" b="1">
                <a:solidFill>
                  <a:srgbClr val="7B1FA2"/>
                </a:solidFill>
                <a:latin typeface="Calibri"/>
              </a:defRPr>
            </a:pPr>
            <a:r>
              <a:t>Execution Becomes</a:t>
            </a:r>
            <a:br/>
            <a:r>
              <a:t>the Differentiator</a:t>
            </a:r>
          </a:p>
        </p:txBody>
      </p:sp>
      <p:sp>
        <p:nvSpPr>
          <p:cNvPr id="20" name="TextBox 19"/>
          <p:cNvSpPr txBox="1"/>
          <p:nvPr/>
        </p:nvSpPr>
        <p:spPr>
          <a:xfrm>
            <a:off x="6446520" y="4434840"/>
            <a:ext cx="5029200" cy="1645920"/>
          </a:xfrm>
          <a:prstGeom prst="rect">
            <a:avLst/>
          </a:prstGeom>
          <a:noFill/>
        </p:spPr>
        <p:txBody>
          <a:bodyPr wrap="square">
            <a:spAutoFit/>
          </a:bodyPr>
          <a:lstStyle/>
          <a:p>
            <a:pPr algn="l">
              <a:defRPr sz="1100" b="0">
                <a:solidFill>
                  <a:srgbClr val="323232"/>
                </a:solidFill>
                <a:latin typeface="Calibri"/>
              </a:defRPr>
            </a:pPr>
            <a:r>
              <a:t>When AI commoditizes planning, the competitive advantage shifts from "who can afford the best consultants" to "who can execute fastest and most effectively."</a:t>
            </a:r>
            <a:br/>
            <a:br/>
            <a:r>
              <a:t>Planning parity means execution quality — speed to market, technical excellence, customer experience — becomes the only differentiator.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295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731520"/>
          </a:xfrm>
          <a:prstGeom prst="rect">
            <a:avLst/>
          </a:prstGeom>
          <a:noFill/>
        </p:spPr>
        <p:txBody>
          <a:bodyPr wrap="square">
            <a:spAutoFit/>
          </a:bodyPr>
          <a:lstStyle/>
          <a:p>
            <a:pPr algn="ctr">
              <a:defRPr sz="3200" b="1">
                <a:solidFill>
                  <a:srgbClr val="FFFFFF"/>
                </a:solidFill>
                <a:latin typeface="Calibri"/>
              </a:defRPr>
            </a:pPr>
            <a:r>
              <a:t>Conclusion</a:t>
            </a:r>
          </a:p>
        </p:txBody>
      </p:sp>
      <p:sp>
        <p:nvSpPr>
          <p:cNvPr id="4" name="TextBox 3"/>
          <p:cNvSpPr txBox="1"/>
          <p:nvPr/>
        </p:nvSpPr>
        <p:spPr>
          <a:xfrm>
            <a:off x="1371600" y="1645920"/>
            <a:ext cx="9418320" cy="1371600"/>
          </a:xfrm>
          <a:prstGeom prst="rect">
            <a:avLst/>
          </a:prstGeom>
          <a:noFill/>
        </p:spPr>
        <p:txBody>
          <a:bodyPr wrap="square">
            <a:spAutoFit/>
          </a:bodyPr>
          <a:lstStyle/>
          <a:p>
            <a:pPr algn="l">
              <a:defRPr sz="1500" b="0">
                <a:solidFill>
                  <a:srgbClr val="C8D7E6"/>
                </a:solidFill>
                <a:latin typeface="Calibri"/>
              </a:defRPr>
            </a:pPr>
            <a:r>
              <a:t>Business transformation planning in banking is broken — not because the frameworks are wrong, but because the execution model is fundamentally mismatched with the pace of change.</a:t>
            </a:r>
            <a:br/>
            <a:br/>
            <a:r>
              <a:t>Months-long planning cycles, six-figure consulting fees, and hundreds of hours of stakeholder time produce outputs that are outdated before they reach the engineering team’s backlog.</a:t>
            </a:r>
          </a:p>
        </p:txBody>
      </p:sp>
      <p:sp>
        <p:nvSpPr>
          <p:cNvPr id="5" name="TextBox 4"/>
          <p:cNvSpPr txBox="1"/>
          <p:nvPr/>
        </p:nvSpPr>
        <p:spPr>
          <a:xfrm>
            <a:off x="1828800" y="3291840"/>
            <a:ext cx="8503920" cy="365760"/>
          </a:xfrm>
          <a:prstGeom prst="rect">
            <a:avLst/>
          </a:prstGeom>
          <a:noFill/>
        </p:spPr>
        <p:txBody>
          <a:bodyPr wrap="square">
            <a:spAutoFit/>
          </a:bodyPr>
          <a:lstStyle/>
          <a:p>
            <a:pPr algn="l">
              <a:defRPr sz="1400" b="0">
                <a:solidFill>
                  <a:srgbClr val="323232"/>
                </a:solidFill>
                <a:latin typeface="Calibri"/>
              </a:defRPr>
            </a:pPr>
            <a:r>
              <a:rPr sz="1400" b="1">
                <a:solidFill>
                  <a:srgbClr val="64C878"/>
                </a:solidFill>
                <a:latin typeface="Calibri"/>
              </a:rPr>
              <a:t>✓  </a:t>
            </a:r>
            <a:r>
              <a:rPr sz="1400">
                <a:solidFill>
                  <a:srgbClr val="FFFFFF"/>
                </a:solidFill>
                <a:latin typeface="Calibri"/>
              </a:rPr>
              <a:t>200+ interconnected artifacts generated in ~5 minutes (vs. 5-10 months)</a:t>
            </a:r>
          </a:p>
        </p:txBody>
      </p:sp>
      <p:sp>
        <p:nvSpPr>
          <p:cNvPr id="6" name="TextBox 5"/>
          <p:cNvSpPr txBox="1"/>
          <p:nvPr/>
        </p:nvSpPr>
        <p:spPr>
          <a:xfrm>
            <a:off x="1828800" y="3675888"/>
            <a:ext cx="8503920" cy="365760"/>
          </a:xfrm>
          <a:prstGeom prst="rect">
            <a:avLst/>
          </a:prstGeom>
          <a:noFill/>
        </p:spPr>
        <p:txBody>
          <a:bodyPr wrap="square">
            <a:spAutoFit/>
          </a:bodyPr>
          <a:lstStyle/>
          <a:p>
            <a:pPr algn="l">
              <a:defRPr sz="1400" b="0">
                <a:solidFill>
                  <a:srgbClr val="323232"/>
                </a:solidFill>
                <a:latin typeface="Calibri"/>
              </a:defRPr>
            </a:pPr>
            <a:r>
              <a:rPr sz="1400" b="1">
                <a:solidFill>
                  <a:srgbClr val="64C878"/>
                </a:solidFill>
                <a:latin typeface="Calibri"/>
              </a:rPr>
              <a:t>✓  </a:t>
            </a:r>
            <a:r>
              <a:rPr sz="1400">
                <a:solidFill>
                  <a:srgbClr val="FFFFFF"/>
                </a:solidFill>
                <a:latin typeface="Calibri"/>
              </a:rPr>
              <a:t>99.99% cost reduction: $0.05-0.25 per run (vs. $160K-540K)</a:t>
            </a:r>
          </a:p>
        </p:txBody>
      </p:sp>
      <p:sp>
        <p:nvSpPr>
          <p:cNvPr id="7" name="TextBox 6"/>
          <p:cNvSpPr txBox="1"/>
          <p:nvPr/>
        </p:nvSpPr>
        <p:spPr>
          <a:xfrm>
            <a:off x="1828800" y="4059936"/>
            <a:ext cx="8503920" cy="365760"/>
          </a:xfrm>
          <a:prstGeom prst="rect">
            <a:avLst/>
          </a:prstGeom>
          <a:noFill/>
        </p:spPr>
        <p:txBody>
          <a:bodyPr wrap="square">
            <a:spAutoFit/>
          </a:bodyPr>
          <a:lstStyle/>
          <a:p>
            <a:pPr algn="l">
              <a:defRPr sz="1400" b="0">
                <a:solidFill>
                  <a:srgbClr val="323232"/>
                </a:solidFill>
                <a:latin typeface="Calibri"/>
              </a:defRPr>
            </a:pPr>
            <a:r>
              <a:rPr sz="1400" b="1">
                <a:solidFill>
                  <a:srgbClr val="64C878"/>
                </a:solidFill>
                <a:latin typeface="Calibri"/>
              </a:rPr>
              <a:t>✓  </a:t>
            </a:r>
            <a:r>
              <a:rPr sz="1400">
                <a:solidFill>
                  <a:srgbClr val="FFFFFF"/>
                </a:solidFill>
                <a:latin typeface="Calibri"/>
              </a:rPr>
              <a:t>100% strategy-to-feature traceability (vs. PowerPoint → ??? → Jira)</a:t>
            </a:r>
          </a:p>
        </p:txBody>
      </p:sp>
      <p:sp>
        <p:nvSpPr>
          <p:cNvPr id="8" name="TextBox 7"/>
          <p:cNvSpPr txBox="1"/>
          <p:nvPr/>
        </p:nvSpPr>
        <p:spPr>
          <a:xfrm>
            <a:off x="1828800" y="4443984"/>
            <a:ext cx="8503920" cy="365760"/>
          </a:xfrm>
          <a:prstGeom prst="rect">
            <a:avLst/>
          </a:prstGeom>
          <a:noFill/>
        </p:spPr>
        <p:txBody>
          <a:bodyPr wrap="square">
            <a:spAutoFit/>
          </a:bodyPr>
          <a:lstStyle/>
          <a:p>
            <a:pPr algn="l">
              <a:defRPr sz="1400" b="0">
                <a:solidFill>
                  <a:srgbClr val="323232"/>
                </a:solidFill>
                <a:latin typeface="Calibri"/>
              </a:defRPr>
            </a:pPr>
            <a:r>
              <a:rPr sz="1400" b="1">
                <a:solidFill>
                  <a:srgbClr val="64C878"/>
                </a:solidFill>
                <a:latin typeface="Calibri"/>
              </a:rPr>
              <a:t>✓  </a:t>
            </a:r>
            <a:r>
              <a:rPr sz="1400">
                <a:solidFill>
                  <a:srgbClr val="FFFFFF"/>
                </a:solidFill>
                <a:latin typeface="Calibri"/>
              </a:rPr>
              <a:t>7 human review gates ensuring AI accelerates but humans govern</a:t>
            </a:r>
          </a:p>
        </p:txBody>
      </p:sp>
      <p:sp>
        <p:nvSpPr>
          <p:cNvPr id="9" name="TextBox 8"/>
          <p:cNvSpPr txBox="1"/>
          <p:nvPr/>
        </p:nvSpPr>
        <p:spPr>
          <a:xfrm>
            <a:off x="1828800" y="4828032"/>
            <a:ext cx="8503920" cy="365760"/>
          </a:xfrm>
          <a:prstGeom prst="rect">
            <a:avLst/>
          </a:prstGeom>
          <a:noFill/>
        </p:spPr>
        <p:txBody>
          <a:bodyPr wrap="square">
            <a:spAutoFit/>
          </a:bodyPr>
          <a:lstStyle/>
          <a:p>
            <a:pPr algn="l">
              <a:defRPr sz="1400" b="0">
                <a:solidFill>
                  <a:srgbClr val="323232"/>
                </a:solidFill>
                <a:latin typeface="Calibri"/>
              </a:defRPr>
            </a:pPr>
            <a:r>
              <a:rPr sz="1400" b="1">
                <a:solidFill>
                  <a:srgbClr val="64C878"/>
                </a:solidFill>
                <a:latin typeface="Calibri"/>
              </a:rPr>
              <a:t>✓  </a:t>
            </a:r>
            <a:r>
              <a:rPr sz="1400">
                <a:solidFill>
                  <a:srgbClr val="FFFFFF"/>
                </a:solidFill>
                <a:latin typeface="Calibri"/>
              </a:rPr>
              <a:t>Continuous transformation capability: re-run anytime for near-zero cost</a:t>
            </a:r>
          </a:p>
        </p:txBody>
      </p:sp>
      <p:sp>
        <p:nvSpPr>
          <p:cNvPr id="10" name="Rectangle 9"/>
          <p:cNvSpPr/>
          <p:nvPr/>
        </p:nvSpPr>
        <p:spPr>
          <a:xfrm>
            <a:off x="4572000" y="5440680"/>
            <a:ext cx="3017520" cy="27432"/>
          </a:xfrm>
          <a:prstGeom prst="rect">
            <a:avLst/>
          </a:prstGeom>
          <a:solidFill>
            <a:srgbClr val="00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623560"/>
            <a:ext cx="10332720" cy="457200"/>
          </a:xfrm>
          <a:prstGeom prst="rect">
            <a:avLst/>
          </a:prstGeom>
          <a:noFill/>
        </p:spPr>
        <p:txBody>
          <a:bodyPr wrap="square">
            <a:spAutoFit/>
          </a:bodyPr>
          <a:lstStyle/>
          <a:p>
            <a:pPr algn="ctr">
              <a:defRPr sz="2000" b="1">
                <a:solidFill>
                  <a:srgbClr val="FFFFFF"/>
                </a:solidFill>
                <a:latin typeface="Calibri"/>
              </a:defRPr>
            </a:pPr>
            <a:r>
              <a:t>The future of transformation planning is not months. It is minutes.</a:t>
            </a:r>
          </a:p>
        </p:txBody>
      </p:sp>
      <p:sp>
        <p:nvSpPr>
          <p:cNvPr id="12" name="TextBox 11"/>
          <p:cNvSpPr txBox="1"/>
          <p:nvPr/>
        </p:nvSpPr>
        <p:spPr>
          <a:xfrm>
            <a:off x="914400" y="6172200"/>
            <a:ext cx="10332720" cy="365760"/>
          </a:xfrm>
          <a:prstGeom prst="rect">
            <a:avLst/>
          </a:prstGeom>
          <a:noFill/>
        </p:spPr>
        <p:txBody>
          <a:bodyPr wrap="square">
            <a:spAutoFit/>
          </a:bodyPr>
          <a:lstStyle/>
          <a:p>
            <a:pPr algn="ctr">
              <a:defRPr sz="1600" b="1">
                <a:solidFill>
                  <a:srgbClr val="0085CA"/>
                </a:solidFill>
                <a:latin typeface="Calibri"/>
              </a:defRPr>
            </a:pPr>
            <a:r>
              <a:t>business-transformation-architect.onrender.com</a:t>
            </a:r>
          </a:p>
        </p:txBody>
      </p:sp>
      <p:sp>
        <p:nvSpPr>
          <p:cNvPr id="13" name="Rectangle 12"/>
          <p:cNvSpPr/>
          <p:nvPr/>
        </p:nvSpPr>
        <p:spPr>
          <a:xfrm>
            <a:off x="0" y="6803136"/>
            <a:ext cx="12191695" cy="54864"/>
          </a:xfrm>
          <a:prstGeom prst="rect">
            <a:avLst/>
          </a:prstGeom>
          <a:solidFill>
            <a:srgbClr val="006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